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78" r:id="rId25"/>
    <p:sldId id="279" r:id="rId26"/>
    <p:sldId id="280" r:id="rId27"/>
    <p:sldId id="281" r:id="rId28"/>
    <p:sldId id="282" r:id="rId29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301" y="-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8387" y="6598919"/>
            <a:ext cx="4819015" cy="186055"/>
          </a:xfrm>
          <a:custGeom>
            <a:avLst/>
            <a:gdLst/>
            <a:ahLst/>
            <a:cxnLst/>
            <a:rect l="l" t="t" r="r" b="b"/>
            <a:pathLst>
              <a:path w="4819015" h="186054">
                <a:moveTo>
                  <a:pt x="4818888" y="185928"/>
                </a:moveTo>
                <a:lnTo>
                  <a:pt x="0" y="185928"/>
                </a:lnTo>
                <a:lnTo>
                  <a:pt x="0" y="0"/>
                </a:lnTo>
                <a:lnTo>
                  <a:pt x="4818888" y="0"/>
                </a:lnTo>
                <a:lnTo>
                  <a:pt x="4818888" y="185928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37276" y="6598919"/>
            <a:ext cx="4551045" cy="186055"/>
          </a:xfrm>
          <a:custGeom>
            <a:avLst/>
            <a:gdLst/>
            <a:ahLst/>
            <a:cxnLst/>
            <a:rect l="l" t="t" r="r" b="b"/>
            <a:pathLst>
              <a:path w="4551045" h="186054">
                <a:moveTo>
                  <a:pt x="4550663" y="185928"/>
                </a:moveTo>
                <a:lnTo>
                  <a:pt x="0" y="185928"/>
                </a:lnTo>
                <a:lnTo>
                  <a:pt x="0" y="0"/>
                </a:lnTo>
                <a:lnTo>
                  <a:pt x="4550663" y="0"/>
                </a:lnTo>
                <a:lnTo>
                  <a:pt x="4550663" y="185928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189464" y="6598919"/>
            <a:ext cx="497205" cy="186055"/>
          </a:xfrm>
          <a:custGeom>
            <a:avLst/>
            <a:gdLst/>
            <a:ahLst/>
            <a:cxnLst/>
            <a:rect l="l" t="t" r="r" b="b"/>
            <a:pathLst>
              <a:path w="497204" h="186054">
                <a:moveTo>
                  <a:pt x="496824" y="185928"/>
                </a:moveTo>
                <a:lnTo>
                  <a:pt x="0" y="185928"/>
                </a:lnTo>
                <a:lnTo>
                  <a:pt x="0" y="0"/>
                </a:lnTo>
                <a:lnTo>
                  <a:pt x="496824" y="0"/>
                </a:lnTo>
                <a:lnTo>
                  <a:pt x="496824" y="18592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2784" y="5995415"/>
            <a:ext cx="601979" cy="59740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98919"/>
            <a:ext cx="818515" cy="186055"/>
          </a:xfrm>
          <a:custGeom>
            <a:avLst/>
            <a:gdLst/>
            <a:ahLst/>
            <a:cxnLst/>
            <a:rect l="l" t="t" r="r" b="b"/>
            <a:pathLst>
              <a:path w="818515" h="186054">
                <a:moveTo>
                  <a:pt x="818387" y="185928"/>
                </a:moveTo>
                <a:lnTo>
                  <a:pt x="0" y="185928"/>
                </a:lnTo>
                <a:lnTo>
                  <a:pt x="0" y="0"/>
                </a:lnTo>
                <a:lnTo>
                  <a:pt x="818387" y="0"/>
                </a:lnTo>
                <a:lnTo>
                  <a:pt x="818387" y="185928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777239"/>
            <a:ext cx="10686415" cy="204470"/>
          </a:xfrm>
          <a:custGeom>
            <a:avLst/>
            <a:gdLst/>
            <a:ahLst/>
            <a:cxnLst/>
            <a:rect l="l" t="t" r="r" b="b"/>
            <a:pathLst>
              <a:path w="10686415" h="204469">
                <a:moveTo>
                  <a:pt x="10686288" y="204216"/>
                </a:moveTo>
                <a:lnTo>
                  <a:pt x="0" y="204216"/>
                </a:lnTo>
                <a:lnTo>
                  <a:pt x="0" y="0"/>
                </a:lnTo>
                <a:lnTo>
                  <a:pt x="10686288" y="0"/>
                </a:lnTo>
                <a:lnTo>
                  <a:pt x="10686288" y="204216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2094" y="737088"/>
            <a:ext cx="5815207" cy="240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8387" y="6598919"/>
            <a:ext cx="4819015" cy="186055"/>
          </a:xfrm>
          <a:custGeom>
            <a:avLst/>
            <a:gdLst/>
            <a:ahLst/>
            <a:cxnLst/>
            <a:rect l="l" t="t" r="r" b="b"/>
            <a:pathLst>
              <a:path w="4819015" h="186054">
                <a:moveTo>
                  <a:pt x="4818888" y="185928"/>
                </a:moveTo>
                <a:lnTo>
                  <a:pt x="0" y="185928"/>
                </a:lnTo>
                <a:lnTo>
                  <a:pt x="0" y="0"/>
                </a:lnTo>
                <a:lnTo>
                  <a:pt x="4818888" y="0"/>
                </a:lnTo>
                <a:lnTo>
                  <a:pt x="4818888" y="185928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37276" y="6598919"/>
            <a:ext cx="4551045" cy="186055"/>
          </a:xfrm>
          <a:custGeom>
            <a:avLst/>
            <a:gdLst/>
            <a:ahLst/>
            <a:cxnLst/>
            <a:rect l="l" t="t" r="r" b="b"/>
            <a:pathLst>
              <a:path w="4551045" h="186054">
                <a:moveTo>
                  <a:pt x="4550663" y="185928"/>
                </a:moveTo>
                <a:lnTo>
                  <a:pt x="0" y="185928"/>
                </a:lnTo>
                <a:lnTo>
                  <a:pt x="0" y="0"/>
                </a:lnTo>
                <a:lnTo>
                  <a:pt x="4550663" y="0"/>
                </a:lnTo>
                <a:lnTo>
                  <a:pt x="4550663" y="185928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189464" y="6598919"/>
            <a:ext cx="497205" cy="186055"/>
          </a:xfrm>
          <a:custGeom>
            <a:avLst/>
            <a:gdLst/>
            <a:ahLst/>
            <a:cxnLst/>
            <a:rect l="l" t="t" r="r" b="b"/>
            <a:pathLst>
              <a:path w="497204" h="186054">
                <a:moveTo>
                  <a:pt x="496824" y="185928"/>
                </a:moveTo>
                <a:lnTo>
                  <a:pt x="0" y="185928"/>
                </a:lnTo>
                <a:lnTo>
                  <a:pt x="0" y="0"/>
                </a:lnTo>
                <a:lnTo>
                  <a:pt x="496824" y="0"/>
                </a:lnTo>
                <a:lnTo>
                  <a:pt x="496824" y="18592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2784" y="5995416"/>
            <a:ext cx="601979" cy="59740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98919"/>
            <a:ext cx="818515" cy="186055"/>
          </a:xfrm>
          <a:custGeom>
            <a:avLst/>
            <a:gdLst/>
            <a:ahLst/>
            <a:cxnLst/>
            <a:rect l="l" t="t" r="r" b="b"/>
            <a:pathLst>
              <a:path w="818515" h="186054">
                <a:moveTo>
                  <a:pt x="818387" y="185928"/>
                </a:moveTo>
                <a:lnTo>
                  <a:pt x="0" y="185928"/>
                </a:lnTo>
                <a:lnTo>
                  <a:pt x="0" y="0"/>
                </a:lnTo>
                <a:lnTo>
                  <a:pt x="818387" y="0"/>
                </a:lnTo>
                <a:lnTo>
                  <a:pt x="818387" y="185928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91" y="1860804"/>
            <a:ext cx="8404859" cy="43677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8387" y="6598919"/>
            <a:ext cx="4819015" cy="186055"/>
          </a:xfrm>
          <a:custGeom>
            <a:avLst/>
            <a:gdLst/>
            <a:ahLst/>
            <a:cxnLst/>
            <a:rect l="l" t="t" r="r" b="b"/>
            <a:pathLst>
              <a:path w="4819015" h="186054">
                <a:moveTo>
                  <a:pt x="4818888" y="185928"/>
                </a:moveTo>
                <a:lnTo>
                  <a:pt x="0" y="185928"/>
                </a:lnTo>
                <a:lnTo>
                  <a:pt x="0" y="0"/>
                </a:lnTo>
                <a:lnTo>
                  <a:pt x="4818888" y="0"/>
                </a:lnTo>
                <a:lnTo>
                  <a:pt x="4818888" y="185928"/>
                </a:lnTo>
                <a:close/>
              </a:path>
            </a:pathLst>
          </a:custGeom>
          <a:solidFill>
            <a:srgbClr val="001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37276" y="6598919"/>
            <a:ext cx="4551045" cy="186055"/>
          </a:xfrm>
          <a:custGeom>
            <a:avLst/>
            <a:gdLst/>
            <a:ahLst/>
            <a:cxnLst/>
            <a:rect l="l" t="t" r="r" b="b"/>
            <a:pathLst>
              <a:path w="4551045" h="186054">
                <a:moveTo>
                  <a:pt x="4550663" y="185928"/>
                </a:moveTo>
                <a:lnTo>
                  <a:pt x="0" y="185928"/>
                </a:lnTo>
                <a:lnTo>
                  <a:pt x="0" y="0"/>
                </a:lnTo>
                <a:lnTo>
                  <a:pt x="4550663" y="0"/>
                </a:lnTo>
                <a:lnTo>
                  <a:pt x="4550663" y="185928"/>
                </a:lnTo>
                <a:close/>
              </a:path>
            </a:pathLst>
          </a:custGeom>
          <a:solidFill>
            <a:srgbClr val="0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189464" y="6598919"/>
            <a:ext cx="497205" cy="186055"/>
          </a:xfrm>
          <a:custGeom>
            <a:avLst/>
            <a:gdLst/>
            <a:ahLst/>
            <a:cxnLst/>
            <a:rect l="l" t="t" r="r" b="b"/>
            <a:pathLst>
              <a:path w="497204" h="186054">
                <a:moveTo>
                  <a:pt x="496824" y="185928"/>
                </a:moveTo>
                <a:lnTo>
                  <a:pt x="0" y="185928"/>
                </a:lnTo>
                <a:lnTo>
                  <a:pt x="0" y="0"/>
                </a:lnTo>
                <a:lnTo>
                  <a:pt x="496824" y="0"/>
                </a:lnTo>
                <a:lnTo>
                  <a:pt x="496824" y="185928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82784" y="5995415"/>
            <a:ext cx="601979" cy="59740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6598919"/>
            <a:ext cx="818515" cy="186055"/>
          </a:xfrm>
          <a:custGeom>
            <a:avLst/>
            <a:gdLst/>
            <a:ahLst/>
            <a:cxnLst/>
            <a:rect l="l" t="t" r="r" b="b"/>
            <a:pathLst>
              <a:path w="818515" h="186054">
                <a:moveTo>
                  <a:pt x="818387" y="185928"/>
                </a:moveTo>
                <a:lnTo>
                  <a:pt x="0" y="185928"/>
                </a:lnTo>
                <a:lnTo>
                  <a:pt x="0" y="0"/>
                </a:lnTo>
                <a:lnTo>
                  <a:pt x="818387" y="0"/>
                </a:lnTo>
                <a:lnTo>
                  <a:pt x="818387" y="185928"/>
                </a:lnTo>
                <a:close/>
              </a:path>
            </a:pathLst>
          </a:custGeom>
          <a:solidFill>
            <a:srgbClr val="C359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979931"/>
            <a:ext cx="10691876" cy="798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2127" y="1804416"/>
            <a:ext cx="9843770" cy="4695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9001" y="6564441"/>
            <a:ext cx="387984" cy="225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76927" y="6564441"/>
            <a:ext cx="3405138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308342" y="6564441"/>
            <a:ext cx="22796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1F60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751" y="6589776"/>
            <a:ext cx="10003790" cy="195580"/>
            <a:chOff x="682751" y="6589776"/>
            <a:chExt cx="10003790" cy="195580"/>
          </a:xfrm>
        </p:grpSpPr>
        <p:sp>
          <p:nvSpPr>
            <p:cNvPr id="3" name="object 3"/>
            <p:cNvSpPr/>
            <p:nvPr/>
          </p:nvSpPr>
          <p:spPr>
            <a:xfrm>
              <a:off x="682751" y="6591299"/>
              <a:ext cx="5067300" cy="193675"/>
            </a:xfrm>
            <a:custGeom>
              <a:avLst/>
              <a:gdLst/>
              <a:ahLst/>
              <a:cxnLst/>
              <a:rect l="l" t="t" r="r" b="b"/>
              <a:pathLst>
                <a:path w="5067300" h="193675">
                  <a:moveTo>
                    <a:pt x="5067299" y="193548"/>
                  </a:moveTo>
                  <a:lnTo>
                    <a:pt x="0" y="193548"/>
                  </a:lnTo>
                  <a:lnTo>
                    <a:pt x="0" y="0"/>
                  </a:lnTo>
                  <a:lnTo>
                    <a:pt x="5067299" y="0"/>
                  </a:lnTo>
                  <a:lnTo>
                    <a:pt x="5067299" y="193548"/>
                  </a:lnTo>
                  <a:close/>
                </a:path>
              </a:pathLst>
            </a:custGeom>
            <a:solidFill>
              <a:srgbClr val="001F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50051" y="6589776"/>
              <a:ext cx="4936490" cy="193675"/>
            </a:xfrm>
            <a:custGeom>
              <a:avLst/>
              <a:gdLst/>
              <a:ahLst/>
              <a:cxnLst/>
              <a:rect l="l" t="t" r="r" b="b"/>
              <a:pathLst>
                <a:path w="4936490" h="193675">
                  <a:moveTo>
                    <a:pt x="4936236" y="193547"/>
                  </a:moveTo>
                  <a:lnTo>
                    <a:pt x="0" y="193547"/>
                  </a:lnTo>
                  <a:lnTo>
                    <a:pt x="0" y="0"/>
                  </a:lnTo>
                  <a:lnTo>
                    <a:pt x="4936236" y="0"/>
                  </a:lnTo>
                  <a:lnTo>
                    <a:pt x="4936236" y="193547"/>
                  </a:lnTo>
                  <a:close/>
                </a:path>
              </a:pathLst>
            </a:custGeom>
            <a:solidFill>
              <a:srgbClr val="0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303763" y="6597395"/>
              <a:ext cx="382905" cy="187960"/>
            </a:xfrm>
            <a:custGeom>
              <a:avLst/>
              <a:gdLst/>
              <a:ahLst/>
              <a:cxnLst/>
              <a:rect l="l" t="t" r="r" b="b"/>
              <a:pathLst>
                <a:path w="382904" h="187959">
                  <a:moveTo>
                    <a:pt x="382524" y="187451"/>
                  </a:moveTo>
                  <a:lnTo>
                    <a:pt x="0" y="187451"/>
                  </a:lnTo>
                  <a:lnTo>
                    <a:pt x="0" y="0"/>
                  </a:lnTo>
                  <a:lnTo>
                    <a:pt x="382524" y="0"/>
                  </a:lnTo>
                  <a:lnTo>
                    <a:pt x="382524" y="187451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417513" y="6597149"/>
            <a:ext cx="13843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Arial MT"/>
                <a:cs typeface="Arial MT"/>
              </a:rPr>
              <a:t>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777239"/>
            <a:ext cx="10686415" cy="273050"/>
          </a:xfrm>
          <a:custGeom>
            <a:avLst/>
            <a:gdLst/>
            <a:ahLst/>
            <a:cxnLst/>
            <a:rect l="l" t="t" r="r" b="b"/>
            <a:pathLst>
              <a:path w="10686415" h="273050">
                <a:moveTo>
                  <a:pt x="10686288" y="272796"/>
                </a:moveTo>
                <a:lnTo>
                  <a:pt x="0" y="272796"/>
                </a:lnTo>
                <a:lnTo>
                  <a:pt x="0" y="0"/>
                </a:lnTo>
                <a:lnTo>
                  <a:pt x="10686288" y="0"/>
                </a:lnTo>
                <a:lnTo>
                  <a:pt x="10686288" y="272796"/>
                </a:lnTo>
                <a:close/>
              </a:path>
            </a:pathLst>
          </a:custGeom>
          <a:solidFill>
            <a:srgbClr val="00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71813" y="778466"/>
            <a:ext cx="567245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dirty="0">
                <a:solidFill>
                  <a:srgbClr val="FFFFFF"/>
                </a:solidFill>
                <a:latin typeface="Arial MT"/>
                <a:cs typeface="Arial MT"/>
              </a:rPr>
              <a:t>      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0851" y="1063752"/>
            <a:ext cx="9298305" cy="840105"/>
            <a:chOff x="720851" y="1063752"/>
            <a:chExt cx="9298305" cy="84010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851" y="1063752"/>
              <a:ext cx="9297923" cy="8397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7427" y="1080516"/>
              <a:ext cx="9227820" cy="768350"/>
            </a:xfrm>
            <a:custGeom>
              <a:avLst/>
              <a:gdLst/>
              <a:ahLst/>
              <a:cxnLst/>
              <a:rect l="l" t="t" r="r" b="b"/>
              <a:pathLst>
                <a:path w="9227820" h="768350">
                  <a:moveTo>
                    <a:pt x="9102851" y="768095"/>
                  </a:moveTo>
                  <a:lnTo>
                    <a:pt x="124967" y="768095"/>
                  </a:lnTo>
                  <a:lnTo>
                    <a:pt x="85344" y="761999"/>
                  </a:lnTo>
                  <a:lnTo>
                    <a:pt x="50291" y="743711"/>
                  </a:lnTo>
                  <a:lnTo>
                    <a:pt x="22859" y="716279"/>
                  </a:lnTo>
                  <a:lnTo>
                    <a:pt x="6096" y="681227"/>
                  </a:lnTo>
                  <a:lnTo>
                    <a:pt x="0" y="640079"/>
                  </a:lnTo>
                  <a:lnTo>
                    <a:pt x="0" y="128016"/>
                  </a:lnTo>
                  <a:lnTo>
                    <a:pt x="6096" y="86868"/>
                  </a:lnTo>
                  <a:lnTo>
                    <a:pt x="22859" y="51816"/>
                  </a:lnTo>
                  <a:lnTo>
                    <a:pt x="50291" y="24383"/>
                  </a:lnTo>
                  <a:lnTo>
                    <a:pt x="85344" y="6095"/>
                  </a:lnTo>
                  <a:lnTo>
                    <a:pt x="124967" y="0"/>
                  </a:lnTo>
                  <a:lnTo>
                    <a:pt x="9102851" y="0"/>
                  </a:lnTo>
                  <a:lnTo>
                    <a:pt x="9150095" y="9143"/>
                  </a:lnTo>
                  <a:lnTo>
                    <a:pt x="9191243" y="38099"/>
                  </a:lnTo>
                  <a:lnTo>
                    <a:pt x="9218675" y="79247"/>
                  </a:lnTo>
                  <a:lnTo>
                    <a:pt x="9227819" y="128016"/>
                  </a:lnTo>
                  <a:lnTo>
                    <a:pt x="9227819" y="640079"/>
                  </a:lnTo>
                  <a:lnTo>
                    <a:pt x="9221723" y="681227"/>
                  </a:lnTo>
                  <a:lnTo>
                    <a:pt x="9203435" y="716279"/>
                  </a:lnTo>
                  <a:lnTo>
                    <a:pt x="9176003" y="743711"/>
                  </a:lnTo>
                  <a:lnTo>
                    <a:pt x="9142475" y="761999"/>
                  </a:lnTo>
                  <a:lnTo>
                    <a:pt x="9102851" y="768095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0" y="6589776"/>
            <a:ext cx="683260" cy="196850"/>
          </a:xfrm>
          <a:prstGeom prst="rect">
            <a:avLst/>
          </a:prstGeom>
          <a:solidFill>
            <a:srgbClr val="C35911"/>
          </a:solidFill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1510"/>
              </a:lnSpc>
            </a:pPr>
            <a:r>
              <a:rPr sz="1550" spc="-65" dirty="0">
                <a:solidFill>
                  <a:srgbClr val="FFFFFF"/>
                </a:solidFill>
                <a:latin typeface="Arial MT"/>
                <a:cs typeface="Arial MT"/>
              </a:rPr>
              <a:t>A-</a:t>
            </a:r>
            <a:r>
              <a:rPr sz="1550" spc="-25" dirty="0">
                <a:solidFill>
                  <a:srgbClr val="FFFFFF"/>
                </a:solidFill>
                <a:latin typeface="Arial MT"/>
                <a:cs typeface="Arial MT"/>
              </a:rPr>
              <a:t>19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01594" y="2189193"/>
            <a:ext cx="1119505" cy="434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2085"/>
              </a:lnSpc>
              <a:spcBef>
                <a:spcPts val="105"/>
              </a:spcBef>
            </a:pPr>
            <a:r>
              <a:rPr sz="1750" spc="-10" dirty="0">
                <a:latin typeface="Times New Roman"/>
                <a:cs typeface="Times New Roman"/>
              </a:rPr>
              <a:t>T.JAGAN</a:t>
            </a:r>
            <a:endParaRPr sz="1750">
              <a:latin typeface="Times New Roman"/>
              <a:cs typeface="Times New Roman"/>
            </a:endParaRPr>
          </a:p>
          <a:p>
            <a:pPr algn="ctr">
              <a:lnSpc>
                <a:spcPts val="1125"/>
              </a:lnSpc>
            </a:pPr>
            <a:r>
              <a:rPr sz="950" dirty="0">
                <a:latin typeface="Times New Roman"/>
                <a:cs typeface="Times New Roman"/>
              </a:rPr>
              <a:t>Roll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224G1A0531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2700" y="2722056"/>
            <a:ext cx="3023894" cy="9429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35"/>
              </a:spcBef>
            </a:pPr>
            <a:r>
              <a:rPr sz="1400" i="1" dirty="0">
                <a:latin typeface="Times New Roman"/>
                <a:cs typeface="Times New Roman"/>
              </a:rPr>
              <a:t>Under</a:t>
            </a:r>
            <a:r>
              <a:rPr sz="1400" i="1" spc="-40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the</a:t>
            </a:r>
            <a:r>
              <a:rPr sz="1400" i="1" spc="-55" dirty="0">
                <a:latin typeface="Times New Roman"/>
                <a:cs typeface="Times New Roman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guidance</a:t>
            </a:r>
            <a:r>
              <a:rPr sz="1400" i="1" spc="-45" dirty="0">
                <a:latin typeface="Times New Roman"/>
                <a:cs typeface="Times New Roman"/>
              </a:rPr>
              <a:t> </a:t>
            </a:r>
            <a:r>
              <a:rPr sz="1400" i="1" spc="-35" dirty="0">
                <a:latin typeface="Times New Roman"/>
                <a:cs typeface="Times New Roman"/>
              </a:rPr>
              <a:t>of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750" b="1" dirty="0">
                <a:latin typeface="Times New Roman"/>
                <a:cs typeface="Times New Roman"/>
              </a:rPr>
              <a:t>Ms.</a:t>
            </a:r>
            <a:r>
              <a:rPr sz="1750" b="1" spc="-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G. Lokeswari</a:t>
            </a:r>
            <a:r>
              <a:rPr sz="1750" b="1" spc="-30" dirty="0">
                <a:latin typeface="Times New Roman"/>
                <a:cs typeface="Times New Roman"/>
              </a:rPr>
              <a:t> </a:t>
            </a:r>
            <a:r>
              <a:rPr sz="1575" baseline="-10582" dirty="0">
                <a:latin typeface="Times New Roman"/>
                <a:cs typeface="Times New Roman"/>
              </a:rPr>
              <a:t>M.Tech.,</a:t>
            </a:r>
            <a:r>
              <a:rPr sz="1575" spc="382" baseline="-10582" dirty="0">
                <a:latin typeface="Times New Roman"/>
                <a:cs typeface="Times New Roman"/>
              </a:rPr>
              <a:t> </a:t>
            </a:r>
            <a:r>
              <a:rPr sz="1575" spc="-15" baseline="-10582" dirty="0">
                <a:latin typeface="Times New Roman"/>
                <a:cs typeface="Times New Roman"/>
              </a:rPr>
              <a:t>(</a:t>
            </a:r>
            <a:r>
              <a:rPr sz="1575" spc="-15" baseline="-10582" dirty="0" err="1">
                <a:latin typeface="Times New Roman"/>
                <a:cs typeface="Times New Roman"/>
              </a:rPr>
              <a:t>Ph</a:t>
            </a:r>
            <a:r>
              <a:rPr sz="1575" spc="-15" baseline="-10582" dirty="0" err="1">
                <a:latin typeface="Arial MT"/>
                <a:cs typeface="Arial MT"/>
              </a:rPr>
              <a:t>.D</a:t>
            </a:r>
            <a:r>
              <a:rPr sz="1575" spc="-15" baseline="-10582" dirty="0">
                <a:latin typeface="Arial MT"/>
                <a:cs typeface="Arial MT"/>
              </a:rPr>
              <a:t>)</a:t>
            </a:r>
            <a:endParaRPr lang="en-US" sz="1575" baseline="-10582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lang="en-US" sz="1050" dirty="0">
              <a:latin typeface="Arial MT"/>
              <a:cs typeface="Arial MT"/>
            </a:endParaRPr>
          </a:p>
          <a:p>
            <a:pPr marL="1905" algn="ctr">
              <a:lnSpc>
                <a:spcPct val="100000"/>
              </a:lnSpc>
            </a:pPr>
            <a:r>
              <a:rPr lang="en-US" sz="1100" dirty="0">
                <a:latin typeface="Arial MT"/>
                <a:cs typeface="Arial MT"/>
              </a:rPr>
              <a:t>Assistant</a:t>
            </a:r>
            <a:r>
              <a:rPr lang="en-US" sz="1100" spc="80" dirty="0">
                <a:latin typeface="Arial MT"/>
                <a:cs typeface="Arial MT"/>
              </a:rPr>
              <a:t> </a:t>
            </a:r>
            <a:r>
              <a:rPr lang="en-US" sz="1100" spc="-10" dirty="0">
                <a:latin typeface="Arial MT"/>
                <a:cs typeface="Arial MT"/>
              </a:rPr>
              <a:t>Professor</a:t>
            </a:r>
            <a:endParaRPr lang="en-US" sz="11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30427" y="5159953"/>
            <a:ext cx="6823075" cy="1333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115"/>
              </a:lnSpc>
              <a:spcBef>
                <a:spcPts val="95"/>
              </a:spcBef>
            </a:pPr>
            <a:r>
              <a:rPr sz="1900" dirty="0">
                <a:latin typeface="Times New Roman"/>
                <a:cs typeface="Times New Roman"/>
              </a:rPr>
              <a:t>Department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Computer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Science</a:t>
            </a:r>
            <a:r>
              <a:rPr sz="1900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10" dirty="0">
                <a:latin typeface="Times New Roman"/>
                <a:cs typeface="Times New Roman"/>
              </a:rPr>
              <a:t> Engineering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ts val="3375"/>
              </a:lnSpc>
            </a:pPr>
            <a:r>
              <a:rPr sz="2950" dirty="0">
                <a:solidFill>
                  <a:srgbClr val="FF0000"/>
                </a:solidFill>
                <a:latin typeface="Times New Roman"/>
                <a:cs typeface="Times New Roman"/>
              </a:rPr>
              <a:t>Srinivasa</a:t>
            </a:r>
            <a:r>
              <a:rPr sz="29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FF0000"/>
                </a:solidFill>
                <a:latin typeface="Times New Roman"/>
                <a:cs typeface="Times New Roman"/>
              </a:rPr>
              <a:t>Ramanujan</a:t>
            </a:r>
            <a:r>
              <a:rPr sz="295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295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95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950" spc="-10" dirty="0">
                <a:solidFill>
                  <a:srgbClr val="FF0000"/>
                </a:solidFill>
                <a:latin typeface="Times New Roman"/>
                <a:cs typeface="Times New Roman"/>
              </a:rPr>
              <a:t>Technology</a:t>
            </a: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50" b="1" spc="-10" dirty="0">
                <a:latin typeface="Times New Roman"/>
                <a:cs typeface="Times New Roman"/>
              </a:rPr>
              <a:t>Autonomous</a:t>
            </a:r>
            <a:endParaRPr sz="1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b="1" spc="-10" dirty="0">
                <a:latin typeface="Times New Roman"/>
                <a:cs typeface="Times New Roman"/>
              </a:rPr>
              <a:t>Rotarypuram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Village,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K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Samudram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spc="-20" dirty="0">
                <a:latin typeface="Times New Roman"/>
                <a:cs typeface="Times New Roman"/>
              </a:rPr>
              <a:t>Mandal,</a:t>
            </a:r>
            <a:r>
              <a:rPr sz="1050" b="1" spc="-7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Ananthapuramu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–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515701.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95"/>
              </a:spcBef>
            </a:pPr>
            <a:r>
              <a:rPr sz="1100" b="1" spc="-10" dirty="0">
                <a:solidFill>
                  <a:srgbClr val="1C4D77"/>
                </a:solidFill>
                <a:latin typeface="Times New Roman"/>
                <a:cs typeface="Times New Roman"/>
              </a:rPr>
              <a:t>2025-</a:t>
            </a:r>
            <a:r>
              <a:rPr sz="1100" b="1" spc="-20" dirty="0">
                <a:solidFill>
                  <a:srgbClr val="1C4D77"/>
                </a:solidFill>
                <a:latin typeface="Times New Roman"/>
                <a:cs typeface="Times New Roman"/>
              </a:rPr>
              <a:t>2026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81858" y="2177009"/>
            <a:ext cx="1341755" cy="4356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090"/>
              </a:lnSpc>
              <a:spcBef>
                <a:spcPts val="105"/>
              </a:spcBef>
            </a:pPr>
            <a:r>
              <a:rPr sz="1750" spc="-40" dirty="0">
                <a:latin typeface="Times New Roman"/>
                <a:cs typeface="Times New Roman"/>
              </a:rPr>
              <a:t>P.NAVADEEP</a:t>
            </a:r>
            <a:endParaRPr sz="1750">
              <a:latin typeface="Times New Roman"/>
              <a:cs typeface="Times New Roman"/>
            </a:endParaRPr>
          </a:p>
          <a:p>
            <a:pPr algn="ctr">
              <a:lnSpc>
                <a:spcPts val="1130"/>
              </a:lnSpc>
            </a:pPr>
            <a:r>
              <a:rPr sz="950" dirty="0">
                <a:latin typeface="Times New Roman"/>
                <a:cs typeface="Times New Roman"/>
              </a:rPr>
              <a:t>Roll</a:t>
            </a:r>
            <a:r>
              <a:rPr sz="950" spc="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234G5A0509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3077" y="2147558"/>
            <a:ext cx="1120775" cy="492759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84"/>
              </a:spcBef>
            </a:pPr>
            <a:r>
              <a:rPr sz="1750" spc="-10" dirty="0">
                <a:latin typeface="Times New Roman"/>
                <a:cs typeface="Times New Roman"/>
              </a:rPr>
              <a:t>J.GOWRI</a:t>
            </a:r>
            <a:endParaRPr sz="17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950" dirty="0">
                <a:latin typeface="Times New Roman"/>
                <a:cs typeface="Times New Roman"/>
              </a:rPr>
              <a:t>Roll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 </a:t>
            </a:r>
            <a:r>
              <a:rPr sz="950" spc="-10" dirty="0">
                <a:latin typeface="Times New Roman"/>
                <a:cs typeface="Times New Roman"/>
              </a:rPr>
              <a:t>224G1A0521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308100" y="1006659"/>
            <a:ext cx="8627873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7740" marR="5080" indent="-2225675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latin typeface="Times New Roman"/>
                <a:cs typeface="Times New Roman"/>
              </a:rPr>
              <a:t>Remote</a:t>
            </a:r>
            <a:r>
              <a:rPr sz="2450" b="1" spc="-6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Sensing</a:t>
            </a:r>
            <a:r>
              <a:rPr sz="2450" b="1" spc="-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Image</a:t>
            </a:r>
            <a:r>
              <a:rPr sz="2450" b="1" spc="-5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Classification</a:t>
            </a:r>
            <a:r>
              <a:rPr sz="2450" b="1" spc="-4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Of</a:t>
            </a:r>
            <a:r>
              <a:rPr sz="2450" b="1" spc="-3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Land</a:t>
            </a:r>
            <a:r>
              <a:rPr sz="2450" b="1" spc="-4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Use</a:t>
            </a:r>
            <a:r>
              <a:rPr sz="2450" b="1" spc="-6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Land</a:t>
            </a:r>
            <a:r>
              <a:rPr sz="2450" b="1" spc="-4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Cover </a:t>
            </a:r>
            <a:r>
              <a:rPr lang="en-US" sz="2450" b="1" spc="-10" dirty="0">
                <a:latin typeface="Times New Roman"/>
                <a:cs typeface="Times New Roman"/>
              </a:rPr>
              <a:t>                        </a:t>
            </a:r>
            <a:r>
              <a:rPr sz="2450" b="1" dirty="0">
                <a:latin typeface="Times New Roman"/>
                <a:cs typeface="Times New Roman"/>
              </a:rPr>
              <a:t>U</a:t>
            </a:r>
            <a:r>
              <a:rPr lang="en-US" sz="2450" b="1" dirty="0">
                <a:latin typeface="Times New Roman"/>
                <a:cs typeface="Times New Roman"/>
              </a:rPr>
              <a:t>s</a:t>
            </a:r>
            <a:r>
              <a:rPr sz="2450" b="1" dirty="0">
                <a:latin typeface="Times New Roman"/>
                <a:cs typeface="Times New Roman"/>
              </a:rPr>
              <a:t>ing</a:t>
            </a:r>
            <a:r>
              <a:rPr sz="2450" b="1" spc="-6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Deep</a:t>
            </a:r>
            <a:r>
              <a:rPr sz="2450" b="1" spc="-5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Learning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46618" y="1872439"/>
            <a:ext cx="1905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spc="-25" dirty="0"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1059" y="3712464"/>
            <a:ext cx="1339595" cy="147827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3420" y="6595871"/>
            <a:ext cx="9083039" cy="185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751331"/>
            <a:ext cx="10685145" cy="205184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614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2312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987552"/>
            <a:ext cx="10685145" cy="52006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R="963930" algn="ctr">
              <a:lnSpc>
                <a:spcPts val="3915"/>
              </a:lnSpc>
            </a:pPr>
            <a:r>
              <a:rPr sz="3850" b="1" spc="-10" dirty="0">
                <a:latin typeface="Times New Roman"/>
                <a:cs typeface="Times New Roman"/>
              </a:rPr>
              <a:t>Comments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001" y="6545019"/>
            <a:ext cx="38798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A-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0553" y="6545019"/>
            <a:ext cx="39160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4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SCIENCEAND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9420" y="6563309"/>
            <a:ext cx="406154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cap="small" spc="-7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7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lang="en-US"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 Technology</a:t>
            </a:r>
            <a:r>
              <a:rPr sz="1400" cap="small" spc="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33742" y="6543550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262127" y="1804416"/>
            <a:ext cx="9843770" cy="21153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 marR="19558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problem</a:t>
            </a:r>
            <a:r>
              <a:rPr spc="-60" dirty="0"/>
              <a:t> </a:t>
            </a:r>
            <a:r>
              <a:rPr dirty="0"/>
              <a:t>does</a:t>
            </a:r>
            <a:r>
              <a:rPr spc="-7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Remote</a:t>
            </a:r>
            <a:r>
              <a:rPr spc="-70" dirty="0"/>
              <a:t> </a:t>
            </a:r>
            <a:r>
              <a:rPr dirty="0"/>
              <a:t>sensing</a:t>
            </a:r>
            <a:r>
              <a:rPr spc="-50" dirty="0"/>
              <a:t> </a:t>
            </a:r>
            <a:r>
              <a:rPr dirty="0"/>
              <a:t>Image</a:t>
            </a:r>
            <a:r>
              <a:rPr spc="-70" dirty="0"/>
              <a:t> </a:t>
            </a:r>
            <a:r>
              <a:rPr dirty="0"/>
              <a:t>classification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land</a:t>
            </a:r>
            <a:r>
              <a:rPr spc="-45" dirty="0"/>
              <a:t> </a:t>
            </a:r>
            <a:r>
              <a:rPr spc="-25" dirty="0"/>
              <a:t>use </a:t>
            </a:r>
            <a:r>
              <a:rPr dirty="0"/>
              <a:t>land</a:t>
            </a:r>
            <a:r>
              <a:rPr spc="-60" dirty="0"/>
              <a:t> </a:t>
            </a:r>
            <a:r>
              <a:rPr dirty="0"/>
              <a:t>cover</a:t>
            </a:r>
            <a:r>
              <a:rPr spc="-50" dirty="0"/>
              <a:t> </a:t>
            </a:r>
            <a:r>
              <a:rPr dirty="0"/>
              <a:t>System</a:t>
            </a:r>
            <a:r>
              <a:rPr spc="-50" dirty="0"/>
              <a:t> </a:t>
            </a:r>
            <a:r>
              <a:rPr dirty="0"/>
              <a:t>aims</a:t>
            </a:r>
            <a:r>
              <a:rPr spc="-4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10" dirty="0"/>
              <a:t>Solve?</a:t>
            </a:r>
            <a:endParaRPr lang="en-US" spc="-10" dirty="0"/>
          </a:p>
          <a:p>
            <a:pPr marL="377825" marR="19558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dirty="0"/>
              <a:t>Who</a:t>
            </a:r>
            <a:r>
              <a:rPr spc="-30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Intended</a:t>
            </a:r>
            <a:r>
              <a:rPr spc="-30" dirty="0"/>
              <a:t> </a:t>
            </a:r>
            <a:r>
              <a:rPr dirty="0"/>
              <a:t>end</a:t>
            </a:r>
            <a:r>
              <a:rPr spc="-55" dirty="0"/>
              <a:t> </a:t>
            </a:r>
            <a:r>
              <a:rPr dirty="0"/>
              <a:t>users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Project,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how</a:t>
            </a:r>
            <a:r>
              <a:rPr spc="-45" dirty="0"/>
              <a:t> </a:t>
            </a:r>
            <a:r>
              <a:rPr dirty="0"/>
              <a:t>will</a:t>
            </a:r>
            <a:r>
              <a:rPr spc="-45" dirty="0"/>
              <a:t> </a:t>
            </a:r>
            <a:r>
              <a:rPr dirty="0"/>
              <a:t>they</a:t>
            </a:r>
            <a:r>
              <a:rPr spc="-45" dirty="0"/>
              <a:t> </a:t>
            </a:r>
            <a:r>
              <a:rPr spc="-10" dirty="0"/>
              <a:t>benefit </a:t>
            </a:r>
            <a:r>
              <a:rPr dirty="0"/>
              <a:t>from</a:t>
            </a:r>
            <a:r>
              <a:rPr spc="-55" dirty="0"/>
              <a:t> </a:t>
            </a:r>
            <a:r>
              <a:rPr spc="-25" dirty="0"/>
              <a:t>it?</a:t>
            </a:r>
            <a:endParaRPr lang="en-US" spc="-25" dirty="0"/>
          </a:p>
          <a:p>
            <a:pPr marL="377825" marR="19558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main</a:t>
            </a:r>
            <a:r>
              <a:rPr spc="-60" dirty="0"/>
              <a:t> </a:t>
            </a:r>
            <a:r>
              <a:rPr dirty="0"/>
              <a:t>algorithms</a:t>
            </a:r>
            <a:r>
              <a:rPr spc="-5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DataSet</a:t>
            </a:r>
            <a:r>
              <a:rPr spc="-40" dirty="0"/>
              <a:t>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Project,</a:t>
            </a:r>
            <a:r>
              <a:rPr spc="-4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why</a:t>
            </a:r>
            <a:r>
              <a:rPr spc="-65" dirty="0"/>
              <a:t> </a:t>
            </a:r>
            <a:r>
              <a:rPr spc="-20" dirty="0"/>
              <a:t>were </a:t>
            </a:r>
            <a:r>
              <a:rPr dirty="0"/>
              <a:t>they</a:t>
            </a:r>
            <a:r>
              <a:rPr spc="-55" dirty="0"/>
              <a:t> </a:t>
            </a:r>
            <a:r>
              <a:rPr spc="-10" dirty="0"/>
              <a:t>used?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731520"/>
            <a:ext cx="10685145" cy="205184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63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2312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987552"/>
            <a:ext cx="10685145" cy="52006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422275">
              <a:lnSpc>
                <a:spcPts val="3915"/>
              </a:lnSpc>
            </a:pPr>
            <a:r>
              <a:rPr sz="3850" b="1" dirty="0">
                <a:latin typeface="Times New Roman"/>
                <a:cs typeface="Times New Roman"/>
              </a:rPr>
              <a:t>Title</a:t>
            </a:r>
            <a:r>
              <a:rPr sz="3850" b="1" spc="-70" dirty="0">
                <a:latin typeface="Times New Roman"/>
                <a:cs typeface="Times New Roman"/>
              </a:rPr>
              <a:t> </a:t>
            </a:r>
            <a:r>
              <a:rPr sz="3850" b="1" spc="-10" dirty="0">
                <a:latin typeface="Times New Roman"/>
                <a:cs typeface="Times New Roman"/>
              </a:rPr>
              <a:t>Justification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432" y="1713926"/>
            <a:ext cx="9947275" cy="48780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819"/>
              </a:spcBef>
              <a:buFont typeface="Wingdings" panose="05000000000000000000" pitchFamily="2" charset="2"/>
              <a:buChar char="v"/>
              <a:tabLst>
                <a:tab pos="355600" algn="l"/>
              </a:tabLst>
            </a:pPr>
            <a:r>
              <a:rPr sz="1800" dirty="0">
                <a:latin typeface="Georgia"/>
                <a:cs typeface="Georgia"/>
              </a:rPr>
              <a:t>	</a:t>
            </a:r>
            <a:r>
              <a:rPr sz="1800" b="1" dirty="0">
                <a:latin typeface="Arial"/>
                <a:cs typeface="Arial"/>
              </a:rPr>
              <a:t>Project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Title:</a:t>
            </a:r>
            <a:endParaRPr sz="18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latin typeface="Arial MT"/>
                <a:cs typeface="Arial MT"/>
              </a:rPr>
              <a:t>Remote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Classification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Deep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Learning.</a:t>
            </a:r>
            <a:endParaRPr sz="18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latin typeface="Arial"/>
                <a:cs typeface="Arial"/>
              </a:rPr>
              <a:t>Justification:</a:t>
            </a:r>
            <a:endParaRPr sz="1800" dirty="0">
              <a:latin typeface="Arial"/>
              <a:cs typeface="Arial"/>
            </a:endParaRPr>
          </a:p>
          <a:p>
            <a:pPr marL="297180" marR="67310" indent="-285115" algn="just">
              <a:lnSpc>
                <a:spcPct val="100000"/>
              </a:lnSpc>
              <a:spcBef>
                <a:spcPts val="735"/>
              </a:spcBef>
              <a:buFont typeface="Georgia"/>
              <a:buChar char="▪"/>
              <a:tabLst>
                <a:tab pos="29718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title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“Remote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Sensing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Image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Scene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Classification”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represents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learning–based </a:t>
            </a:r>
            <a:r>
              <a:rPr sz="1800" b="1" dirty="0">
                <a:latin typeface="Arial"/>
                <a:cs typeface="Arial"/>
              </a:rPr>
              <a:t>system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designed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analyze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land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land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cover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(LULC)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patterns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from </a:t>
            </a:r>
            <a:r>
              <a:rPr sz="1800" dirty="0">
                <a:latin typeface="Arial MT"/>
                <a:cs typeface="Arial MT"/>
              </a:rPr>
              <a:t>satellite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images.</a:t>
            </a:r>
            <a:endParaRPr sz="1800" dirty="0">
              <a:latin typeface="Arial MT"/>
              <a:cs typeface="Arial MT"/>
            </a:endParaRPr>
          </a:p>
          <a:p>
            <a:pPr marL="297180" marR="499109" indent="-285115" algn="just">
              <a:lnSpc>
                <a:spcPts val="2150"/>
              </a:lnSpc>
              <a:spcBef>
                <a:spcPts val="810"/>
              </a:spcBef>
              <a:buFont typeface="Georgia"/>
              <a:buChar char="▪"/>
              <a:tabLst>
                <a:tab pos="29718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“Remote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Sensing”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refers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satellite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aerial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observe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collect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Earth’s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surface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direct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contact.</a:t>
            </a:r>
            <a:endParaRPr sz="1800" dirty="0">
              <a:latin typeface="Arial MT"/>
              <a:cs typeface="Arial MT"/>
            </a:endParaRPr>
          </a:p>
          <a:p>
            <a:pPr marL="297180" marR="400050" indent="-285115" algn="just">
              <a:lnSpc>
                <a:spcPct val="100000"/>
              </a:lnSpc>
              <a:spcBef>
                <a:spcPts val="660"/>
              </a:spcBef>
              <a:buFont typeface="Georgia"/>
              <a:buChar char="▪"/>
              <a:tabLst>
                <a:tab pos="297180" algn="l"/>
              </a:tabLst>
            </a:pPr>
            <a:r>
              <a:rPr sz="1800" b="1" dirty="0">
                <a:latin typeface="Arial"/>
                <a:cs typeface="Arial"/>
              </a:rPr>
              <a:t>“Scene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Classification”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describes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categorizing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satellite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different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scenes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urban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areas,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vegetation,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water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bodies,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forests,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barren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land.</a:t>
            </a:r>
            <a:endParaRPr sz="1800" dirty="0">
              <a:latin typeface="Arial"/>
              <a:cs typeface="Arial"/>
            </a:endParaRPr>
          </a:p>
          <a:p>
            <a:pPr marL="297180" marR="169545" indent="-285115" algn="just">
              <a:lnSpc>
                <a:spcPct val="100000"/>
              </a:lnSpc>
              <a:spcBef>
                <a:spcPts val="730"/>
              </a:spcBef>
              <a:buFont typeface="Georgia"/>
              <a:buChar char="▪"/>
              <a:tabLst>
                <a:tab pos="29718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subtitle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“on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LULC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DL”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clearly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highlights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objective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classify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cover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techniques.</a:t>
            </a:r>
            <a:endParaRPr sz="1800" dirty="0">
              <a:latin typeface="Arial"/>
              <a:cs typeface="Arial"/>
            </a:endParaRPr>
          </a:p>
          <a:p>
            <a:pPr marL="297180" marR="5080" indent="-285115" algn="just">
              <a:lnSpc>
                <a:spcPct val="99700"/>
              </a:lnSpc>
              <a:spcBef>
                <a:spcPts val="740"/>
              </a:spcBef>
              <a:buFont typeface="Georgia"/>
              <a:buChar char="▪"/>
              <a:tabLst>
                <a:tab pos="297180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emphasizes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advanced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technology,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significance,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of </a:t>
            </a:r>
            <a:r>
              <a:rPr sz="1800" b="1" dirty="0">
                <a:latin typeface="Arial"/>
                <a:cs typeface="Arial"/>
              </a:rPr>
              <a:t>deep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achieving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accurate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monitoring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supporting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sustainable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planning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in </a:t>
            </a:r>
            <a:r>
              <a:rPr sz="1800" spc="-1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world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applications.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9467" y="6603492"/>
            <a:ext cx="4570475" cy="19202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33742" y="6562972"/>
            <a:ext cx="1149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0553" y="6564441"/>
            <a:ext cx="39160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4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SCIENCEAND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3" y="760475"/>
            <a:ext cx="10685145" cy="205184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ts val="1630"/>
              </a:lnSpc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2312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3" y="987552"/>
            <a:ext cx="10685145" cy="62801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299720">
              <a:lnSpc>
                <a:spcPts val="3915"/>
              </a:lnSpc>
            </a:pPr>
            <a:r>
              <a:rPr sz="3850" spc="-10" dirty="0">
                <a:latin typeface="Times New Roman"/>
                <a:cs typeface="Times New Roman"/>
              </a:rPr>
              <a:t>Contents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415" y="1601686"/>
            <a:ext cx="2482215" cy="45885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68300" indent="-355600">
              <a:lnSpc>
                <a:spcPct val="100000"/>
              </a:lnSpc>
              <a:spcBef>
                <a:spcPts val="750"/>
              </a:spcBef>
              <a:buChar char="•"/>
              <a:tabLst>
                <a:tab pos="368300" algn="l"/>
              </a:tabLst>
            </a:pPr>
            <a:r>
              <a:rPr sz="2250" spc="-10" dirty="0">
                <a:latin typeface="Times New Roman"/>
                <a:cs typeface="Times New Roman"/>
              </a:rPr>
              <a:t>Abstract</a:t>
            </a:r>
            <a:endParaRPr sz="2250">
              <a:latin typeface="Times New Roman"/>
              <a:cs typeface="Times New Roman"/>
            </a:endParaRPr>
          </a:p>
          <a:p>
            <a:pPr marL="368300" indent="-355600">
              <a:lnSpc>
                <a:spcPct val="100000"/>
              </a:lnSpc>
              <a:spcBef>
                <a:spcPts val="645"/>
              </a:spcBef>
              <a:buChar char="•"/>
              <a:tabLst>
                <a:tab pos="368300" algn="l"/>
              </a:tabLst>
            </a:pPr>
            <a:r>
              <a:rPr sz="2250" spc="-10" dirty="0">
                <a:latin typeface="Arial MT"/>
                <a:cs typeface="Arial MT"/>
              </a:rPr>
              <a:t>Introduction</a:t>
            </a:r>
            <a:endParaRPr sz="225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575"/>
              </a:spcBef>
              <a:buChar char="•"/>
              <a:tabLst>
                <a:tab pos="368300" algn="l"/>
              </a:tabLst>
            </a:pPr>
            <a:r>
              <a:rPr sz="2250" dirty="0">
                <a:latin typeface="Times New Roman"/>
                <a:cs typeface="Times New Roman"/>
              </a:rPr>
              <a:t>Literature</a:t>
            </a:r>
            <a:r>
              <a:rPr sz="2250" spc="-35" dirty="0">
                <a:latin typeface="Times New Roman"/>
                <a:cs typeface="Times New Roman"/>
              </a:rPr>
              <a:t> </a:t>
            </a:r>
            <a:r>
              <a:rPr sz="2250" spc="-10" dirty="0">
                <a:latin typeface="Times New Roman"/>
                <a:cs typeface="Times New Roman"/>
              </a:rPr>
              <a:t>Survey</a:t>
            </a:r>
            <a:endParaRPr sz="2250">
              <a:latin typeface="Times New Roman"/>
              <a:cs typeface="Times New Roman"/>
            </a:endParaRPr>
          </a:p>
          <a:p>
            <a:pPr marL="369570" indent="-356870">
              <a:lnSpc>
                <a:spcPct val="100000"/>
              </a:lnSpc>
              <a:spcBef>
                <a:spcPts val="670"/>
              </a:spcBef>
              <a:buChar char="•"/>
              <a:tabLst>
                <a:tab pos="369570" algn="l"/>
              </a:tabLst>
            </a:pPr>
            <a:r>
              <a:rPr sz="2100" dirty="0">
                <a:latin typeface="Arial MT"/>
                <a:cs typeface="Arial MT"/>
              </a:rPr>
              <a:t>Existing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System</a:t>
            </a:r>
            <a:endParaRPr sz="2100">
              <a:latin typeface="Arial MT"/>
              <a:cs typeface="Arial MT"/>
            </a:endParaRPr>
          </a:p>
          <a:p>
            <a:pPr marL="369570" indent="-356870">
              <a:lnSpc>
                <a:spcPct val="100000"/>
              </a:lnSpc>
              <a:spcBef>
                <a:spcPts val="585"/>
              </a:spcBef>
              <a:buChar char="•"/>
              <a:tabLst>
                <a:tab pos="369570" algn="l"/>
              </a:tabLst>
            </a:pPr>
            <a:r>
              <a:rPr sz="2100" dirty="0">
                <a:latin typeface="Arial MT"/>
                <a:cs typeface="Arial MT"/>
              </a:rPr>
              <a:t>Proposed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System</a:t>
            </a:r>
            <a:endParaRPr sz="2100">
              <a:latin typeface="Arial MT"/>
              <a:cs typeface="Arial MT"/>
            </a:endParaRPr>
          </a:p>
          <a:p>
            <a:pPr marL="369570" indent="-356870">
              <a:lnSpc>
                <a:spcPct val="100000"/>
              </a:lnSpc>
              <a:spcBef>
                <a:spcPts val="580"/>
              </a:spcBef>
              <a:buChar char="•"/>
              <a:tabLst>
                <a:tab pos="369570" algn="l"/>
              </a:tabLst>
            </a:pPr>
            <a:r>
              <a:rPr sz="2100" spc="-10" dirty="0">
                <a:latin typeface="Arial MT"/>
                <a:cs typeface="Arial MT"/>
              </a:rPr>
              <a:t>Planning</a:t>
            </a:r>
            <a:endParaRPr sz="210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590"/>
              </a:spcBef>
              <a:buChar char="•"/>
              <a:tabLst>
                <a:tab pos="368300" algn="l"/>
              </a:tabLst>
            </a:pPr>
            <a:r>
              <a:rPr sz="2250" spc="-10" dirty="0">
                <a:latin typeface="Arial MT"/>
                <a:cs typeface="Arial MT"/>
              </a:rPr>
              <a:t>Design</a:t>
            </a:r>
            <a:endParaRPr sz="225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625"/>
              </a:spcBef>
              <a:buChar char="•"/>
              <a:tabLst>
                <a:tab pos="368300" algn="l"/>
              </a:tabLst>
            </a:pPr>
            <a:r>
              <a:rPr sz="2250" spc="-10" dirty="0">
                <a:latin typeface="Arial MT"/>
                <a:cs typeface="Arial MT"/>
              </a:rPr>
              <a:t>Implementation</a:t>
            </a:r>
            <a:endParaRPr sz="225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615"/>
              </a:spcBef>
              <a:buChar char="•"/>
              <a:tabLst>
                <a:tab pos="368300" algn="l"/>
              </a:tabLst>
            </a:pPr>
            <a:r>
              <a:rPr sz="2250" dirty="0">
                <a:latin typeface="Arial MT"/>
                <a:cs typeface="Arial MT"/>
              </a:rPr>
              <a:t>Research </a:t>
            </a:r>
            <a:r>
              <a:rPr sz="2250" spc="-20" dirty="0">
                <a:latin typeface="Arial MT"/>
                <a:cs typeface="Arial MT"/>
              </a:rPr>
              <a:t>Paper</a:t>
            </a:r>
            <a:endParaRPr sz="225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610"/>
              </a:spcBef>
              <a:buChar char="•"/>
              <a:tabLst>
                <a:tab pos="368300" algn="l"/>
              </a:tabLst>
            </a:pPr>
            <a:r>
              <a:rPr sz="2250" spc="-10" dirty="0">
                <a:latin typeface="Arial MT"/>
                <a:cs typeface="Arial MT"/>
              </a:rPr>
              <a:t>References</a:t>
            </a:r>
            <a:endParaRPr sz="2250">
              <a:latin typeface="Arial MT"/>
              <a:cs typeface="Arial MT"/>
            </a:endParaRPr>
          </a:p>
          <a:p>
            <a:pPr marL="368300" indent="-355600">
              <a:lnSpc>
                <a:spcPct val="100000"/>
              </a:lnSpc>
              <a:spcBef>
                <a:spcPts val="625"/>
              </a:spcBef>
              <a:buChar char="•"/>
              <a:tabLst>
                <a:tab pos="368300" algn="l"/>
              </a:tabLst>
            </a:pPr>
            <a:r>
              <a:rPr sz="2250" dirty="0">
                <a:latin typeface="Arial MT"/>
                <a:cs typeface="Arial MT"/>
              </a:rPr>
              <a:t>Github</a:t>
            </a:r>
            <a:r>
              <a:rPr sz="2250" spc="-30" dirty="0">
                <a:latin typeface="Arial MT"/>
                <a:cs typeface="Arial MT"/>
              </a:rPr>
              <a:t> </a:t>
            </a:r>
            <a:r>
              <a:rPr sz="2250" spc="-20" dirty="0">
                <a:latin typeface="Arial MT"/>
                <a:cs typeface="Arial MT"/>
              </a:rPr>
              <a:t>Link</a:t>
            </a:r>
            <a:endParaRPr sz="22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0700" y="6598919"/>
            <a:ext cx="4570475" cy="1813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33742" y="6562972"/>
            <a:ext cx="11493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b="1" spc="-50" dirty="0">
                <a:solidFill>
                  <a:srgbClr val="001F60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70553" y="6564441"/>
            <a:ext cx="39160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DEPT.</a:t>
            </a:r>
            <a:r>
              <a:rPr sz="1400" spc="-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COMPUTER</a:t>
            </a:r>
            <a:r>
              <a:rPr sz="14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SCIENCEAND</a:t>
            </a:r>
            <a:r>
              <a:rPr sz="1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49808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1530"/>
              </a:lnSpc>
            </a:pPr>
            <a:r>
              <a:rPr sz="1600" dirty="0"/>
              <a:t>Remote</a:t>
            </a:r>
            <a:r>
              <a:rPr sz="1600" spc="-40" dirty="0"/>
              <a:t> </a:t>
            </a:r>
            <a:r>
              <a:rPr sz="1600" dirty="0"/>
              <a:t>sensing</a:t>
            </a:r>
            <a:r>
              <a:rPr sz="1600" spc="-40" dirty="0"/>
              <a:t> </a:t>
            </a:r>
            <a:r>
              <a:rPr sz="1600" dirty="0"/>
              <a:t>Image</a:t>
            </a:r>
            <a:r>
              <a:rPr sz="1600" spc="-55" dirty="0"/>
              <a:t> </a:t>
            </a:r>
            <a:r>
              <a:rPr sz="1600" dirty="0"/>
              <a:t>Classification</a:t>
            </a:r>
            <a:r>
              <a:rPr sz="1600" spc="-40" dirty="0"/>
              <a:t> </a:t>
            </a:r>
            <a:r>
              <a:rPr sz="1600" dirty="0"/>
              <a:t>on</a:t>
            </a:r>
            <a:r>
              <a:rPr sz="1600" spc="-40" dirty="0"/>
              <a:t> </a:t>
            </a:r>
            <a:r>
              <a:rPr sz="1600" dirty="0"/>
              <a:t>LULC</a:t>
            </a:r>
            <a:r>
              <a:rPr sz="1600" spc="-45" dirty="0"/>
              <a:t> </a:t>
            </a:r>
            <a:r>
              <a:rPr sz="1600" dirty="0"/>
              <a:t>using</a:t>
            </a:r>
            <a:r>
              <a:rPr sz="1600" spc="-40" dirty="0"/>
              <a:t> </a:t>
            </a:r>
            <a:r>
              <a:rPr sz="1600" spc="-25" dirty="0"/>
              <a:t>DL</a:t>
            </a:r>
            <a:endParaRPr sz="1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solidFill>
                  <a:srgbClr val="FFFFFF"/>
                </a:solidFill>
                <a:latin typeface="Times New Roman"/>
                <a:cs typeface="Times New Roman"/>
              </a:rPr>
              <a:t>Abstract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258" y="1579073"/>
            <a:ext cx="10210800" cy="452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515" marR="5080" indent="-298450" algn="just">
              <a:lnSpc>
                <a:spcPct val="150000"/>
              </a:lnSpc>
              <a:spcBef>
                <a:spcPts val="95"/>
              </a:spcBef>
              <a:buFont typeface="Georgia"/>
              <a:buChar char="➢"/>
              <a:tabLst>
                <a:tab pos="314325" algn="l"/>
              </a:tabLst>
            </a:pPr>
            <a:r>
              <a:rPr sz="1400" b="1" dirty="0">
                <a:latin typeface="Arial MT"/>
                <a:cs typeface="Arial MT"/>
              </a:rPr>
              <a:t>Accurate</a:t>
            </a:r>
            <a:r>
              <a:rPr sz="1400" b="1" spc="114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land</a:t>
            </a:r>
            <a:r>
              <a:rPr sz="1400" b="1" spc="114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use</a:t>
            </a:r>
            <a:r>
              <a:rPr sz="1400" b="1" spc="114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and</a:t>
            </a:r>
            <a:r>
              <a:rPr sz="1400" b="1" spc="15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land</a:t>
            </a:r>
            <a:r>
              <a:rPr sz="1400" b="1" spc="13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cover</a:t>
            </a:r>
            <a:r>
              <a:rPr sz="1400" b="1" spc="12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(LULC)</a:t>
            </a:r>
            <a:r>
              <a:rPr sz="1400" b="1" spc="12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classification</a:t>
            </a:r>
            <a:r>
              <a:rPr sz="1400" b="1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remote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sensing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imagery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plays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critical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role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environmental </a:t>
            </a:r>
            <a:r>
              <a:rPr sz="1400" dirty="0">
                <a:latin typeface="Arial MT"/>
                <a:cs typeface="Arial MT"/>
              </a:rPr>
              <a:t>monitoring,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urban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planning,</a:t>
            </a:r>
            <a:r>
              <a:rPr lang="en-US"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sustainable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resource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management.</a:t>
            </a:r>
            <a:r>
              <a:rPr lang="en-US"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Recent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advances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deep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significantly </a:t>
            </a:r>
            <a:r>
              <a:rPr sz="1400" dirty="0">
                <a:latin typeface="Arial MT"/>
                <a:cs typeface="Arial MT"/>
              </a:rPr>
              <a:t>improved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capability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feature</a:t>
            </a:r>
            <a:r>
              <a:rPr sz="1400" spc="1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extraction</a:t>
            </a:r>
            <a:r>
              <a:rPr sz="1400" spc="1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1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high-resolution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satellite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images,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enabling</a:t>
            </a:r>
            <a:r>
              <a:rPr sz="1400" spc="1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robust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scalable </a:t>
            </a:r>
            <a:r>
              <a:rPr sz="1400" dirty="0">
                <a:latin typeface="Arial MT"/>
                <a:cs typeface="Arial MT"/>
              </a:rPr>
              <a:t>geospatial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analysis.</a:t>
            </a:r>
            <a:endParaRPr sz="1400" dirty="0">
              <a:latin typeface="Arial MT"/>
              <a:cs typeface="Arial MT"/>
            </a:endParaRPr>
          </a:p>
          <a:p>
            <a:pPr marL="310515" marR="5080" indent="-298450" algn="just">
              <a:lnSpc>
                <a:spcPct val="150000"/>
              </a:lnSpc>
              <a:spcBef>
                <a:spcPts val="75"/>
              </a:spcBef>
              <a:buFont typeface="Georgia"/>
              <a:buChar char="➢"/>
              <a:tabLst>
                <a:tab pos="314325" algn="l"/>
              </a:tabLst>
            </a:pP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study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presents 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deep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learning–based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framework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LULC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classification using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EuroSAT</a:t>
            </a:r>
            <a:r>
              <a:rPr sz="1400" b="1" spc="-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RGB</a:t>
            </a:r>
            <a:r>
              <a:rPr sz="1400" b="1" spc="-2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dataset</a:t>
            </a:r>
            <a:r>
              <a:rPr sz="1400" dirty="0">
                <a:latin typeface="Arial MT"/>
                <a:cs typeface="Arial MT"/>
              </a:rPr>
              <a:t>.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workflow 	</a:t>
            </a:r>
            <a:r>
              <a:rPr sz="1400" dirty="0">
                <a:latin typeface="Arial MT"/>
                <a:cs typeface="Arial MT"/>
              </a:rPr>
              <a:t>includes</a:t>
            </a:r>
            <a:r>
              <a:rPr sz="1400" spc="3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systematic</a:t>
            </a:r>
            <a:r>
              <a:rPr sz="1400" spc="4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dataset</a:t>
            </a:r>
            <a:r>
              <a:rPr sz="1400" spc="3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exploration,</a:t>
            </a:r>
            <a:r>
              <a:rPr sz="1400" spc="4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3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preprocessing</a:t>
            </a:r>
            <a:r>
              <a:rPr sz="1400" spc="3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4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Generator–based</a:t>
            </a:r>
            <a:r>
              <a:rPr sz="1400" spc="4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rescaling,</a:t>
            </a:r>
            <a:r>
              <a:rPr sz="1400" spc="434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geometric 	</a:t>
            </a:r>
            <a:r>
              <a:rPr sz="1400" spc="60" dirty="0">
                <a:latin typeface="Arial MT"/>
                <a:cs typeface="Arial MT"/>
              </a:rPr>
              <a:t>transformations,</a:t>
            </a:r>
            <a:r>
              <a:rPr sz="1400" spc="305" dirty="0">
                <a:latin typeface="Arial MT"/>
                <a:cs typeface="Arial MT"/>
              </a:rPr>
              <a:t> </a:t>
            </a:r>
            <a:r>
              <a:rPr sz="1400" spc="55" dirty="0">
                <a:latin typeface="Arial MT"/>
                <a:cs typeface="Arial MT"/>
              </a:rPr>
              <a:t>horizontal</a:t>
            </a:r>
            <a:r>
              <a:rPr sz="1400" spc="300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flipping,</a:t>
            </a:r>
            <a:r>
              <a:rPr sz="1400" spc="3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reshaping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enhance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generalization.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spc="50" dirty="0">
                <a:latin typeface="Arial MT"/>
                <a:cs typeface="Arial MT"/>
              </a:rPr>
              <a:t>Multiple</a:t>
            </a:r>
            <a:r>
              <a:rPr sz="1400" spc="2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deep</a:t>
            </a:r>
            <a:r>
              <a:rPr sz="1400" spc="290" dirty="0">
                <a:latin typeface="Arial MT"/>
                <a:cs typeface="Arial MT"/>
              </a:rPr>
              <a:t> </a:t>
            </a:r>
            <a:r>
              <a:rPr sz="1400" spc="40" dirty="0">
                <a:latin typeface="Arial MT"/>
                <a:cs typeface="Arial MT"/>
              </a:rPr>
              <a:t>convolutional 	</a:t>
            </a:r>
            <a:r>
              <a:rPr sz="1400" spc="-10" dirty="0">
                <a:latin typeface="Arial MT"/>
                <a:cs typeface="Arial MT"/>
              </a:rPr>
              <a:t>architectures—</a:t>
            </a:r>
            <a:r>
              <a:rPr sz="1400" dirty="0">
                <a:latin typeface="Arial MT"/>
                <a:cs typeface="Arial MT"/>
              </a:rPr>
              <a:t>ResNet50,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ResNet18,</a:t>
            </a:r>
            <a:r>
              <a:rPr sz="1400" b="1" spc="4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DenseNet121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VGG19,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ResNet152,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ConvNeXt-</a:t>
            </a:r>
            <a:r>
              <a:rPr sz="1400" spc="-25" dirty="0">
                <a:latin typeface="Arial MT"/>
                <a:cs typeface="Arial MT"/>
              </a:rPr>
              <a:t>Tiny—</a:t>
            </a:r>
            <a:r>
              <a:rPr sz="1400" dirty="0">
                <a:latin typeface="Arial MT"/>
                <a:cs typeface="Arial MT"/>
              </a:rPr>
              <a:t>are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implemented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trained 	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early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stopping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mitigate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overfitting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underfitting.</a:t>
            </a:r>
            <a:endParaRPr sz="1400" dirty="0">
              <a:latin typeface="Arial MT"/>
              <a:cs typeface="Arial MT"/>
            </a:endParaRPr>
          </a:p>
          <a:p>
            <a:pPr marL="311150" marR="5080" indent="-299085" algn="just">
              <a:lnSpc>
                <a:spcPct val="150000"/>
              </a:lnSpc>
              <a:spcBef>
                <a:spcPts val="85"/>
              </a:spcBef>
              <a:buFont typeface="Georgia"/>
              <a:buChar char="➢"/>
              <a:tabLst>
                <a:tab pos="314325" algn="l"/>
              </a:tabLst>
            </a:pPr>
            <a:r>
              <a:rPr sz="1400" dirty="0">
                <a:latin typeface="Arial MT"/>
                <a:cs typeface="Arial MT"/>
              </a:rPr>
              <a:t>Model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evaluation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performed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precision,</a:t>
            </a:r>
            <a:r>
              <a:rPr sz="1400" b="1" spc="3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recall,</a:t>
            </a:r>
            <a:r>
              <a:rPr sz="1400" b="1" spc="36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F1-score,</a:t>
            </a:r>
            <a:r>
              <a:rPr sz="1400" b="1" spc="36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and</a:t>
            </a:r>
            <a:r>
              <a:rPr sz="1400" b="1" spc="32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accuracy</a:t>
            </a:r>
            <a:r>
              <a:rPr sz="1400" b="1" spc="32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metrics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computed</a:t>
            </a:r>
            <a:r>
              <a:rPr sz="1400" spc="3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3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dedicated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assessment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function.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Grad-CAM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visualization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applied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interpret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</a:t>
            </a:r>
            <a:r>
              <a:rPr sz="1400" spc="19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predictions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highlighting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salient </a:t>
            </a:r>
            <a:r>
              <a:rPr lang="en-US"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regions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satellite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images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influence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classification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decisions.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Among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evaluated</a:t>
            </a:r>
            <a:r>
              <a:rPr sz="1400" spc="2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models,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ConvNeXt-Tiny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achieves </a:t>
            </a:r>
            <a:r>
              <a:rPr sz="1400" dirty="0">
                <a:latin typeface="Arial MT"/>
                <a:cs typeface="Arial MT"/>
              </a:rPr>
              <a:t>superior</a:t>
            </a:r>
            <a:r>
              <a:rPr sz="1400" spc="360" dirty="0">
                <a:latin typeface="Arial MT"/>
                <a:cs typeface="Arial MT"/>
              </a:rPr>
              <a:t> </a:t>
            </a:r>
            <a:r>
              <a:rPr sz="1400" spc="45" dirty="0">
                <a:latin typeface="Arial MT"/>
                <a:cs typeface="Arial MT"/>
              </a:rPr>
              <a:t>performance</a:t>
            </a:r>
            <a:r>
              <a:rPr sz="1400" spc="3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2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accuracy</a:t>
            </a:r>
            <a:r>
              <a:rPr sz="1400" spc="3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98.49%,</a:t>
            </a:r>
            <a:r>
              <a:rPr sz="1400" spc="3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precision</a:t>
            </a:r>
            <a:r>
              <a:rPr sz="1400" spc="3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98.48%,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recall</a:t>
            </a:r>
            <a:r>
              <a:rPr sz="1400" spc="3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3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98.46%,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spc="60" dirty="0">
                <a:latin typeface="Arial MT"/>
                <a:cs typeface="Arial MT"/>
              </a:rPr>
              <a:t>F1-</a:t>
            </a:r>
            <a:r>
              <a:rPr sz="1400" dirty="0">
                <a:latin typeface="Arial MT"/>
                <a:cs typeface="Arial MT"/>
              </a:rPr>
              <a:t>score</a:t>
            </a:r>
            <a:r>
              <a:rPr sz="1400" spc="2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3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98.47%, </a:t>
            </a:r>
            <a:r>
              <a:rPr sz="1400" dirty="0">
                <a:latin typeface="Arial MT"/>
                <a:cs typeface="Arial MT"/>
              </a:rPr>
              <a:t>demonstrating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its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effectiveness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complex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LULC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discrimination.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9467" y="6598919"/>
            <a:ext cx="4570475" cy="1813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/>
              <a:t>Remote</a:t>
            </a:r>
            <a:r>
              <a:rPr sz="1400" spc="-30" dirty="0"/>
              <a:t> </a:t>
            </a:r>
            <a:r>
              <a:rPr sz="1400" dirty="0"/>
              <a:t>sensing</a:t>
            </a:r>
            <a:r>
              <a:rPr sz="1400" spc="-40" dirty="0"/>
              <a:t> </a:t>
            </a:r>
            <a:r>
              <a:rPr sz="1400" dirty="0"/>
              <a:t>Image</a:t>
            </a:r>
            <a:r>
              <a:rPr sz="1400" spc="-30" dirty="0"/>
              <a:t> </a:t>
            </a:r>
            <a:r>
              <a:rPr sz="1400" dirty="0"/>
              <a:t>Classification</a:t>
            </a:r>
            <a:r>
              <a:rPr sz="1400" spc="-40" dirty="0"/>
              <a:t> </a:t>
            </a:r>
            <a:r>
              <a:rPr sz="1400" dirty="0"/>
              <a:t>on</a:t>
            </a:r>
            <a:r>
              <a:rPr sz="1400" spc="-45" dirty="0"/>
              <a:t> </a:t>
            </a:r>
            <a:r>
              <a:rPr sz="1400" dirty="0"/>
              <a:t>LULC</a:t>
            </a:r>
            <a:r>
              <a:rPr sz="1400" spc="-20" dirty="0"/>
              <a:t> </a:t>
            </a:r>
            <a:r>
              <a:rPr sz="1400" dirty="0"/>
              <a:t>using</a:t>
            </a:r>
            <a:r>
              <a:rPr sz="1400" spc="-40" dirty="0"/>
              <a:t> </a:t>
            </a:r>
            <a:r>
              <a:rPr sz="1400" spc="-25" dirty="0"/>
              <a:t>DL</a:t>
            </a:r>
            <a:endParaRPr sz="1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1" y="988937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solidFill>
                  <a:srgbClr val="FFFFFF"/>
                </a:solidFill>
                <a:latin typeface="Times New Roman"/>
                <a:cs typeface="Times New Roman"/>
              </a:rPr>
              <a:t>Introduction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300" y="1579073"/>
            <a:ext cx="10208028" cy="56884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 marR="6350" indent="-30226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r>
              <a:rPr sz="1400" dirty="0">
                <a:latin typeface="Arial MT"/>
                <a:cs typeface="Arial MT"/>
              </a:rPr>
              <a:t>Remote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sensing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plays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critical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role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monitoring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Earth's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surface,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enabling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observation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analysis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land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and </a:t>
            </a:r>
            <a:r>
              <a:rPr sz="1400" dirty="0">
                <a:latin typeface="Arial MT"/>
                <a:cs typeface="Arial MT"/>
              </a:rPr>
              <a:t>land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cover</a:t>
            </a:r>
            <a:r>
              <a:rPr sz="1400" spc="2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patterns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over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time.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increasing</a:t>
            </a:r>
            <a:r>
              <a:rPr sz="1400" spc="20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availability</a:t>
            </a:r>
            <a:r>
              <a:rPr sz="1400" spc="2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229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high-resolution</a:t>
            </a:r>
            <a:r>
              <a:rPr sz="1400" spc="2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satellite</a:t>
            </a:r>
            <a:r>
              <a:rPr sz="1400" spc="2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imagery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has</a:t>
            </a:r>
            <a:r>
              <a:rPr sz="1400" spc="2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created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opportunities</a:t>
            </a:r>
            <a:r>
              <a:rPr sz="1400" spc="2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to </a:t>
            </a:r>
            <a:r>
              <a:rPr sz="1400" dirty="0">
                <a:latin typeface="Arial MT"/>
                <a:cs typeface="Arial MT"/>
              </a:rPr>
              <a:t>understand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environmental</a:t>
            </a:r>
            <a:r>
              <a:rPr sz="1400" b="1" spc="6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changes,</a:t>
            </a:r>
            <a:r>
              <a:rPr lang="en-US" sz="1400" b="1" spc="6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urban</a:t>
            </a:r>
            <a:r>
              <a:rPr sz="1400" b="1" spc="4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expansion,</a:t>
            </a:r>
            <a:r>
              <a:rPr lang="en-US" sz="1400" b="1" spc="7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deforestation,</a:t>
            </a:r>
            <a:r>
              <a:rPr lang="en-US" sz="1400" b="1" spc="6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agricultural</a:t>
            </a:r>
            <a:r>
              <a:rPr lang="en-US" sz="1400" b="1" spc="7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development,</a:t>
            </a:r>
            <a:r>
              <a:rPr lang="en-US" sz="1400" b="1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and</a:t>
            </a:r>
            <a:r>
              <a:rPr sz="1400" b="1" spc="4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natural</a:t>
            </a:r>
            <a:r>
              <a:rPr sz="1400" b="1" spc="60" dirty="0">
                <a:latin typeface="Arial MT"/>
                <a:cs typeface="Arial MT"/>
              </a:rPr>
              <a:t>  </a:t>
            </a:r>
            <a:r>
              <a:rPr sz="1400" b="1" spc="-10" dirty="0">
                <a:latin typeface="Arial MT"/>
                <a:cs typeface="Arial MT"/>
              </a:rPr>
              <a:t>resource </a:t>
            </a:r>
            <a:r>
              <a:rPr sz="1400" b="1" dirty="0">
                <a:latin typeface="Arial MT"/>
                <a:cs typeface="Arial MT"/>
              </a:rPr>
              <a:t>management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unprecedented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accuracy.</a:t>
            </a:r>
            <a:endParaRPr lang="en-US" sz="1400" dirty="0">
              <a:latin typeface="Arial MT"/>
              <a:cs typeface="Arial MT"/>
            </a:endParaRPr>
          </a:p>
          <a:p>
            <a:pPr marL="314325" marR="6350" indent="-30226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r>
              <a:rPr sz="1400" dirty="0">
                <a:latin typeface="Arial MT"/>
                <a:cs typeface="Arial MT"/>
              </a:rPr>
              <a:t>Accurate</a:t>
            </a:r>
            <a:r>
              <a:rPr lang="en-US" sz="1400" spc="3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classification</a:t>
            </a:r>
            <a:r>
              <a:rPr sz="1400" spc="3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lang="en-US" sz="1400" spc="3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land</a:t>
            </a:r>
            <a:r>
              <a:rPr sz="1400" spc="3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cover</a:t>
            </a:r>
            <a:r>
              <a:rPr lang="en-US"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types</a:t>
            </a:r>
            <a:r>
              <a:rPr sz="1400" spc="3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essential</a:t>
            </a:r>
            <a:r>
              <a:rPr sz="1400" spc="3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3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informed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decision-making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urban</a:t>
            </a:r>
            <a:r>
              <a:rPr sz="1400" b="1" spc="36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planning,</a:t>
            </a:r>
            <a:r>
              <a:rPr sz="1400" b="1" spc="340" dirty="0">
                <a:latin typeface="Arial MT"/>
                <a:cs typeface="Arial MT"/>
              </a:rPr>
              <a:t> </a:t>
            </a:r>
            <a:r>
              <a:rPr sz="1400" b="1" spc="-10" dirty="0">
                <a:latin typeface="Arial MT"/>
                <a:cs typeface="Arial MT"/>
              </a:rPr>
              <a:t>environmental </a:t>
            </a:r>
            <a:r>
              <a:rPr sz="1400" b="1" dirty="0">
                <a:latin typeface="Arial MT"/>
                <a:cs typeface="Arial MT"/>
              </a:rPr>
              <a:t>conservation,</a:t>
            </a:r>
            <a:r>
              <a:rPr sz="1400" b="1" spc="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and</a:t>
            </a:r>
            <a:r>
              <a:rPr sz="1400" b="1" spc="5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sustainable</a:t>
            </a:r>
            <a:r>
              <a:rPr sz="1400" b="1" spc="4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resource</a:t>
            </a:r>
            <a:r>
              <a:rPr sz="1400" b="1" spc="6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 MT"/>
                <a:cs typeface="Arial MT"/>
              </a:rPr>
              <a:t>allocation</a:t>
            </a:r>
            <a:r>
              <a:rPr sz="1400" dirty="0">
                <a:latin typeface="Arial MT"/>
                <a:cs typeface="Arial MT"/>
              </a:rPr>
              <a:t>.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Manual</a:t>
            </a:r>
            <a:r>
              <a:rPr sz="1400" spc="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interpretation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images</a:t>
            </a:r>
            <a:r>
              <a:rPr sz="1400" spc="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labor-intensive,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time-</a:t>
            </a:r>
            <a:r>
              <a:rPr sz="1400" spc="-10" dirty="0">
                <a:latin typeface="Arial MT"/>
                <a:cs typeface="Arial MT"/>
              </a:rPr>
              <a:t>consuming,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prone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human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error,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making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solutions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highly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valuable.</a:t>
            </a:r>
            <a:endParaRPr lang="en-US" sz="1400" dirty="0">
              <a:latin typeface="Arial MT"/>
              <a:cs typeface="Arial MT"/>
            </a:endParaRPr>
          </a:p>
          <a:p>
            <a:pPr marL="314325" marR="6350" indent="-30226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r>
              <a:rPr sz="1400" dirty="0">
                <a:latin typeface="Arial MT"/>
                <a:cs typeface="Arial MT"/>
              </a:rPr>
              <a:t>Advances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lang="en-US" sz="1400" spc="140" dirty="0">
                <a:latin typeface="Arial MT"/>
                <a:cs typeface="Arial MT"/>
              </a:rPr>
              <a:t>Deep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1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analysis</a:t>
            </a:r>
            <a:r>
              <a:rPr sz="1400" spc="1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have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enabled</a:t>
            </a:r>
            <a:r>
              <a:rPr sz="1400" spc="1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systems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18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process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vast</a:t>
            </a:r>
            <a:r>
              <a:rPr sz="1400" spc="1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amounts</a:t>
            </a:r>
            <a:r>
              <a:rPr sz="1400" spc="1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18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satellite </a:t>
            </a:r>
            <a:r>
              <a:rPr sz="1400" dirty="0">
                <a:latin typeface="Arial MT"/>
                <a:cs typeface="Arial MT"/>
              </a:rPr>
              <a:t>imagery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efficiently,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identifying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meaningful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patterns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classifying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regions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their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spectral</a:t>
            </a:r>
            <a:r>
              <a:rPr sz="1400" spc="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spatial</a:t>
            </a:r>
            <a:r>
              <a:rPr sz="1400" spc="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characteristics. </a:t>
            </a:r>
            <a:r>
              <a:rPr sz="1400" dirty="0">
                <a:latin typeface="Arial MT"/>
                <a:cs typeface="Arial MT"/>
              </a:rPr>
              <a:t>These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systems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enhance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precision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scalability</a:t>
            </a:r>
            <a:r>
              <a:rPr sz="1400" spc="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land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cover</a:t>
            </a:r>
            <a:r>
              <a:rPr sz="1400" spc="114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mapping</a:t>
            </a:r>
            <a:r>
              <a:rPr sz="1400" spc="9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while</a:t>
            </a:r>
            <a:r>
              <a:rPr sz="1400" spc="1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reducing</a:t>
            </a:r>
            <a:r>
              <a:rPr sz="1400" spc="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dependency</a:t>
            </a:r>
            <a:r>
              <a:rPr sz="1400" spc="10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1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manual</a:t>
            </a:r>
            <a:r>
              <a:rPr sz="1400" spc="10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efforts. </a:t>
            </a:r>
            <a:r>
              <a:rPr sz="1400" dirty="0">
                <a:latin typeface="Arial MT"/>
                <a:cs typeface="Arial MT"/>
              </a:rPr>
              <a:t>By</a:t>
            </a:r>
            <a:r>
              <a:rPr sz="1400" spc="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incorporating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processing</a:t>
            </a:r>
            <a:r>
              <a:rPr sz="1400" spc="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pipelines</a:t>
            </a:r>
            <a:r>
              <a:rPr lang="en-US" sz="1400" dirty="0">
                <a:latin typeface="Arial MT"/>
                <a:cs typeface="Arial MT"/>
              </a:rPr>
              <a:t>.</a:t>
            </a:r>
            <a:endParaRPr lang="en-US" sz="1400" spc="-10" dirty="0">
              <a:latin typeface="Arial MT"/>
              <a:cs typeface="Arial MT"/>
            </a:endParaRPr>
          </a:p>
          <a:p>
            <a:pPr marL="314325" marR="6350" indent="-30226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integration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interactive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applications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further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accessibility,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allowing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upload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satellite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imagery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obtain </a:t>
            </a:r>
            <a:r>
              <a:rPr sz="1400" dirty="0">
                <a:latin typeface="Arial MT"/>
                <a:cs typeface="Arial MT"/>
              </a:rPr>
              <a:t>classification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results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quickly.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Such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provide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immediate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insights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visualization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categories,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facilitating </a:t>
            </a:r>
            <a:r>
              <a:rPr sz="1400" dirty="0">
                <a:latin typeface="Arial MT"/>
                <a:cs typeface="Arial MT"/>
              </a:rPr>
              <a:t>easy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interpretation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supporting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actionable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decisions.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approach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bridges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gap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between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large-</a:t>
            </a:r>
            <a:r>
              <a:rPr sz="1400" dirty="0">
                <a:latin typeface="Arial MT"/>
                <a:cs typeface="Arial MT"/>
              </a:rPr>
              <a:t>scale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geospatial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end-</a:t>
            </a: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requirements,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promoting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more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informed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management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environmental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urban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resources</a:t>
            </a:r>
            <a:endParaRPr lang="en-US" sz="1400" dirty="0">
              <a:latin typeface="Arial MT"/>
              <a:cs typeface="Arial MT"/>
            </a:endParaRPr>
          </a:p>
          <a:p>
            <a:pPr marL="314325" marR="6350" indent="-302260">
              <a:lnSpc>
                <a:spcPct val="12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endParaRPr lang="en-US" sz="1400" dirty="0">
              <a:latin typeface="Arial MT"/>
              <a:cs typeface="Arial MT"/>
            </a:endParaRPr>
          </a:p>
          <a:p>
            <a:pPr marL="314325" marR="6350" indent="-302260">
              <a:lnSpc>
                <a:spcPct val="120000"/>
              </a:lnSpc>
              <a:spcBef>
                <a:spcPts val="95"/>
              </a:spcBef>
              <a:buFont typeface="Wingdings" panose="05000000000000000000" pitchFamily="2" charset="2"/>
              <a:buChar char="q"/>
              <a:tabLst>
                <a:tab pos="311150" algn="l"/>
              </a:tabLst>
            </a:pPr>
            <a:endParaRPr lang="en-US" sz="1400" dirty="0">
              <a:latin typeface="Arial MT"/>
              <a:cs typeface="Arial MT"/>
            </a:endParaRPr>
          </a:p>
          <a:p>
            <a:pPr marL="12065" marR="6350">
              <a:lnSpc>
                <a:spcPct val="120000"/>
              </a:lnSpc>
              <a:spcBef>
                <a:spcPts val="95"/>
              </a:spcBef>
              <a:tabLst>
                <a:tab pos="311150" algn="l"/>
              </a:tabLst>
            </a:pPr>
            <a:endParaRPr lang="en-US" sz="14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4039" y="6598919"/>
            <a:ext cx="4570475" cy="18135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40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55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18110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latin typeface="Times New Roman"/>
                <a:cs typeface="Times New Roman"/>
              </a:rPr>
              <a:t>Literature</a:t>
            </a:r>
            <a:r>
              <a:rPr sz="3850" spc="-16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Survey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777"/>
            <a:ext cx="38125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604253"/>
            <a:ext cx="36940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0227" y="1804416"/>
          <a:ext cx="9754868" cy="4499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DRAWBACKS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5">
                  <a:txBody>
                    <a:bodyPr/>
                    <a:lstStyle/>
                    <a:p>
                      <a:pPr marL="86360" marR="97155" indent="73025">
                        <a:lnSpc>
                          <a:spcPct val="100400"/>
                        </a:lnSpc>
                        <a:spcBef>
                          <a:spcPts val="11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Xiaoyu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Yifan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Zhang,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Wei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Liu,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et 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dual-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branch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neural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include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Fusion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1910" algn="ctr">
                        <a:lnSpc>
                          <a:spcPts val="1820"/>
                        </a:lnSpc>
                        <a:spcBef>
                          <a:spcPts val="45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https://www.md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 marL="75565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 marR="347345">
                        <a:lnSpc>
                          <a:spcPts val="168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Deep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employed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 marR="194945">
                        <a:lnSpc>
                          <a:spcPts val="16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fuse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optical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imagery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LULC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intrinsic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8740" marR="101600">
                        <a:lnSpc>
                          <a:spcPts val="16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differences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between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SAR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optical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88%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 marR="227965">
                        <a:lnSpc>
                          <a:spcPts val="16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F1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87%,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 marR="147320">
                        <a:lnSpc>
                          <a:spcPct val="101899"/>
                        </a:lnSpc>
                        <a:spcBef>
                          <a:spcPts val="10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pi.com/2072-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2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4292/17/7/1298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Learning-Based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classification.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Two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speckle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noise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outperforming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strategies—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Early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SAR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cloud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(84%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Optical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obstruction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optical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F1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Fusion—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compared.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images.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Multimodal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82%).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Early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integrates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increases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SAR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optical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modalities,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while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LULC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large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capturing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both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after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spectral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processing.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effective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training,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structural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features,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limiting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mitigated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resource-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constrained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limitations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single-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approaches.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18110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latin typeface="Times New Roman"/>
                <a:cs typeface="Times New Roman"/>
              </a:rPr>
              <a:t>Literature</a:t>
            </a:r>
            <a:r>
              <a:rPr sz="3850" spc="-16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Survey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887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82919"/>
            <a:ext cx="369400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0227" y="1804416"/>
          <a:ext cx="9764393" cy="4695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DRAWBACKS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428625" marR="31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75565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Comprehensive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Rohit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Sharma,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Optical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satellite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imagery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CART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8">
                  <a:txBody>
                    <a:bodyPr/>
                    <a:lstStyle/>
                    <a:p>
                      <a:pPr marL="77470" algn="just">
                        <a:lnSpc>
                          <a:spcPct val="101600"/>
                        </a:lnSpc>
                        <a:spcBef>
                          <a:spcPts val="100"/>
                        </a:spcBef>
                      </a:pPr>
                      <a:r>
                        <a:rPr sz="1550" u="sng" spc="7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https://link.spri</a:t>
                      </a:r>
                      <a:r>
                        <a:rPr sz="1550" spc="7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8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nger.com/articl</a:t>
                      </a:r>
                      <a:r>
                        <a:rPr sz="1550" spc="8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8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e/10.1007/s125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77470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24-</a:t>
                      </a:r>
                      <a:r>
                        <a:rPr sz="1550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024-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01997-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77470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50" u="sng" spc="-5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w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Deshmukh,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LISS IV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sensor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highest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Towards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Anil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Patil,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analyzed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75.2%,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Enhancing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Object-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Image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followed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Sigmoid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(OBIA).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Four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(73.7%)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some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Perceptron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(53.6%).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Through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classifiers—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Perceptron,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classifiers,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Sigmoid,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MP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Neuron,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small-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estimated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CART—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were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area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analysis.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OBIA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84.97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km².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OBIA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Object-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Based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OBIA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careful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combined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classify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LULC.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parameter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tuning,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 leveraged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vary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LULC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regions,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understanding,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semantic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reducing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offering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better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generalizability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semantic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extensive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discrimination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than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pixel-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9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iterative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calibration.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approaches.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18110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latin typeface="Times New Roman"/>
                <a:cs typeface="Times New Roman"/>
              </a:rPr>
              <a:t>Literature</a:t>
            </a:r>
            <a:r>
              <a:rPr sz="3850" spc="-16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Survey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887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82917"/>
            <a:ext cx="3770201" cy="2050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0227" y="1804416"/>
          <a:ext cx="9754868" cy="44989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DRAWBACKS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75565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Advancements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Samuel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Taye,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achieved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8">
                  <a:txBody>
                    <a:bodyPr/>
                    <a:lstStyle/>
                    <a:p>
                      <a:pPr marL="77470" marR="125095">
                        <a:lnSpc>
                          <a:spcPct val="101800"/>
                        </a:lnSpc>
                        <a:spcBef>
                          <a:spcPts val="95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https://www.fro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ntiersin.org/jour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nals/environme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ntal-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science/articles/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10.3389/fenvs.2</a:t>
                      </a:r>
                      <a:r>
                        <a:rPr sz="1550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025.1584485/fu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50" u="sng" spc="-2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ll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Mekdes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Abebe,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models,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including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limit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Daniel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Bekele,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XGBoost,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Random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95.17%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58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Forest,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SVM,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ANN,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extremely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large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IoU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90.18%.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datasets.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methodology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big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may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effectively extracted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areas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vary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building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classification.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quality,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sensor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big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enhanced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resolution,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urban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gully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feature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complexity.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erosion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extraction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multiple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susceptibility,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scales,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integrating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reduces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enabling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precise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geospatial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transferability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across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regions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supporting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urban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predict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recalibration.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planning,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erosion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facilitating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susceptibility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 with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sustainable.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precision.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18110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latin typeface="Times New Roman"/>
                <a:cs typeface="Times New Roman"/>
              </a:rPr>
              <a:t>Literature</a:t>
            </a:r>
            <a:r>
              <a:rPr sz="3850" spc="-16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Survey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887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82919"/>
            <a:ext cx="383992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0227" y="1804416"/>
          <a:ext cx="9764393" cy="450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DRAWBACKS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428625" marR="317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75565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Ramesh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Kumar,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LISS-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III</a:t>
                      </a:r>
                      <a:r>
                        <a:rPr sz="14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satellite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require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7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Overall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 rowSpan="16">
                  <a:txBody>
                    <a:bodyPr/>
                    <a:lstStyle/>
                    <a:p>
                      <a:pPr marL="77470" algn="just">
                        <a:lnSpc>
                          <a:spcPct val="101800"/>
                        </a:lnSpc>
                        <a:spcBef>
                          <a:spcPts val="95"/>
                        </a:spcBef>
                      </a:pPr>
                      <a:r>
                        <a:rPr sz="1550" u="sng" spc="6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https://www.sci</a:t>
                      </a:r>
                      <a:r>
                        <a:rPr sz="1550" spc="6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6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encedirect.com/</a:t>
                      </a:r>
                      <a:r>
                        <a:rPr sz="1550" spc="6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3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science/article/p</a:t>
                      </a:r>
                      <a:r>
                        <a:rPr sz="1550" spc="3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6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ii/S2590197425</a:t>
                      </a:r>
                      <a:r>
                        <a:rPr sz="1550" spc="6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000096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75565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Priyanka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Sharma,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imagery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2010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9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9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V.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Raju,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2020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processed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substantial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reached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CNN-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deep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94.08%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(2010)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studies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resources. Accuracy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95.30%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(2020).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LULC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affected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GIS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seasonal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variations,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built-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up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limitations,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areas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increased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analysis.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mixed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0.83%,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agricultural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replaced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manual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pixels.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0.23%,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interpretation,</a:t>
                      </a:r>
                      <a:r>
                        <a:rPr sz="14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extracting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generalize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water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bodies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temporal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regions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0.35%,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forest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retraining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decreased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efficiently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tuning,</a:t>
                      </a:r>
                      <a:r>
                        <a:rPr sz="14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0.15%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other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decade.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applicability.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1.22%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ten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years.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7752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18110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8596"/>
            <a:ext cx="10675620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77525" cy="6203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4225"/>
              </a:lnSpc>
            </a:pPr>
            <a:r>
              <a:rPr sz="3850" spc="-10" dirty="0">
                <a:latin typeface="Times New Roman"/>
                <a:cs typeface="Times New Roman"/>
              </a:rPr>
              <a:t>Literature</a:t>
            </a:r>
            <a:r>
              <a:rPr sz="3850" spc="-160" dirty="0">
                <a:latin typeface="Times New Roman"/>
                <a:cs typeface="Times New Roman"/>
              </a:rPr>
              <a:t> </a:t>
            </a:r>
            <a:r>
              <a:rPr sz="3850" spc="-10" dirty="0">
                <a:latin typeface="Times New Roman"/>
                <a:cs typeface="Times New Roman"/>
              </a:rPr>
              <a:t>Survey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62863"/>
            <a:ext cx="38887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6940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00227" y="1804416"/>
          <a:ext cx="9764393" cy="4500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25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DRAWBACKS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L="3797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RESULTS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55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LINK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46B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Mohammad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Earth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Engine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approach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achieved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820"/>
                        </a:lnSpc>
                        <a:spcBef>
                          <a:spcPts val="45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https://link.spri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19">
                <a:tc>
                  <a:txBody>
                    <a:bodyPr/>
                    <a:lstStyle/>
                    <a:p>
                      <a:pPr marL="7556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Sensing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5565" marR="95885">
                        <a:lnSpc>
                          <a:spcPts val="16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Approach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Spatiotemporal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Rezaei,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Ali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Karimi,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3500" marR="166370">
                        <a:lnSpc>
                          <a:spcPts val="1680"/>
                        </a:lnSpc>
                        <a:spcBef>
                          <a:spcPts val="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Zahra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Hosseini,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et al.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(GEE)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 marR="367030">
                        <a:lnSpc>
                          <a:spcPts val="16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generate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LULC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maps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calculate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surface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extensive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8740" marR="398780">
                        <a:lnSpc>
                          <a:spcPts val="16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historical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satellite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computational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92.03%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accuracy,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 marR="51435">
                        <a:lnSpc>
                          <a:spcPts val="1680"/>
                        </a:lnSpc>
                        <a:spcBef>
                          <a:spcPts val="3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outperforming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SVM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(85.4%),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(86.3%),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77470">
                        <a:lnSpc>
                          <a:spcPts val="1614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1899"/>
                        </a:lnSpc>
                        <a:spcBef>
                          <a:spcPts val="10"/>
                        </a:spcBef>
                      </a:pPr>
                      <a:r>
                        <a:rPr sz="1550" u="sng" spc="8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nger.com/articl</a:t>
                      </a:r>
                      <a:r>
                        <a:rPr sz="1550" spc="8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u="sng" spc="85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e/10.1007/s417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77470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42-</a:t>
                      </a:r>
                      <a:r>
                        <a:rPr sz="1550" u="sng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025-</a:t>
                      </a:r>
                      <a:r>
                        <a:rPr sz="15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00752-</a:t>
                      </a:r>
                      <a:r>
                        <a:rPr sz="1550" u="sng" spc="-5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Surface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(LST)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1985–2020.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resources.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(69.8%).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Urban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Temperature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model,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be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areas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expanded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Response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incorporating</a:t>
                      </a:r>
                      <a:r>
                        <a:rPr sz="14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LULC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affected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cloud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24.61%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53.4%,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Use/Land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indices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NDVI,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cover,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gaps,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cover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090">
                <a:tc>
                  <a:txBody>
                    <a:bodyPr/>
                    <a:lstStyle/>
                    <a:p>
                      <a:pPr marL="75565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Cover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NDBI,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NDWI,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was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seasonal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variability.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7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decreased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Base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predict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need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48.78%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9.29%,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804">
                <a:tc>
                  <a:txBody>
                    <a:bodyPr/>
                    <a:lstStyle/>
                    <a:p>
                      <a:pPr marL="75565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changes.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careful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1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leading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°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C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75565">
                        <a:lnSpc>
                          <a:spcPts val="155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benchmarked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generalize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5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LST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75565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Methods,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Case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SVM,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Random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4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cities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increase,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75565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Study: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Sari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Forest,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linear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585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retraining,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limiting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58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highlighting</a:t>
                      </a:r>
                      <a:r>
                        <a:rPr sz="14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urban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75565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Metropolis,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Iran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models.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6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applicability.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6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heat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island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effects.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61595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234"/>
              </a:spcBef>
            </a:pPr>
            <a:r>
              <a:rPr dirty="0"/>
              <a:t>Existing</a:t>
            </a:r>
            <a:r>
              <a:rPr spc="-165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7363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7363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9921875" cy="35528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2420" marR="38735" indent="-300355" algn="just"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existing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primarily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relies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remote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sensing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imagery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individual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sensors,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such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optical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Synthetic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Aperture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Radar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(SAR)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data.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Optical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imagery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provides </a:t>
            </a:r>
            <a:r>
              <a:rPr sz="1750" dirty="0">
                <a:latin typeface="Times New Roman"/>
                <a:cs typeface="Times New Roman"/>
              </a:rPr>
              <a:t>rich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spectral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information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useful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identifying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vegetation,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water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bodies,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urban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structures,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whereas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SAR </a:t>
            </a:r>
            <a:r>
              <a:rPr sz="1750" dirty="0">
                <a:latin typeface="Times New Roman"/>
                <a:cs typeface="Times New Roman"/>
              </a:rPr>
              <a:t>imagery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offers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structural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textural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details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resilient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weather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conditions.</a:t>
            </a:r>
            <a:endParaRPr lang="en-US" sz="1750" dirty="0">
              <a:latin typeface="Times New Roman"/>
              <a:cs typeface="Times New Roman"/>
            </a:endParaRPr>
          </a:p>
          <a:p>
            <a:pPr marL="312420" marR="38735" indent="-300355" algn="just"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spc="-10" dirty="0">
                <a:latin typeface="Times New Roman"/>
                <a:cs typeface="Times New Roman"/>
              </a:rPr>
              <a:t>Traditional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approaches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often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process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these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modalities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separately,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limiting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ability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capture complementary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information.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Deep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such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VGGNet,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GoogleNet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have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been </a:t>
            </a:r>
            <a:r>
              <a:rPr sz="1750" dirty="0">
                <a:latin typeface="Times New Roman"/>
                <a:cs typeface="Times New Roman"/>
              </a:rPr>
              <a:t>applied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extract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hierarchical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features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each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sensor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type,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enabling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automated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classification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land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categories.</a:t>
            </a:r>
            <a:endParaRPr lang="en-US" sz="1750" dirty="0">
              <a:latin typeface="Times New Roman"/>
              <a:cs typeface="Times New Roman"/>
            </a:endParaRPr>
          </a:p>
          <a:p>
            <a:pPr marL="312420" marR="38735" indent="-300355" algn="just"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dirty="0">
                <a:latin typeface="Times New Roman"/>
                <a:cs typeface="Times New Roman"/>
              </a:rPr>
              <a:t>These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process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input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images to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both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low-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high-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patterns,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focusing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on </a:t>
            </a:r>
            <a:r>
              <a:rPr sz="1750" dirty="0">
                <a:latin typeface="Times New Roman"/>
                <a:cs typeface="Times New Roman"/>
              </a:rPr>
              <a:t>residual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VGGNet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deep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stacked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convolutional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layers,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GoogleNet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employing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inception </a:t>
            </a:r>
            <a:r>
              <a:rPr sz="1750" dirty="0">
                <a:latin typeface="Times New Roman"/>
                <a:cs typeface="Times New Roman"/>
              </a:rPr>
              <a:t>modules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multi-</a:t>
            </a:r>
            <a:r>
              <a:rPr sz="1750" dirty="0">
                <a:latin typeface="Times New Roman"/>
                <a:cs typeface="Times New Roman"/>
              </a:rPr>
              <a:t>scale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feature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extraction.</a:t>
            </a:r>
            <a:endParaRPr lang="en-US" sz="1750" dirty="0">
              <a:latin typeface="Times New Roman"/>
              <a:cs typeface="Times New Roman"/>
            </a:endParaRPr>
          </a:p>
          <a:p>
            <a:pPr marL="312420" marR="38735" indent="-300355" algn="just"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dirty="0">
                <a:latin typeface="Times New Roman"/>
                <a:cs typeface="Times New Roman"/>
              </a:rPr>
              <a:t>While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effective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single-</a:t>
            </a:r>
            <a:r>
              <a:rPr sz="1750" dirty="0">
                <a:latin typeface="Times New Roman"/>
                <a:cs typeface="Times New Roman"/>
              </a:rPr>
              <a:t>sensor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these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face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challenges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integrating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multimodal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imagery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for </a:t>
            </a:r>
            <a:r>
              <a:rPr sz="1750" dirty="0">
                <a:latin typeface="Times New Roman"/>
                <a:cs typeface="Times New Roman"/>
              </a:rPr>
              <a:t>more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robust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comprehensive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classification.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20447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scene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61595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287655">
              <a:lnSpc>
                <a:spcPct val="100000"/>
              </a:lnSpc>
              <a:spcBef>
                <a:spcPts val="234"/>
              </a:spcBef>
            </a:pPr>
            <a:r>
              <a:rPr dirty="0"/>
              <a:t>Proposed</a:t>
            </a:r>
            <a:r>
              <a:rPr spc="-18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125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95347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9857105" cy="35528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2420" marR="102870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  <a:tabLst>
                <a:tab pos="312420" algn="l"/>
              </a:tabLst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aims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develop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automated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framework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deep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high-</a:t>
            </a:r>
            <a:r>
              <a:rPr sz="1750" dirty="0">
                <a:latin typeface="Times New Roman"/>
                <a:cs typeface="Times New Roman"/>
              </a:rPr>
              <a:t>resolution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images.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It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focuses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on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leveraging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advanced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convolutional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neural </a:t>
            </a:r>
            <a:r>
              <a:rPr sz="1750" dirty="0">
                <a:latin typeface="Times New Roman"/>
                <a:cs typeface="Times New Roman"/>
              </a:rPr>
              <a:t>networks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extract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hierarchical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spatial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features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input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images,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enabling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accurate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identification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of </a:t>
            </a:r>
            <a:r>
              <a:rPr sz="1750" dirty="0">
                <a:latin typeface="Times New Roman"/>
                <a:cs typeface="Times New Roman"/>
              </a:rPr>
              <a:t>diverse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categories.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102870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  <a:tabLst>
                <a:tab pos="312420" algn="l"/>
              </a:tabLst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framework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incorporates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multiple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proposed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deep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including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ResNet50,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ResNet18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to </a:t>
            </a:r>
            <a:r>
              <a:rPr sz="1750" dirty="0">
                <a:latin typeface="Times New Roman"/>
                <a:cs typeface="Times New Roman"/>
              </a:rPr>
              <a:t>evaluate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their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effectiveness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capturing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both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low-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high-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spatial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patterns.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102870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  <a:tabLst>
                <a:tab pos="312420" algn="l"/>
              </a:tabLst>
            </a:pPr>
            <a:r>
              <a:rPr sz="1750" dirty="0">
                <a:latin typeface="Times New Roman"/>
                <a:cs typeface="Times New Roman"/>
              </a:rPr>
              <a:t>Input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undergo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preprocessing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steps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such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rescaling,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geometric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transformations,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horizontal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flipping,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reshaping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ensure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consistency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improve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feature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learning.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Early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stopping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mechanisms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applied </a:t>
            </a:r>
            <a:r>
              <a:rPr sz="1750" dirty="0">
                <a:latin typeface="Times New Roman"/>
                <a:cs typeface="Times New Roman"/>
              </a:rPr>
              <a:t>during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training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prevent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underfitting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or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overfitting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optimize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generalization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performance.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102870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  <a:tabLst>
                <a:tab pos="312420" algn="l"/>
              </a:tabLst>
            </a:pP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system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designed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provide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robust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scalable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solution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capable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handling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complex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satellite </a:t>
            </a:r>
            <a:r>
              <a:rPr sz="1750" dirty="0">
                <a:latin typeface="Times New Roman"/>
                <a:cs typeface="Times New Roman"/>
              </a:rPr>
              <a:t>imagery,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supporting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efficient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serving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as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reliable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tool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environmental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monitoring, </a:t>
            </a:r>
            <a:r>
              <a:rPr sz="1750" dirty="0">
                <a:latin typeface="Times New Roman"/>
                <a:cs typeface="Times New Roman"/>
              </a:rPr>
              <a:t>urban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planning,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management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analysis.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61595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34"/>
              </a:spcBef>
            </a:pPr>
            <a:r>
              <a:rPr dirty="0"/>
              <a:t>Advantages</a:t>
            </a:r>
            <a:r>
              <a:rPr spc="-13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dirty="0"/>
              <a:t>Proposed</a:t>
            </a:r>
            <a:r>
              <a:rPr spc="-12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887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82919"/>
            <a:ext cx="3694001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9814560" cy="30912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2420" marR="549275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7419975" algn="l"/>
              </a:tabLst>
            </a:pPr>
            <a:r>
              <a:rPr sz="1750" dirty="0">
                <a:latin typeface="Times New Roman"/>
                <a:cs typeface="Times New Roman"/>
              </a:rPr>
              <a:t>Incorporates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multiple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advanced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deep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including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ResNet50,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ResNet18,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ResNet152, </a:t>
            </a:r>
            <a:r>
              <a:rPr sz="1750" dirty="0">
                <a:latin typeface="Times New Roman"/>
                <a:cs typeface="Times New Roman"/>
              </a:rPr>
              <a:t>enabling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extraction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hierarchical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30" dirty="0">
                <a:latin typeface="Times New Roman"/>
                <a:cs typeface="Times New Roman"/>
              </a:rPr>
              <a:t>low-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high-</a:t>
            </a:r>
            <a:r>
              <a:rPr sz="1750" dirty="0">
                <a:latin typeface="Times New Roman"/>
                <a:cs typeface="Times New Roman"/>
              </a:rPr>
              <a:t>level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spatial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features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for</a:t>
            </a:r>
            <a:r>
              <a:rPr sz="1750" dirty="0">
                <a:latin typeface="Times New Roman"/>
                <a:cs typeface="Times New Roman"/>
              </a:rPr>
              <a:t>	improved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cover classification.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549275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7419975" algn="l"/>
              </a:tabLst>
            </a:pPr>
            <a:r>
              <a:rPr sz="1750" dirty="0">
                <a:latin typeface="Georgia"/>
                <a:cs typeface="Georgia"/>
              </a:rPr>
              <a:t>E</a:t>
            </a:r>
            <a:r>
              <a:rPr sz="1750" dirty="0">
                <a:latin typeface="Times New Roman"/>
                <a:cs typeface="Times New Roman"/>
              </a:rPr>
              <a:t>mploys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comprehensive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preprocessing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including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rescaling,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geometric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transformations,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horizontal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flipping,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reshaping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ensure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uniform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input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quality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enhance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efficiency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generalization performance.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549275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7419975" algn="l"/>
              </a:tabLst>
            </a:pPr>
            <a:r>
              <a:rPr sz="1750" dirty="0">
                <a:latin typeface="Times New Roman"/>
                <a:cs typeface="Times New Roman"/>
              </a:rPr>
              <a:t>Integrates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early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stopping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during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training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prevent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underfitting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overfitting,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maintaining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stable </a:t>
            </a:r>
            <a:r>
              <a:rPr sz="1750" dirty="0">
                <a:latin typeface="Times New Roman"/>
                <a:cs typeface="Times New Roman"/>
              </a:rPr>
              <a:t>convergence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reliable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performance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across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diverse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high-</a:t>
            </a:r>
            <a:r>
              <a:rPr sz="1750" dirty="0">
                <a:latin typeface="Times New Roman"/>
                <a:cs typeface="Times New Roman"/>
              </a:rPr>
              <a:t>resolution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images.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549275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§"/>
              <a:tabLst>
                <a:tab pos="7419975" algn="l"/>
              </a:tabLst>
            </a:pPr>
            <a:r>
              <a:rPr sz="1750" dirty="0">
                <a:latin typeface="Times New Roman"/>
                <a:cs typeface="Times New Roman"/>
              </a:rPr>
              <a:t>Provides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scalable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robust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framework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capable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handling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complex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imagery,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supporting efficient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classification,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accurate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identification,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10" dirty="0">
                <a:latin typeface="Times New Roman"/>
                <a:cs typeface="Times New Roman"/>
              </a:rPr>
              <a:t> facilitating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environmental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monitoring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and </a:t>
            </a:r>
            <a:r>
              <a:rPr sz="1750" dirty="0">
                <a:latin typeface="Times New Roman"/>
                <a:cs typeface="Times New Roman"/>
              </a:rPr>
              <a:t>urban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planning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applications.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34"/>
              </a:spcBef>
            </a:pPr>
            <a:r>
              <a:rPr b="1" spc="-10" dirty="0">
                <a:latin typeface="Arial"/>
                <a:cs typeface="Arial"/>
              </a:rPr>
              <a:t>Planning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7363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4441"/>
            <a:ext cx="36178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6077585" cy="3923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b="1" dirty="0">
                <a:latin typeface="Times New Roman"/>
                <a:cs typeface="Times New Roman"/>
              </a:rPr>
              <a:t>Requirement</a:t>
            </a:r>
            <a:r>
              <a:rPr sz="1750" b="1" spc="-3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Analysis:</a:t>
            </a:r>
            <a:endParaRPr sz="1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750" dirty="0">
                <a:latin typeface="Times New Roman"/>
                <a:cs typeface="Times New Roman"/>
              </a:rPr>
              <a:t>Identify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need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automated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analysis.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750" dirty="0">
                <a:latin typeface="Times New Roman"/>
                <a:cs typeface="Times New Roman"/>
              </a:rPr>
              <a:t>Detect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/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categories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from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images</a:t>
            </a:r>
            <a:r>
              <a:rPr sz="1750" b="1" spc="-10" dirty="0">
                <a:latin typeface="Times New Roman"/>
                <a:cs typeface="Times New Roman"/>
              </a:rPr>
              <a:t>.</a:t>
            </a:r>
            <a:endParaRPr lang="en-US" sz="1750" b="1" spc="-1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750" dirty="0">
                <a:latin typeface="Times New Roman"/>
                <a:cs typeface="Times New Roman"/>
              </a:rPr>
              <a:t>Provide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object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detection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AI-</a:t>
            </a:r>
            <a:r>
              <a:rPr sz="1750" dirty="0">
                <a:latin typeface="Times New Roman"/>
                <a:cs typeface="Times New Roman"/>
              </a:rPr>
              <a:t>based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insights.</a:t>
            </a:r>
            <a:endParaRPr sz="1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v"/>
            </a:pPr>
            <a:r>
              <a:rPr sz="1750" b="1" dirty="0">
                <a:latin typeface="Times New Roman"/>
                <a:cs typeface="Times New Roman"/>
              </a:rPr>
              <a:t>Dataset</a:t>
            </a:r>
            <a:r>
              <a:rPr sz="1750" b="1" spc="-2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&amp;</a:t>
            </a:r>
            <a:r>
              <a:rPr sz="1750" b="1" spc="-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Model</a:t>
            </a:r>
            <a:r>
              <a:rPr sz="1750" b="1" spc="-2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12700" marR="2964180">
              <a:lnSpc>
                <a:spcPct val="104600"/>
              </a:lnSpc>
            </a:pP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EuroSAT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Dataset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training. </a:t>
            </a:r>
            <a:r>
              <a:rPr sz="1750" dirty="0">
                <a:latin typeface="Times New Roman"/>
                <a:cs typeface="Times New Roman"/>
              </a:rPr>
              <a:t>Plan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deep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models: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ResNet18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classification.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YOLOv8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detecting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objects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satellite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images.</a:t>
            </a:r>
            <a:endParaRPr sz="1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v"/>
            </a:pPr>
            <a:r>
              <a:rPr sz="1750" b="1" dirty="0">
                <a:latin typeface="Times New Roman"/>
                <a:cs typeface="Times New Roman"/>
              </a:rPr>
              <a:t>System</a:t>
            </a:r>
            <a:r>
              <a:rPr sz="1750" b="1" spc="-3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Architecture</a:t>
            </a:r>
            <a:r>
              <a:rPr sz="1750" b="1" spc="-4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20" dirty="0">
                <a:latin typeface="Times New Roman"/>
                <a:cs typeface="Times New Roman"/>
              </a:rPr>
              <a:t>Three-</a:t>
            </a:r>
            <a:r>
              <a:rPr sz="1750" dirty="0">
                <a:latin typeface="Times New Roman"/>
                <a:cs typeface="Times New Roman"/>
              </a:rPr>
              <a:t>tier system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design: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b="1" dirty="0">
                <a:latin typeface="Times New Roman"/>
                <a:cs typeface="Times New Roman"/>
              </a:rPr>
              <a:t>Frontend</a:t>
            </a:r>
            <a:r>
              <a:rPr sz="1750" b="1" spc="-3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Layer</a:t>
            </a:r>
            <a:r>
              <a:rPr sz="1750" dirty="0">
                <a:latin typeface="Times New Roman"/>
                <a:cs typeface="Times New Roman"/>
              </a:rPr>
              <a:t>: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React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web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interface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users.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b="1" dirty="0">
                <a:latin typeface="Times New Roman"/>
                <a:cs typeface="Times New Roman"/>
              </a:rPr>
              <a:t>Backend</a:t>
            </a:r>
            <a:r>
              <a:rPr sz="1750" b="1" spc="-2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Layer</a:t>
            </a:r>
            <a:r>
              <a:rPr sz="1750" dirty="0">
                <a:latin typeface="Times New Roman"/>
                <a:cs typeface="Times New Roman"/>
              </a:rPr>
              <a:t>: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Node.js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+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Express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API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processing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requests.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b="1" dirty="0">
                <a:latin typeface="Times New Roman"/>
                <a:cs typeface="Times New Roman"/>
              </a:rPr>
              <a:t>AI</a:t>
            </a:r>
            <a:r>
              <a:rPr sz="1750" b="1" spc="-2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Layer</a:t>
            </a:r>
            <a:r>
              <a:rPr sz="1750" dirty="0">
                <a:latin typeface="Times New Roman"/>
                <a:cs typeface="Times New Roman"/>
              </a:rPr>
              <a:t>: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Python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FastAPI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service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running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ML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models.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34"/>
              </a:spcBef>
            </a:pPr>
            <a:r>
              <a:rPr b="1" spc="-10" dirty="0">
                <a:latin typeface="Arial"/>
                <a:cs typeface="Arial"/>
              </a:rPr>
              <a:t>Planning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7363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8464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3388360" cy="42453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b="1" dirty="0">
                <a:latin typeface="Times New Roman"/>
                <a:cs typeface="Times New Roman"/>
              </a:rPr>
              <a:t>Feature</a:t>
            </a:r>
            <a:r>
              <a:rPr sz="1750" b="1" spc="-25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Image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upload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(single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batch)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classification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Object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detection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AI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chatbot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explanation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Results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visualization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Export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reports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(JSON,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CSV,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PDF)</a:t>
            </a:r>
            <a:endParaRPr sz="1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Arial MT"/>
              <a:buChar char="•"/>
            </a:pPr>
            <a:endParaRPr sz="1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Wingdings" panose="05000000000000000000" pitchFamily="2" charset="2"/>
              <a:buChar char="v"/>
            </a:pPr>
            <a:r>
              <a:rPr sz="1750" b="1" dirty="0">
                <a:latin typeface="Times New Roman"/>
                <a:cs typeface="Times New Roman"/>
              </a:rPr>
              <a:t>User</a:t>
            </a:r>
            <a:r>
              <a:rPr sz="1750" b="1" spc="-2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Interface</a:t>
            </a:r>
            <a:r>
              <a:rPr sz="1750" b="1" spc="-2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Home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page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Image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upload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analysis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Results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dashboard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Analysis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history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AI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chatbot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Admin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dashboard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34"/>
              </a:spcBef>
            </a:pPr>
            <a:r>
              <a:rPr b="1" spc="-10" dirty="0">
                <a:latin typeface="Arial"/>
                <a:cs typeface="Arial"/>
              </a:rPr>
              <a:t>Planning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62863"/>
            <a:ext cx="353250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6940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4089400" cy="2834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v"/>
            </a:pPr>
            <a:r>
              <a:rPr sz="1750" spc="340" dirty="0">
                <a:latin typeface="Georgia"/>
                <a:cs typeface="Georgia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Technology</a:t>
            </a:r>
            <a:r>
              <a:rPr sz="1750" b="1" spc="-2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Stack</a:t>
            </a:r>
            <a:r>
              <a:rPr sz="1750" b="1" spc="-15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Frontend: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React,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Vite,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Recharts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Backend: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Node.js,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Express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AI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Models: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PyTorch,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ResNet18,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YOLOv8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APIs: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OpenAI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API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chatbot</a:t>
            </a:r>
            <a:endParaRPr sz="17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  <a:buFont typeface="Arial MT"/>
              <a:buChar char="•"/>
            </a:pPr>
            <a:endParaRPr sz="175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sz="1750" spc="220" dirty="0">
                <a:latin typeface="Georgia"/>
                <a:cs typeface="Georgia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Deployment</a:t>
            </a:r>
            <a:r>
              <a:rPr sz="1750" b="1" spc="-30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Planning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AI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Service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→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Port</a:t>
            </a:r>
            <a:r>
              <a:rPr sz="1750" spc="-20" dirty="0">
                <a:latin typeface="Times New Roman"/>
                <a:cs typeface="Times New Roman"/>
              </a:rPr>
              <a:t> 8000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Backend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API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→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Port</a:t>
            </a:r>
            <a:r>
              <a:rPr sz="1750" spc="-20" dirty="0">
                <a:latin typeface="Times New Roman"/>
                <a:cs typeface="Times New Roman"/>
              </a:rPr>
              <a:t> 5000</a:t>
            </a:r>
            <a:endParaRPr sz="17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sz="1750" dirty="0">
                <a:latin typeface="Times New Roman"/>
                <a:cs typeface="Times New Roman"/>
              </a:rPr>
              <a:t>Frontend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App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→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Port</a:t>
            </a:r>
            <a:r>
              <a:rPr sz="1750" spc="-20" dirty="0">
                <a:latin typeface="Times New Roman"/>
                <a:cs typeface="Times New Roman"/>
              </a:rPr>
              <a:t> 5173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669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9"/>
              </a:spcBef>
            </a:pPr>
            <a:r>
              <a:rPr b="1" dirty="0">
                <a:latin typeface="Times New Roman"/>
                <a:cs typeface="Times New Roman"/>
              </a:rPr>
              <a:t>Design</a:t>
            </a:r>
            <a:r>
              <a:rPr b="1" spc="-1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–</a:t>
            </a:r>
            <a:r>
              <a:rPr b="1" spc="-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Use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Case</a:t>
            </a:r>
            <a:r>
              <a:rPr b="1" spc="-10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Diagram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4866" y="1822182"/>
            <a:ext cx="5969432" cy="363481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62728" y="5763365"/>
            <a:ext cx="484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fig-</a:t>
            </a:r>
            <a:r>
              <a:rPr sz="1800" dirty="0">
                <a:latin typeface="Arial MT"/>
                <a:cs typeface="Arial MT"/>
              </a:rPr>
              <a:t>1: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 case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diagram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Admin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6601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24699" y="6562863"/>
            <a:ext cx="366017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669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9"/>
              </a:spcBef>
            </a:pPr>
            <a:r>
              <a:rPr b="1" dirty="0">
                <a:latin typeface="Times New Roman"/>
                <a:cs typeface="Times New Roman"/>
              </a:rPr>
              <a:t>Design</a:t>
            </a:r>
            <a:r>
              <a:rPr b="1" spc="-11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–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Class</a:t>
            </a:r>
            <a:r>
              <a:rPr b="1" spc="-12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Diagram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612391" y="1783079"/>
            <a:ext cx="7534909" cy="3822700"/>
            <a:chOff x="1612391" y="1783079"/>
            <a:chExt cx="7534909" cy="38227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4866" y="1822182"/>
              <a:ext cx="5969432" cy="36348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12391" y="1783079"/>
              <a:ext cx="7534655" cy="38221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05288" y="5763365"/>
            <a:ext cx="2055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fig-</a:t>
            </a:r>
            <a:r>
              <a:rPr sz="1800" dirty="0">
                <a:latin typeface="Arial MT"/>
                <a:cs typeface="Arial MT"/>
              </a:rPr>
              <a:t>2: Class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7363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24699" y="6562863"/>
            <a:ext cx="373637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669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9"/>
              </a:spcBef>
            </a:pPr>
            <a:r>
              <a:rPr b="1" dirty="0">
                <a:latin typeface="Times New Roman"/>
                <a:cs typeface="Times New Roman"/>
              </a:rPr>
              <a:t>Design</a:t>
            </a:r>
            <a:r>
              <a:rPr b="1" spc="-114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–</a:t>
            </a:r>
            <a:r>
              <a:rPr b="1" spc="-9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Sequence</a:t>
            </a:r>
            <a:r>
              <a:rPr b="1" spc="-10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Diagram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039111" y="1822182"/>
            <a:ext cx="7158355" cy="3743960"/>
            <a:chOff x="2039111" y="1822182"/>
            <a:chExt cx="7158355" cy="374396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4866" y="1822182"/>
              <a:ext cx="5969432" cy="36348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9111" y="1876044"/>
              <a:ext cx="7158227" cy="36896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05288" y="5763365"/>
            <a:ext cx="2512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fig-</a:t>
            </a:r>
            <a:r>
              <a:rPr sz="1800" dirty="0">
                <a:latin typeface="Arial MT"/>
                <a:cs typeface="Arial MT"/>
              </a:rPr>
              <a:t>3: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Sequence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5839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24698" y="6582919"/>
            <a:ext cx="3694001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441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4"/>
              </a:spcBef>
            </a:pPr>
            <a:r>
              <a:rPr sz="3200" b="1" dirty="0">
                <a:latin typeface="Times New Roman"/>
                <a:cs typeface="Times New Roman"/>
              </a:rPr>
              <a:t>Design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–</a:t>
            </a:r>
            <a:r>
              <a:rPr sz="3200" b="1" spc="-1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Component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Diagram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22248" y="1795272"/>
            <a:ext cx="8240395" cy="3811904"/>
            <a:chOff x="1222248" y="1795272"/>
            <a:chExt cx="8240395" cy="381190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4866" y="1822182"/>
              <a:ext cx="5969432" cy="36348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2248" y="1795272"/>
              <a:ext cx="8240267" cy="38115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077321" y="5763365"/>
            <a:ext cx="2704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fig-</a:t>
            </a:r>
            <a:r>
              <a:rPr sz="1800" dirty="0">
                <a:latin typeface="Arial MT"/>
                <a:cs typeface="Arial MT"/>
              </a:rPr>
              <a:t>4: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Component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8887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24698" y="6582919"/>
            <a:ext cx="3694001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4419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4"/>
              </a:spcBef>
            </a:pPr>
            <a:r>
              <a:rPr sz="3200" b="1" dirty="0">
                <a:latin typeface="Times New Roman"/>
                <a:cs typeface="Times New Roman"/>
              </a:rPr>
              <a:t>Design</a:t>
            </a:r>
            <a:r>
              <a:rPr sz="3200" b="1" spc="-12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–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Development</a:t>
            </a:r>
            <a:r>
              <a:rPr sz="3200" b="1" spc="-10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Diagram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524" y="1822182"/>
            <a:ext cx="10053955" cy="3635375"/>
            <a:chOff x="382524" y="1822182"/>
            <a:chExt cx="10053955" cy="363537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4866" y="1822182"/>
              <a:ext cx="5969432" cy="36348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524" y="1833371"/>
              <a:ext cx="10053828" cy="35966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05288" y="5763365"/>
            <a:ext cx="2830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fig-</a:t>
            </a:r>
            <a:r>
              <a:rPr sz="1800" dirty="0">
                <a:latin typeface="Arial MT"/>
                <a:cs typeface="Arial MT"/>
              </a:rPr>
              <a:t>5: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Development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6601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24698" y="6562863"/>
            <a:ext cx="36601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5A9A-5F6F-CA56-9914-35BA0734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EC194E-9D7E-03C6-BE9F-373B5C9EA4A5}"/>
              </a:ext>
            </a:extLst>
          </p:cNvPr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7C33CC2-8C51-214F-14E7-5713C7A04C9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FECBFF2-B9B4-B344-0679-EB52ED6E0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18731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6034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204"/>
              </a:spcBef>
            </a:pPr>
            <a:r>
              <a:rPr lang="en-GB" sz="3200" b="1" dirty="0">
                <a:latin typeface="Times New Roman"/>
                <a:cs typeface="Times New Roman"/>
              </a:rPr>
              <a:t>Implementation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263AF18-D47E-4715-8DC6-FA656410A12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EFF2201-3EC0-15F8-39B4-65C5130B78F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5839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301A9B7-C7CA-69FC-8B62-B22F4E3E65AF}"/>
              </a:ext>
            </a:extLst>
          </p:cNvPr>
          <p:cNvSpPr txBox="1"/>
          <p:nvPr/>
        </p:nvSpPr>
        <p:spPr>
          <a:xfrm>
            <a:off x="6224698" y="6582919"/>
            <a:ext cx="3694001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43E54F7-3BD9-DFB0-897E-6C70590EB0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FFEBFC-E861-9343-96AB-BB153466A4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" y="1658111"/>
            <a:ext cx="5158740" cy="23517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366FBC-E8A7-403F-FFDA-DB573204B6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72" y="1572176"/>
            <a:ext cx="5158740" cy="24377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2F6797-0008-7195-5FF1-57E53A067E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1" y="4088246"/>
            <a:ext cx="5158740" cy="23978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703ECEA-5BC7-D94B-4CC4-64F5C2786D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210" y="4046075"/>
            <a:ext cx="5158740" cy="23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271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536575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234"/>
              </a:spcBef>
            </a:pPr>
            <a:r>
              <a:rPr spc="-10" dirty="0"/>
              <a:t>Research</a:t>
            </a:r>
            <a:r>
              <a:rPr spc="-155" dirty="0"/>
              <a:t> </a:t>
            </a:r>
            <a:r>
              <a:rPr spc="-20" dirty="0"/>
              <a:t>Paper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1076926" y="6582919"/>
            <a:ext cx="3736373" cy="205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224698" y="6562863"/>
            <a:ext cx="3617801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61595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234"/>
              </a:spcBef>
            </a:pPr>
            <a:r>
              <a:rPr spc="-10" dirty="0"/>
              <a:t>Reference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076926" y="6590489"/>
            <a:ext cx="3736374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24698" y="6562863"/>
            <a:ext cx="37363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21065" y="1693876"/>
            <a:ext cx="9754870" cy="41043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2420" marR="909319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750" dirty="0">
                <a:latin typeface="Times New Roman"/>
                <a:cs typeface="Times New Roman"/>
              </a:rPr>
              <a:t>[1]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Irfan,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A.,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Li,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Y.,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E,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X.,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Sun,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G.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(2025).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deep </a:t>
            </a:r>
            <a:r>
              <a:rPr sz="1750" spc="-25" dirty="0">
                <a:latin typeface="Times New Roman"/>
                <a:cs typeface="Times New Roman"/>
              </a:rPr>
              <a:t>learning-</a:t>
            </a:r>
            <a:r>
              <a:rPr sz="1750" dirty="0">
                <a:latin typeface="Times New Roman"/>
                <a:cs typeface="Times New Roman"/>
              </a:rPr>
              <a:t>based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fusion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SAR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optical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data.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Remote</a:t>
            </a:r>
            <a:r>
              <a:rPr sz="1750" i="1" spc="-1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Sensing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17</a:t>
            </a:r>
            <a:r>
              <a:rPr sz="1750" dirty="0">
                <a:latin typeface="Times New Roman"/>
                <a:cs typeface="Times New Roman"/>
              </a:rPr>
              <a:t>(7),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1298</a:t>
            </a:r>
            <a:endParaRPr lang="en-US" sz="1750" spc="-10" dirty="0">
              <a:latin typeface="Times New Roman"/>
              <a:cs typeface="Times New Roman"/>
            </a:endParaRPr>
          </a:p>
          <a:p>
            <a:pPr marL="312420" marR="909319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750" dirty="0">
                <a:latin typeface="Times New Roman"/>
                <a:cs typeface="Times New Roman"/>
              </a:rPr>
              <a:t>[2]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Behera,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D.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K.,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Pujar,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G.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Kumar,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R.,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Singh,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K.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(2025).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comprehensive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approach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towards </a:t>
            </a:r>
            <a:r>
              <a:rPr sz="1750" dirty="0">
                <a:latin typeface="Times New Roman"/>
                <a:cs typeface="Times New Roman"/>
              </a:rPr>
              <a:t>enhancing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through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machine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object-</a:t>
            </a:r>
            <a:r>
              <a:rPr sz="1750" dirty="0">
                <a:latin typeface="Times New Roman"/>
                <a:cs typeface="Times New Roman"/>
              </a:rPr>
              <a:t>based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image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analysis. </a:t>
            </a:r>
            <a:r>
              <a:rPr sz="1750" i="1" dirty="0">
                <a:latin typeface="Times New Roman"/>
                <a:cs typeface="Times New Roman"/>
              </a:rPr>
              <a:t>Journal</a:t>
            </a:r>
            <a:r>
              <a:rPr sz="1750" i="1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of</a:t>
            </a:r>
            <a:r>
              <a:rPr sz="1750" i="1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the</a:t>
            </a:r>
            <a:r>
              <a:rPr sz="1750" i="1" spc="-4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Indian</a:t>
            </a:r>
            <a:r>
              <a:rPr sz="1750" i="1" spc="-4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Society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of</a:t>
            </a:r>
            <a:r>
              <a:rPr sz="1750" i="1" spc="-3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Remote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Sensing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53</a:t>
            </a:r>
            <a:r>
              <a:rPr sz="1750" dirty="0">
                <a:latin typeface="Times New Roman"/>
                <a:cs typeface="Times New Roman"/>
              </a:rPr>
              <a:t>(3),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731-749.</a:t>
            </a:r>
            <a:endParaRPr lang="en-US" sz="1750" spc="-20" dirty="0">
              <a:latin typeface="Times New Roman"/>
              <a:cs typeface="Times New Roman"/>
            </a:endParaRPr>
          </a:p>
          <a:p>
            <a:pPr marL="312420" marR="909319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750" dirty="0">
                <a:latin typeface="Times New Roman"/>
                <a:cs typeface="Times New Roman"/>
              </a:rPr>
              <a:t>[3]</a:t>
            </a:r>
            <a:r>
              <a:rPr lang="en-US" sz="1750" spc="-15" dirty="0">
                <a:latin typeface="Times New Roman"/>
                <a:cs typeface="Times New Roman"/>
              </a:rPr>
              <a:t> </a:t>
            </a:r>
            <a:r>
              <a:rPr sz="1750" spc="-30" dirty="0">
                <a:latin typeface="Times New Roman"/>
                <a:cs typeface="Times New Roman"/>
              </a:rPr>
              <a:t>Al-</a:t>
            </a:r>
            <a:r>
              <a:rPr sz="1750" dirty="0">
                <a:latin typeface="Times New Roman"/>
                <a:cs typeface="Times New Roman"/>
              </a:rPr>
              <a:t>Najjar,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H.,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Kalantar,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B.,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Abdul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Halin,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A.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(2025).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Advancements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and </a:t>
            </a:r>
            <a:r>
              <a:rPr sz="1750" dirty="0">
                <a:latin typeface="Times New Roman"/>
                <a:cs typeface="Times New Roman"/>
              </a:rPr>
              <a:t>machine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techniques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Urban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areas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remote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sensing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big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data.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Frontiers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10" dirty="0">
                <a:latin typeface="Times New Roman"/>
                <a:cs typeface="Times New Roman"/>
              </a:rPr>
              <a:t> Environmental </a:t>
            </a:r>
            <a:r>
              <a:rPr sz="1750" dirty="0">
                <a:latin typeface="Times New Roman"/>
                <a:cs typeface="Times New Roman"/>
              </a:rPr>
              <a:t>Science,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13,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1584485.</a:t>
            </a:r>
            <a:endParaRPr lang="en-US" sz="1750" dirty="0">
              <a:latin typeface="Times New Roman"/>
              <a:cs typeface="Times New Roman"/>
            </a:endParaRPr>
          </a:p>
          <a:p>
            <a:pPr marL="312420" marR="909319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750" dirty="0">
                <a:latin typeface="Times New Roman"/>
                <a:cs typeface="Times New Roman"/>
              </a:rPr>
              <a:t>[4]</a:t>
            </a:r>
            <a:r>
              <a:rPr lang="en-US"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Pushpalatha,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V.,</a:t>
            </a:r>
            <a:r>
              <a:rPr sz="1750" spc="-10" dirty="0">
                <a:latin typeface="Times New Roman"/>
                <a:cs typeface="Times New Roman"/>
              </a:rPr>
              <a:t> Mallikarjuna,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P.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B.,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Mahendra,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H.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N.,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Subramoniam,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R.,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Mallikarjunaswamy,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S. </a:t>
            </a:r>
            <a:r>
              <a:rPr sz="1750" dirty="0">
                <a:latin typeface="Times New Roman"/>
                <a:cs typeface="Times New Roman"/>
              </a:rPr>
              <a:t>(2025).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cover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classification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change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detection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studies</a:t>
            </a:r>
            <a:r>
              <a:rPr sz="1750" spc="-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using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convolutional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neural </a:t>
            </a:r>
            <a:r>
              <a:rPr sz="1750" dirty="0">
                <a:latin typeface="Times New Roman"/>
                <a:cs typeface="Times New Roman"/>
              </a:rPr>
              <a:t>network.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Applied</a:t>
            </a:r>
            <a:r>
              <a:rPr sz="1750" i="1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Computing</a:t>
            </a:r>
            <a:r>
              <a:rPr sz="1750" i="1" spc="-6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and</a:t>
            </a:r>
            <a:r>
              <a:rPr sz="1750" i="1" spc="-5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Geosciences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25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100227.</a:t>
            </a:r>
            <a:endParaRPr lang="en-US" sz="1750" dirty="0">
              <a:latin typeface="Times New Roman"/>
              <a:cs typeface="Times New Roman"/>
            </a:endParaRPr>
          </a:p>
          <a:p>
            <a:pPr marL="312420" marR="909319" indent="-300355" algn="just">
              <a:lnSpc>
                <a:spcPct val="100000"/>
              </a:lnSpc>
              <a:spcBef>
                <a:spcPts val="105"/>
              </a:spcBef>
              <a:buFont typeface="Wingdings" panose="05000000000000000000" pitchFamily="2" charset="2"/>
              <a:buChar char="Ø"/>
            </a:pPr>
            <a:r>
              <a:rPr sz="1750" dirty="0">
                <a:latin typeface="Times New Roman"/>
                <a:cs typeface="Times New Roman"/>
              </a:rPr>
              <a:t>[5]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Komeh,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Z.,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Hamzeh,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Memarian,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H.,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Attarchi,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S.,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&amp;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Alavipanah,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S.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K.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(2025).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Remote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Sensing </a:t>
            </a:r>
            <a:r>
              <a:rPr sz="1750" dirty="0">
                <a:latin typeface="Times New Roman"/>
                <a:cs typeface="Times New Roman"/>
              </a:rPr>
              <a:t>Approach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Spatiotemporal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Analysis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of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6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Surface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Temperature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Response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Use/Land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Cover </a:t>
            </a:r>
            <a:r>
              <a:rPr sz="1750" dirty="0">
                <a:latin typeface="Times New Roman"/>
                <a:cs typeface="Times New Roman"/>
              </a:rPr>
              <a:t>Change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via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Cloud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Base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and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Machine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Learning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Methods,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Case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Study: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Sari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Metropolis,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Iran.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i="1" spc="-10" dirty="0">
                <a:latin typeface="Times New Roman"/>
                <a:cs typeface="Times New Roman"/>
              </a:rPr>
              <a:t>International </a:t>
            </a:r>
            <a:r>
              <a:rPr sz="1750" i="1" dirty="0">
                <a:latin typeface="Times New Roman"/>
                <a:cs typeface="Times New Roman"/>
              </a:rPr>
              <a:t>Journal</a:t>
            </a:r>
            <a:r>
              <a:rPr sz="1750" i="1" spc="-5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of</a:t>
            </a:r>
            <a:r>
              <a:rPr sz="1750" i="1" spc="-7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Environmental</a:t>
            </a:r>
            <a:r>
              <a:rPr sz="1750" i="1" spc="-5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Research</a:t>
            </a:r>
            <a:r>
              <a:rPr sz="1750" dirty="0">
                <a:latin typeface="Times New Roman"/>
                <a:cs typeface="Times New Roman"/>
              </a:rPr>
              <a:t>,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19</a:t>
            </a:r>
            <a:r>
              <a:rPr sz="1750" dirty="0">
                <a:latin typeface="Times New Roman"/>
                <a:cs typeface="Times New Roman"/>
              </a:rPr>
              <a:t>(3),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98.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4" y="2110740"/>
            <a:ext cx="8549639" cy="41361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0" y="775716"/>
            <a:ext cx="10686415" cy="192360"/>
          </a:xfrm>
          <a:prstGeom prst="rect">
            <a:avLst/>
          </a:prstGeom>
          <a:solidFill>
            <a:srgbClr val="006666"/>
          </a:solidFill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505"/>
              </a:lnSpc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Remote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sensing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LULC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1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DL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54024"/>
            <a:ext cx="10684764" cy="70408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0" y="979931"/>
            <a:ext cx="10686415" cy="61595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9844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234"/>
              </a:spcBef>
            </a:pPr>
            <a:r>
              <a:rPr dirty="0"/>
              <a:t>Github</a:t>
            </a:r>
            <a:r>
              <a:rPr spc="-90" dirty="0"/>
              <a:t> </a:t>
            </a:r>
            <a:r>
              <a:rPr spc="-20" dirty="0"/>
              <a:t>Link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076926" y="6562863"/>
            <a:ext cx="36601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24699" y="6582777"/>
            <a:ext cx="366017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21065" y="1695399"/>
            <a:ext cx="574167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9105" indent="-44640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Georgia"/>
              <a:buChar char="➢"/>
              <a:tabLst>
                <a:tab pos="459105" algn="l"/>
              </a:tabLst>
            </a:pPr>
            <a:r>
              <a:rPr sz="175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https://github.com/Gowri-jinka/CSE-2022-</a:t>
            </a:r>
            <a:r>
              <a:rPr sz="175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26-</a:t>
            </a:r>
            <a:r>
              <a:rPr sz="1750" u="sng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BATCH-A19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482094" y="737088"/>
            <a:ext cx="5815207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/>
              <a:t>Remote</a:t>
            </a:r>
            <a:r>
              <a:rPr sz="1400" spc="-25" dirty="0"/>
              <a:t> </a:t>
            </a:r>
            <a:r>
              <a:rPr sz="1400" dirty="0"/>
              <a:t>Sensing</a:t>
            </a:r>
            <a:r>
              <a:rPr sz="1400" spc="-25" dirty="0"/>
              <a:t> </a:t>
            </a:r>
            <a:r>
              <a:rPr sz="1400" dirty="0"/>
              <a:t>Image</a:t>
            </a:r>
            <a:r>
              <a:rPr sz="1400" spc="-40" dirty="0"/>
              <a:t> </a:t>
            </a:r>
            <a:r>
              <a:rPr sz="1400" dirty="0"/>
              <a:t>Classification</a:t>
            </a:r>
            <a:r>
              <a:rPr sz="1400" spc="-40" dirty="0"/>
              <a:t> </a:t>
            </a:r>
            <a:r>
              <a:rPr sz="1400" dirty="0"/>
              <a:t>Of </a:t>
            </a:r>
            <a:r>
              <a:rPr lang="en-US" sz="1400" dirty="0"/>
              <a:t>LULC </a:t>
            </a:r>
            <a:r>
              <a:rPr sz="1400" dirty="0"/>
              <a:t>Using</a:t>
            </a:r>
            <a:r>
              <a:rPr sz="1400" spc="-25" dirty="0"/>
              <a:t> DL</a:t>
            </a:r>
            <a:endParaRPr sz="140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076926" y="6559052"/>
            <a:ext cx="38125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24699" y="6559052"/>
            <a:ext cx="3812572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834097" y="2704366"/>
            <a:ext cx="496951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i="1" dirty="0">
                <a:solidFill>
                  <a:srgbClr val="F68E07"/>
                </a:solidFill>
                <a:latin typeface="Times New Roman"/>
                <a:cs typeface="Times New Roman"/>
              </a:rPr>
              <a:t>Thank</a:t>
            </a:r>
            <a:r>
              <a:rPr sz="8400" i="1" spc="-55" dirty="0">
                <a:solidFill>
                  <a:srgbClr val="F68E07"/>
                </a:solidFill>
                <a:latin typeface="Times New Roman"/>
                <a:cs typeface="Times New Roman"/>
              </a:rPr>
              <a:t> </a:t>
            </a:r>
            <a:r>
              <a:rPr sz="8400" i="1" spc="-20" dirty="0">
                <a:solidFill>
                  <a:srgbClr val="F68E07"/>
                </a:solidFill>
                <a:latin typeface="Times New Roman"/>
                <a:cs typeface="Times New Roman"/>
              </a:rPr>
              <a:t>You!</a:t>
            </a:r>
            <a:endParaRPr sz="8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105"/>
              </a:spcBef>
            </a:pPr>
            <a:r>
              <a:rPr sz="1400" dirty="0"/>
              <a:t>Remote</a:t>
            </a:r>
            <a:r>
              <a:rPr sz="1400" spc="-40" dirty="0"/>
              <a:t> </a:t>
            </a:r>
            <a:r>
              <a:rPr sz="1400" dirty="0"/>
              <a:t>Sensing</a:t>
            </a:r>
            <a:r>
              <a:rPr sz="1400" spc="-40" dirty="0"/>
              <a:t> </a:t>
            </a:r>
            <a:r>
              <a:rPr sz="1400" dirty="0"/>
              <a:t>Image</a:t>
            </a:r>
            <a:r>
              <a:rPr sz="1400" spc="-15" dirty="0"/>
              <a:t> </a:t>
            </a:r>
            <a:r>
              <a:rPr sz="1400" dirty="0"/>
              <a:t>Classification</a:t>
            </a:r>
            <a:r>
              <a:rPr sz="1400" spc="-25" dirty="0"/>
              <a:t> </a:t>
            </a:r>
            <a:r>
              <a:rPr sz="1400" dirty="0"/>
              <a:t>Of</a:t>
            </a:r>
            <a:r>
              <a:rPr sz="1400" spc="-30" dirty="0"/>
              <a:t> </a:t>
            </a:r>
            <a:r>
              <a:rPr sz="1400" dirty="0"/>
              <a:t>Land</a:t>
            </a:r>
            <a:r>
              <a:rPr sz="1400" spc="-40" dirty="0"/>
              <a:t> </a:t>
            </a:r>
            <a:r>
              <a:rPr sz="1400" dirty="0"/>
              <a:t>Use</a:t>
            </a:r>
            <a:r>
              <a:rPr sz="1400" spc="-40" dirty="0"/>
              <a:t> </a:t>
            </a:r>
            <a:r>
              <a:rPr sz="1400" dirty="0"/>
              <a:t>Land</a:t>
            </a:r>
            <a:r>
              <a:rPr sz="1400" spc="-35" dirty="0"/>
              <a:t> </a:t>
            </a:r>
            <a:r>
              <a:rPr sz="1400" dirty="0"/>
              <a:t>Cover</a:t>
            </a:r>
            <a:r>
              <a:rPr sz="1400" spc="-20" dirty="0"/>
              <a:t> </a:t>
            </a:r>
            <a:r>
              <a:rPr sz="1400" dirty="0"/>
              <a:t>Using</a:t>
            </a:r>
            <a:r>
              <a:rPr sz="1400" spc="-40" dirty="0"/>
              <a:t> </a:t>
            </a:r>
            <a:r>
              <a:rPr sz="1400" spc="-25" dirty="0"/>
              <a:t>DL</a:t>
            </a:r>
            <a:endParaRPr sz="1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pc="-10" dirty="0"/>
              <a:t>A-</a:t>
            </a:r>
            <a:r>
              <a:rPr spc="-25" dirty="0"/>
              <a:t>19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076926" y="6562863"/>
            <a:ext cx="36601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1630"/>
              </a:lnSpc>
            </a:pPr>
            <a:r>
              <a:rPr cap="small" spc="-50" dirty="0"/>
              <a:t>Dept.</a:t>
            </a:r>
            <a:r>
              <a:rPr cap="small" spc="-135" dirty="0"/>
              <a:t> </a:t>
            </a:r>
            <a:r>
              <a:rPr cap="small" dirty="0"/>
              <a:t>of</a:t>
            </a:r>
            <a:r>
              <a:rPr cap="small" spc="130" dirty="0"/>
              <a:t> </a:t>
            </a:r>
            <a:r>
              <a:rPr cap="small" spc="-85" dirty="0"/>
              <a:t>Computer</a:t>
            </a:r>
            <a:r>
              <a:rPr cap="small" spc="35" dirty="0"/>
              <a:t> </a:t>
            </a:r>
            <a:r>
              <a:rPr cap="small" spc="-50" dirty="0"/>
              <a:t>Science</a:t>
            </a:r>
            <a:r>
              <a:rPr cap="small" spc="55" dirty="0"/>
              <a:t> </a:t>
            </a:r>
            <a:r>
              <a:rPr cap="small" spc="-60" dirty="0"/>
              <a:t>and</a:t>
            </a:r>
            <a:r>
              <a:rPr cap="small" spc="-50" dirty="0"/>
              <a:t> </a:t>
            </a:r>
            <a:r>
              <a:rPr cap="small" spc="-85" dirty="0"/>
              <a:t>Engineering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224698" y="6562863"/>
            <a:ext cx="3660173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400" cap="small" spc="-60" dirty="0">
                <a:solidFill>
                  <a:srgbClr val="FFFFFF"/>
                </a:solidFill>
                <a:latin typeface="Times New Roman"/>
                <a:cs typeface="Times New Roman"/>
              </a:rPr>
              <a:t>Srinivasa</a:t>
            </a:r>
            <a:r>
              <a:rPr sz="1400" cap="small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90" dirty="0">
                <a:solidFill>
                  <a:srgbClr val="FFFFFF"/>
                </a:solidFill>
                <a:latin typeface="Times New Roman"/>
                <a:cs typeface="Times New Roman"/>
              </a:rPr>
              <a:t>Ramanujan</a:t>
            </a:r>
            <a:r>
              <a:rPr sz="1400" cap="small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85" dirty="0">
                <a:solidFill>
                  <a:srgbClr val="FFFFFF"/>
                </a:solidFill>
                <a:latin typeface="Times New Roman"/>
                <a:cs typeface="Times New Roman"/>
              </a:rPr>
              <a:t>Institute</a:t>
            </a:r>
            <a:r>
              <a:rPr sz="1400" cap="small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400" cap="small" spc="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cap="small" spc="-25" dirty="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381340" y="2704366"/>
            <a:ext cx="584073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4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sz="8400" i="1" spc="-5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84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sz="8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3374</Words>
  <Application>Microsoft Office PowerPoint</Application>
  <PresentationFormat>Custom</PresentationFormat>
  <Paragraphs>607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MT</vt:lpstr>
      <vt:lpstr>Calibri</vt:lpstr>
      <vt:lpstr>Georgia</vt:lpstr>
      <vt:lpstr>Times New Roman</vt:lpstr>
      <vt:lpstr>Wingdings</vt:lpstr>
      <vt:lpstr>Office Theme</vt:lpstr>
      <vt:lpstr>Remote Sensing Image Classification Of Land Use Land Cover                         Using Deep Learning</vt:lpstr>
      <vt:lpstr>Comments</vt:lpstr>
      <vt:lpstr>Title Justification</vt:lpstr>
      <vt:lpstr>Contents</vt:lpstr>
      <vt:lpstr>Remote sensing Image Classification on LULC using DL</vt:lpstr>
      <vt:lpstr>Remote sensing Image Classification on LULC using DL</vt:lpstr>
      <vt:lpstr>Literature Survey</vt:lpstr>
      <vt:lpstr>Literature Survey</vt:lpstr>
      <vt:lpstr>Literature Survey</vt:lpstr>
      <vt:lpstr>Literature Survey</vt:lpstr>
      <vt:lpstr>Literature Survey</vt:lpstr>
      <vt:lpstr>Existing System</vt:lpstr>
      <vt:lpstr>Proposed System</vt:lpstr>
      <vt:lpstr>Advantages of Proposed System</vt:lpstr>
      <vt:lpstr>Planning</vt:lpstr>
      <vt:lpstr>Planning</vt:lpstr>
      <vt:lpstr>Planning</vt:lpstr>
      <vt:lpstr>Design – Use Case Diagram</vt:lpstr>
      <vt:lpstr>Design – Class Diagram</vt:lpstr>
      <vt:lpstr>Design – Sequence Diagram</vt:lpstr>
      <vt:lpstr>Design – Component Diagram</vt:lpstr>
      <vt:lpstr>Design – Development Diagram</vt:lpstr>
      <vt:lpstr>Implementation</vt:lpstr>
      <vt:lpstr>Research Paper</vt:lpstr>
      <vt:lpstr>Reference</vt:lpstr>
      <vt:lpstr>Github Link</vt:lpstr>
      <vt:lpstr>Remote Sensing Image Classification Of LULC Using DL</vt:lpstr>
      <vt:lpstr>Remote Sensing Image Classification Of Land Use Land Cover Using DL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Review-2-ppt.pptx</dc:title>
  <dc:creator>JINKA GOWRI</dc:creator>
  <cp:lastModifiedBy>JINKA GOWRI</cp:lastModifiedBy>
  <cp:revision>2</cp:revision>
  <cp:lastPrinted>2026-03-10T14:36:54Z</cp:lastPrinted>
  <dcterms:created xsi:type="dcterms:W3CDTF">2026-03-10T05:07:44Z</dcterms:created>
  <dcterms:modified xsi:type="dcterms:W3CDTF">2026-03-10T14:41:01Z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LastSaved">
    <vt:filetime>2026-03-10T00:00:00Z</vt:filetime>
  </property>
  <property fmtid="{D5CDD505-2E9C-101B-9397-08002B2CF9AE}" pid="4" name="Producer">
    <vt:lpwstr>Microsoft: Print To PDF</vt:lpwstr>
  </property>
</Properties>
</file>