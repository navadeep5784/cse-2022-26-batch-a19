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2"/>
    <p:sldId id="257" r:id="rId3"/>
    <p:sldId id="274" r:id="rId4"/>
    <p:sldId id="258" r:id="rId5"/>
    <p:sldId id="259" r:id="rId6"/>
    <p:sldId id="275" r:id="rId7"/>
    <p:sldId id="261" r:id="rId8"/>
    <p:sldId id="276" r:id="rId9"/>
    <p:sldId id="262" r:id="rId10"/>
    <p:sldId id="277" r:id="rId11"/>
    <p:sldId id="278" r:id="rId12"/>
    <p:sldId id="279" r:id="rId13"/>
    <p:sldId id="280" r:id="rId14"/>
    <p:sldId id="281" r:id="rId15"/>
    <p:sldId id="282" r:id="rId16"/>
    <p:sldId id="283" r:id="rId17"/>
    <p:sldId id="284" r:id="rId18"/>
    <p:sldId id="268" r:id="rId19"/>
    <p:sldId id="285" r:id="rId20"/>
    <p:sldId id="266" r:id="rId21"/>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55A6FF-9FA3-4084-9C20-9BBF072E540C}" v="111" dt="2026-01-21T05:03:33.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0"/>
  </p:normalViewPr>
  <p:slideViewPr>
    <p:cSldViewPr showGuides="1">
      <p:cViewPr varScale="1">
        <p:scale>
          <a:sx n="98" d="100"/>
          <a:sy n="98" d="100"/>
        </p:scale>
        <p:origin x="82" y="91"/>
      </p:cViewPr>
      <p:guideLst>
        <p:guide orient="horz" pos="2880"/>
        <p:guide pos="21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Date Placeholder 2"/>
          <p:cNvSpPr>
            <a:spLocks noGrp="1" noChangeArrowheads="1"/>
          </p:cNvSpPr>
          <p:nvPr>
            <p:ph type="dt" sz="quarter"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7CD42C-AEDC-4204-92B9-4096A1E38DD8}"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21-01-2026</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Footer Placeholder 3"/>
          <p:cNvSpPr>
            <a:spLocks noGrp="1" noChangeArrowheads="1"/>
          </p:cNvSpPr>
          <p:nvPr>
            <p:ph type="ftr" sz="quarter" idx="2"/>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5" name="Slide Number Placeholder 4"/>
          <p:cNvSpPr>
            <a:spLocks noGrp="1" noChangeArrowheads="1"/>
          </p:cNvSpPr>
          <p:nvPr>
            <p:ph type="sldNum" sz="quarter" idx="3"/>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1BFA070-C9E3-4C62-BEFF-BB79EE19FBAA}"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9" name="Date Placeholder 2"/>
          <p:cNvSpPr>
            <a:spLocks noGrp="1" noChangeArrowheads="1"/>
          </p:cNvSpPr>
          <p:nvPr>
            <p:ph type="dt"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9ED4C81-AEB8-429A-866B-14C6DF65D1DE}"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21-01-2026</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102" name="Footer Placeholder 5"/>
          <p:cNvSpPr>
            <a:spLocks noGrp="1" noChangeArrowheads="1"/>
          </p:cNvSpPr>
          <p:nvPr>
            <p:ph type="ftr" sz="quarter" idx="4"/>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03" name="Slide Number Placeholder 6"/>
          <p:cNvSpPr>
            <a:spLocks noGrp="1" noChangeArrowheads="1"/>
          </p:cNvSpPr>
          <p:nvPr>
            <p:ph type="sldNum" sz="quarter" idx="5"/>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DCD595E-9754-4667-9CB9-C45931948710}"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41400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a:solidFill>
              <a:srgbClr val="000000"/>
            </a:solidFill>
            <a:miter/>
          </a:ln>
        </p:spPr>
      </p:sp>
      <p:sp>
        <p:nvSpPr>
          <p:cNvPr id="9219" name="Notes Placeholder 2"/>
          <p:cNvSpPr>
            <a:spLocks noGrp="1"/>
          </p:cNvSpPr>
          <p:nvPr>
            <p:ph type="body" idx="1"/>
          </p:nvPr>
        </p:nvSpPr>
        <p:spPr>
          <a:xfrm>
            <a:off x="1219200" y="3300413"/>
            <a:ext cx="9753600" cy="2700337"/>
          </a:xfrm>
          <a:noFill/>
          <a:ln>
            <a:noFill/>
          </a:ln>
        </p:spPr>
        <p:txBody>
          <a:bodyPr wrap="square" lIns="91440" tIns="45720" rIns="91440" bIns="45720" anchor="t" anchorCtr="0"/>
          <a:lstStyle/>
          <a:p>
            <a:pPr lvl="0"/>
            <a:endParaRPr lang="en-IN" altLang="x-none" dirty="0"/>
          </a:p>
        </p:txBody>
      </p:sp>
      <p:sp>
        <p:nvSpPr>
          <p:cNvPr id="9220" name="Header Placeholder 3"/>
          <p:cNvSpPr txBox="1">
            <a:spLocks noGrp="1"/>
          </p:cNvSpPr>
          <p:nvPr>
            <p:ph type="hdr" sz="quarter"/>
          </p:nvPr>
        </p:nvSpPr>
        <p:spPr>
          <a:xfrm>
            <a:off x="0" y="0"/>
            <a:ext cx="5283200" cy="344488"/>
          </a:xfrm>
          <a:prstGeom prst="rect">
            <a:avLst/>
          </a:prstGeom>
          <a:noFill/>
          <a:ln w="9525">
            <a:noFill/>
          </a:ln>
        </p:spPr>
        <p:txBody>
          <a:bodyPr/>
          <a:lstStyle/>
          <a:p>
            <a:pPr lvl="0" eaLnBrk="1" hangingPunct="1">
              <a:buNone/>
            </a:pPr>
            <a:r>
              <a:rPr lang="en-US" altLang="en-US" sz="1200" dirty="0">
                <a:solidFill>
                  <a:srgbClr val="000000"/>
                </a:solidFill>
              </a:rPr>
              <a:t>ECOVISION:Deep Learning model for Seasonal Detection</a:t>
            </a:r>
            <a:endParaRPr lang="en-IN" altLang="en-US" sz="1200" dirty="0">
              <a:solidFill>
                <a:srgbClr val="000000"/>
              </a:solidFill>
            </a:endParaRPr>
          </a:p>
        </p:txBody>
      </p:sp>
      <p:sp>
        <p:nvSpPr>
          <p:cNvPr id="9221" name="Slide Number Placeholder 4"/>
          <p:cNvSpPr txBox="1">
            <a:spLocks noGrp="1"/>
          </p:cNvSpPr>
          <p:nvPr>
            <p:ph type="sldNum" sz="quarter"/>
          </p:nvPr>
        </p:nvSpPr>
        <p:spPr>
          <a:xfrm>
            <a:off x="6905625" y="6513513"/>
            <a:ext cx="5283200" cy="344487"/>
          </a:xfrm>
          <a:prstGeom prst="rect">
            <a:avLst/>
          </a:prstGeom>
          <a:noFill/>
          <a:ln w="9525">
            <a:noFill/>
          </a:ln>
        </p:spPr>
        <p:txBody>
          <a:bodyPr anchor="b" anchorCtr="0"/>
          <a:lstStyle/>
          <a:p>
            <a:pPr lvl="0" algn="r" eaLnBrk="1" hangingPunct="1">
              <a:buNone/>
            </a:pPr>
            <a:fld id="{9A0DB2DC-4C9A-4742-B13C-FB6460FD3503}" type="slidenum">
              <a:rPr lang="en-IN" altLang="en-US" sz="1200" dirty="0">
                <a:solidFill>
                  <a:srgbClr val="000000"/>
                </a:solidFill>
              </a:rPr>
              <a:t>4</a:t>
            </a:fld>
            <a:endParaRPr lang="en-IN" altLang="en-US" sz="1200" dirty="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6648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5337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1321-A740-BF11-4827-A56663B28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2FE50-6F3A-BFDC-F5EA-80B8C18E9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06D9A-CED4-6042-4F71-A36AC89EDD2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7839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4810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2977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6700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F2E3-DA58-1DC1-2AF2-FF86CB957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06B7D-2341-B9EE-4E75-EAD9F6A18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B38A9-69E7-E8CC-FB8F-7333173C522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5558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E981-8067-5CA4-BC8E-04630851E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0DA7C-8E05-7570-6945-03AF27D98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EE3B4-456D-EA8F-2A7D-DA9CFAA6B62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9153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CB511-1829-9BFE-E877-28A2AA651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ACD75-74CA-DDD6-C4E7-3F87BCF02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C6560-1D56-66D8-CBCD-FF477209638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066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D8EE-E268-B706-1DD5-025EF0A21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A082B-7B89-2D48-DCA9-D73F4ADE9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339EB-B20B-A99F-478B-279555E1C84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786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F402-EB57-1818-631E-1106AF642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62ABA-A5CA-F07D-415A-80B8049D8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86619-E1E5-96FC-ECF4-F6EF81E1DA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4950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9291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4" name="Footer Placeholder 3"/>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Date Placeholder 4"/>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Slide Number Placeholder 5"/>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050"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2051"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2052"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2053"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2054"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2055"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18" name="Holder 4"/>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5"/>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6"/>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A22DA06-3D3F-4FF3-A623-B1EF8BB22DF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endParaRPr/>
          </a:p>
        </p:txBody>
      </p:sp>
      <p:sp>
        <p:nvSpPr>
          <p:cNvPr id="5" name="Footer Placeholder 4"/>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Date Placeholder 5"/>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7" name="Slide Number Placeholder 6"/>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Footer Placeholder 2"/>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4" name="Date Placeholder 3"/>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Slide Number Placeholder 4"/>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3074"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3075"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3076"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3077"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3078"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3079"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18" name="Holder 2"/>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3"/>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4"/>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D07E84F-3EC1-4B76-8752-AC3007DD468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1027"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1028"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1029" name="bg object 19"/>
          <p:cNvPicPr>
            <a:picLocks noChangeAspect="1"/>
          </p:cNvPicPr>
          <p:nvPr/>
        </p:nvPicPr>
        <p:blipFill>
          <a:blip r:embed="rId7"/>
          <a:stretch>
            <a:fillRect/>
          </a:stretch>
        </p:blipFill>
        <p:spPr>
          <a:xfrm>
            <a:off x="11506200" y="5956300"/>
            <a:ext cx="685800" cy="681038"/>
          </a:xfrm>
          <a:prstGeom prst="rect">
            <a:avLst/>
          </a:prstGeom>
          <a:noFill/>
          <a:ln w="9525">
            <a:noFill/>
          </a:ln>
        </p:spPr>
      </p:pic>
      <p:sp>
        <p:nvSpPr>
          <p:cNvPr id="1030"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1031" name="Holder 2"/>
          <p:cNvSpPr>
            <a:spLocks noGrp="1"/>
          </p:cNvSpPr>
          <p:nvPr>
            <p:ph type="title"/>
          </p:nvPr>
        </p:nvSpPr>
        <p:spPr>
          <a:xfrm>
            <a:off x="73025" y="182563"/>
            <a:ext cx="4738688" cy="695325"/>
          </a:xfrm>
          <a:prstGeom prst="rect">
            <a:avLst/>
          </a:prstGeom>
          <a:noFill/>
          <a:ln w="9525">
            <a:noFill/>
          </a:ln>
        </p:spPr>
        <p:txBody>
          <a:bodyPr lIns="0" tIns="0" rIns="0" bIns="0">
            <a:spAutoFit/>
          </a:bodyPr>
          <a:lstStyle/>
          <a:p>
            <a:pPr lvl="0"/>
            <a:endParaRPr lang="en-US" altLang="en-US" dirty="0"/>
          </a:p>
        </p:txBody>
      </p:sp>
      <p:sp>
        <p:nvSpPr>
          <p:cNvPr id="1032" name="Holder 3"/>
          <p:cNvSpPr>
            <a:spLocks noGrp="1"/>
          </p:cNvSpPr>
          <p:nvPr>
            <p:ph type="body" idx="1"/>
          </p:nvPr>
        </p:nvSpPr>
        <p:spPr>
          <a:xfrm>
            <a:off x="236538" y="1074738"/>
            <a:ext cx="11347450" cy="3136900"/>
          </a:xfrm>
          <a:prstGeom prst="rect">
            <a:avLst/>
          </a:prstGeom>
          <a:noFill/>
          <a:ln w="9525">
            <a:noFill/>
          </a:ln>
        </p:spPr>
        <p:txBody>
          <a:bodyPr lIns="0" tIns="0" rIns="0" bIns="0">
            <a:spAutoFit/>
          </a:bodyPr>
          <a:lstStyle/>
          <a:p>
            <a:pPr lvl="0"/>
            <a:endParaRPr lang="en-US" altLang="en-US" dirty="0"/>
          </a:p>
        </p:txBody>
      </p:sp>
      <p:sp>
        <p:nvSpPr>
          <p:cNvPr id="4" name="Holder 4"/>
          <p:cNvSpPr>
            <a:spLocks noGrp="1"/>
          </p:cNvSpPr>
          <p:nvPr>
            <p:ph type="ftr" sz="quarter" idx="5"/>
          </p:nvPr>
        </p:nvSpPr>
        <p:spPr>
          <a:xfrm>
            <a:off x="149225" y="6629400"/>
            <a:ext cx="6350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Holder 5"/>
          <p:cNvSpPr>
            <a:spLocks noGrp="1"/>
          </p:cNvSpPr>
          <p:nvPr>
            <p:ph type="dt" sz="half" idx="6"/>
          </p:nvPr>
        </p:nvSpPr>
        <p:spPr>
          <a:xfrm>
            <a:off x="1773238" y="6629400"/>
            <a:ext cx="3662363"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cap="small" spc="-75">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Holder 6"/>
          <p:cNvSpPr>
            <a:spLocks noGrp="1"/>
          </p:cNvSpPr>
          <p:nvPr>
            <p:ph type="sldNum" sz="quarter" idx="7"/>
          </p:nvPr>
        </p:nvSpPr>
        <p:spPr>
          <a:xfrm>
            <a:off x="11793538" y="6629400"/>
            <a:ext cx="2286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1" i="0" kern="0" spc="-25">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146" name="object 2"/>
          <p:cNvGrpSpPr/>
          <p:nvPr/>
        </p:nvGrpSpPr>
        <p:grpSpPr>
          <a:xfrm>
            <a:off x="778001" y="6632227"/>
            <a:ext cx="11413999" cy="230964"/>
            <a:chOff x="777240" y="6632518"/>
            <a:chExt cx="11414634" cy="230637"/>
          </a:xfrm>
        </p:grpSpPr>
        <p:sp>
          <p:nvSpPr>
            <p:cNvPr id="6160" name="object 3"/>
            <p:cNvSpPr/>
            <p:nvPr/>
          </p:nvSpPr>
          <p:spPr>
            <a:xfrm>
              <a:off x="777240" y="6634440"/>
              <a:ext cx="5781675" cy="220979"/>
            </a:xfrm>
            <a:custGeom>
              <a:avLst/>
              <a:gdLst/>
              <a:ahLst/>
              <a:cxnLst>
                <a:cxn ang="0">
                  <a:pos x="5781599" y="220679"/>
                </a:cxn>
                <a:cxn ang="0">
                  <a:pos x="0" y="220679"/>
                </a:cxn>
                <a:cxn ang="0">
                  <a:pos x="0" y="0"/>
                </a:cxn>
                <a:cxn ang="0">
                  <a:pos x="5781599" y="0"/>
                </a:cxn>
                <a:cxn ang="0">
                  <a:pos x="5781599" y="220679"/>
                </a:cxn>
              </a:cxnLst>
              <a:rect l="0" t="0" r="0" b="0"/>
              <a:pathLst>
                <a:path w="5781675" h="220979">
                  <a:moveTo>
                    <a:pt x="5781599" y="220679"/>
                  </a:moveTo>
                  <a:lnTo>
                    <a:pt x="0" y="220679"/>
                  </a:lnTo>
                  <a:lnTo>
                    <a:pt x="0" y="0"/>
                  </a:lnTo>
                  <a:lnTo>
                    <a:pt x="5781599" y="0"/>
                  </a:lnTo>
                  <a:lnTo>
                    <a:pt x="5781599" y="220679"/>
                  </a:lnTo>
                  <a:close/>
                </a:path>
              </a:pathLst>
            </a:custGeom>
            <a:solidFill>
              <a:srgbClr val="002060">
                <a:alpha val="100000"/>
              </a:srgbClr>
            </a:solidFill>
            <a:ln w="9525">
              <a:noFill/>
            </a:ln>
          </p:spPr>
          <p:txBody>
            <a:bodyPr/>
            <a:lstStyle/>
            <a:p>
              <a:r>
                <a:rPr lang="en-US" altLang="zh-CN" sz="1400" dirty="0">
                  <a:solidFill>
                    <a:schemeClr val="bg1"/>
                  </a:solidFill>
                  <a:latin typeface="Times New Roman" panose="02020603050405020304" pitchFamily="18" charset="0"/>
                  <a:cs typeface="Times New Roman" panose="02020603050405020304" pitchFamily="18" charset="0"/>
                </a:rPr>
                <a:t>                DEPT. OF COMPUTER SCIENCE AND</a:t>
              </a:r>
              <a:r>
                <a:rPr lang="en-US" sz="1400" dirty="0">
                  <a:solidFill>
                    <a:schemeClr val="bg1"/>
                  </a:solidFill>
                  <a:latin typeface="Times New Roman" panose="02020603050405020304" pitchFamily="18" charset="0"/>
                  <a:cs typeface="Times New Roman" panose="02020603050405020304" pitchFamily="18" charset="0"/>
                </a:rPr>
                <a:t> </a:t>
              </a:r>
              <a:r>
                <a:rPr lang="en-US" altLang="zh-CN" sz="1400" dirty="0">
                  <a:solidFill>
                    <a:schemeClr val="bg1"/>
                  </a:solidFill>
                  <a:latin typeface="Times New Roman" panose="02020603050405020304" pitchFamily="18" charset="0"/>
                  <a:cs typeface="Times New Roman" panose="02020603050405020304" pitchFamily="18" charset="0"/>
                </a:rPr>
                <a:t>ENGINEERING</a:t>
              </a:r>
              <a:endParaRPr lang="en-US" altLang="zh-CN" sz="1400" dirty="0">
                <a:solidFill>
                  <a:schemeClr val="bg1"/>
                </a:solidFill>
                <a:latin typeface="Times New Roman" panose="02020603050405020304" pitchFamily="18" charset="0"/>
                <a:ea typeface="Times New Roman" panose="02020603050405020304" pitchFamily="18" charset="0"/>
              </a:endParaRPr>
            </a:p>
            <a:p>
              <a:endParaRPr lang="en-US" dirty="0"/>
            </a:p>
          </p:txBody>
        </p:sp>
        <p:sp>
          <p:nvSpPr>
            <p:cNvPr id="6161" name="object 4"/>
            <p:cNvSpPr/>
            <p:nvPr/>
          </p:nvSpPr>
          <p:spPr>
            <a:xfrm>
              <a:off x="6559199" y="6632518"/>
              <a:ext cx="5632675" cy="221935"/>
            </a:xfrm>
            <a:custGeom>
              <a:avLst/>
              <a:gdLst/>
              <a:ahLst/>
              <a:cxnLst>
                <a:cxn ang="0">
                  <a:pos x="5194801" y="220679"/>
                </a:cxn>
                <a:cxn ang="0">
                  <a:pos x="0" y="220679"/>
                </a:cxn>
                <a:cxn ang="0">
                  <a:pos x="0" y="0"/>
                </a:cxn>
                <a:cxn ang="0">
                  <a:pos x="5194801" y="0"/>
                </a:cxn>
                <a:cxn ang="0">
                  <a:pos x="5194801" y="220679"/>
                </a:cxn>
              </a:cxnLst>
              <a:rect l="0" t="0" r="0" b="0"/>
              <a:pathLst>
                <a:path w="5194934" h="220979">
                  <a:moveTo>
                    <a:pt x="5194799" y="220679"/>
                  </a:moveTo>
                  <a:lnTo>
                    <a:pt x="0" y="220679"/>
                  </a:lnTo>
                  <a:lnTo>
                    <a:pt x="0" y="0"/>
                  </a:lnTo>
                  <a:lnTo>
                    <a:pt x="5194799" y="0"/>
                  </a:lnTo>
                  <a:lnTo>
                    <a:pt x="5194799" y="220679"/>
                  </a:lnTo>
                  <a:close/>
                </a:path>
              </a:pathLst>
            </a:custGeom>
            <a:solidFill>
              <a:srgbClr val="008080">
                <a:alpha val="100000"/>
              </a:srgbClr>
            </a:solidFill>
            <a:ln w="9525">
              <a:noFill/>
            </a:ln>
          </p:spPr>
          <p:txBody>
            <a:bodyPr/>
            <a:lstStyle/>
            <a:p>
              <a:r>
                <a:rPr lang="en-US" dirty="0"/>
                <a:t>       </a:t>
              </a:r>
              <a:r>
                <a:rPr lang="en-US" sz="1600" kern="0" cap="small" spc="-105" dirty="0">
                  <a:solidFill>
                    <a:srgbClr val="FFFFFF"/>
                  </a:solidFill>
                  <a:latin typeface="Times New Roman" panose="02020603050405020304"/>
                  <a:cs typeface="Times New Roman" panose="02020603050405020304"/>
                </a:rPr>
                <a:t>Srinivasa</a:t>
              </a:r>
              <a:r>
                <a:rPr lang="en-US" sz="1600" kern="0" cap="small" spc="70" dirty="0">
                  <a:solidFill>
                    <a:srgbClr val="FFFFFF"/>
                  </a:solidFill>
                  <a:latin typeface="Times New Roman" panose="02020603050405020304"/>
                  <a:cs typeface="Times New Roman" panose="02020603050405020304"/>
                </a:rPr>
                <a:t> </a:t>
              </a:r>
              <a:r>
                <a:rPr lang="en-US" sz="1600" kern="0" cap="small" spc="-120" dirty="0">
                  <a:solidFill>
                    <a:srgbClr val="FFFFFF"/>
                  </a:solidFill>
                  <a:latin typeface="Times New Roman" panose="02020603050405020304"/>
                  <a:cs typeface="Times New Roman" panose="02020603050405020304"/>
                </a:rPr>
                <a:t>Ramanujan</a:t>
              </a:r>
              <a:r>
                <a:rPr lang="en-US" sz="1600" kern="0" cap="small" spc="75" dirty="0">
                  <a:solidFill>
                    <a:srgbClr val="FFFFFF"/>
                  </a:solidFill>
                  <a:latin typeface="Times New Roman" panose="02020603050405020304"/>
                  <a:cs typeface="Times New Roman" panose="02020603050405020304"/>
                </a:rPr>
                <a:t> </a:t>
              </a:r>
              <a:r>
                <a:rPr lang="en-US" sz="1600" kern="0" cap="small" spc="-110" dirty="0">
                  <a:solidFill>
                    <a:srgbClr val="FFFFFF"/>
                  </a:solidFill>
                  <a:latin typeface="Times New Roman" panose="02020603050405020304"/>
                  <a:cs typeface="Times New Roman" panose="02020603050405020304"/>
                </a:rPr>
                <a:t>Institute</a:t>
              </a:r>
              <a:r>
                <a:rPr lang="en-US" sz="1600" kern="0" cap="small" spc="75" dirty="0">
                  <a:solidFill>
                    <a:srgbClr val="FFFFFF"/>
                  </a:solidFill>
                  <a:latin typeface="Times New Roman" panose="02020603050405020304"/>
                  <a:cs typeface="Times New Roman" panose="02020603050405020304"/>
                </a:rPr>
                <a:t> </a:t>
              </a:r>
              <a:r>
                <a:rPr lang="en-US" sz="1600" kern="0" cap="small" spc="-100" dirty="0">
                  <a:solidFill>
                    <a:srgbClr val="FFFFFF"/>
                  </a:solidFill>
                  <a:latin typeface="Times New Roman" panose="02020603050405020304"/>
                  <a:cs typeface="Times New Roman" panose="02020603050405020304"/>
                </a:rPr>
                <a:t>of</a:t>
              </a:r>
              <a:r>
                <a:rPr lang="en-US" sz="1600" kern="0" cap="small" spc="75" dirty="0">
                  <a:solidFill>
                    <a:srgbClr val="FFFFFF"/>
                  </a:solidFill>
                  <a:latin typeface="Times New Roman" panose="02020603050405020304"/>
                  <a:cs typeface="Times New Roman" panose="02020603050405020304"/>
                </a:rPr>
                <a:t> </a:t>
              </a:r>
              <a:r>
                <a:rPr lang="en-US" sz="1600" kern="0" cap="small" spc="-140" dirty="0">
                  <a:solidFill>
                    <a:srgbClr val="FFFFFF"/>
                  </a:solidFill>
                  <a:latin typeface="Times New Roman" panose="02020603050405020304"/>
                  <a:cs typeface="Times New Roman" panose="02020603050405020304"/>
                </a:rPr>
                <a:t>Technology</a:t>
              </a:r>
              <a:endParaRPr lang="en-US" sz="1600" kern="0" dirty="0">
                <a:solidFill>
                  <a:sysClr val="windowText" lastClr="000000"/>
                </a:solidFill>
                <a:latin typeface="Times New Roman" panose="02020603050405020304"/>
                <a:cs typeface="Times New Roman" panose="02020603050405020304"/>
              </a:endParaRPr>
            </a:p>
            <a:p>
              <a:endParaRPr lang="en-US" dirty="0"/>
            </a:p>
          </p:txBody>
        </p:sp>
        <p:sp>
          <p:nvSpPr>
            <p:cNvPr id="6162" name="object 5"/>
            <p:cNvSpPr/>
            <p:nvPr/>
          </p:nvSpPr>
          <p:spPr>
            <a:xfrm>
              <a:off x="11754359" y="6642176"/>
              <a:ext cx="437515" cy="220979"/>
            </a:xfrm>
            <a:custGeom>
              <a:avLst/>
              <a:gdLst/>
              <a:ahLst/>
              <a:cxnLst>
                <a:cxn ang="0">
                  <a:pos x="437399" y="220679"/>
                </a:cxn>
                <a:cxn ang="0">
                  <a:pos x="0" y="220679"/>
                </a:cxn>
                <a:cxn ang="0">
                  <a:pos x="0" y="0"/>
                </a:cxn>
                <a:cxn ang="0">
                  <a:pos x="437399" y="0"/>
                </a:cxn>
                <a:cxn ang="0">
                  <a:pos x="437399" y="220679"/>
                </a:cxn>
              </a:cxnLst>
              <a:rect l="0" t="0" r="0" b="0"/>
              <a:pathLst>
                <a:path w="437515" h="220979">
                  <a:moveTo>
                    <a:pt x="437399" y="220679"/>
                  </a:moveTo>
                  <a:lnTo>
                    <a:pt x="0" y="220679"/>
                  </a:lnTo>
                  <a:lnTo>
                    <a:pt x="0" y="0"/>
                  </a:lnTo>
                  <a:lnTo>
                    <a:pt x="437399" y="0"/>
                  </a:lnTo>
                  <a:lnTo>
                    <a:pt x="437399" y="220679"/>
                  </a:lnTo>
                  <a:close/>
                </a:path>
              </a:pathLst>
            </a:custGeom>
            <a:solidFill>
              <a:srgbClr val="FFC000">
                <a:alpha val="100000"/>
              </a:srgbClr>
            </a:solidFill>
            <a:ln w="9525">
              <a:noFill/>
            </a:ln>
          </p:spPr>
          <p:txBody>
            <a:bodyPr/>
            <a:lstStyle/>
            <a:p>
              <a:r>
                <a:rPr lang="en-US" dirty="0"/>
                <a:t>  1</a:t>
              </a:r>
            </a:p>
          </p:txBody>
        </p:sp>
      </p:grpSp>
      <p:sp>
        <p:nvSpPr>
          <p:cNvPr id="6147" name="object 6"/>
          <p:cNvSpPr/>
          <p:nvPr/>
        </p:nvSpPr>
        <p:spPr>
          <a:xfrm>
            <a:off x="0" y="0"/>
            <a:ext cx="12192000" cy="312737"/>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r>
              <a:rPr lang="en-US" dirty="0"/>
              <a:t>                                                   </a:t>
            </a:r>
            <a:r>
              <a:rPr lang="en-US" sz="1600" dirty="0">
                <a:solidFill>
                  <a:schemeClr val="bg1"/>
                </a:solidFill>
              </a:rPr>
              <a:t>Remote sensing Image scene Classification on LULC using DL</a:t>
            </a:r>
          </a:p>
        </p:txBody>
      </p:sp>
      <p:sp>
        <p:nvSpPr>
          <p:cNvPr id="6148" name="object 7"/>
          <p:cNvSpPr/>
          <p:nvPr/>
        </p:nvSpPr>
        <p:spPr>
          <a:xfrm>
            <a:off x="0" y="6634163"/>
            <a:ext cx="777875" cy="222250"/>
          </a:xfrm>
          <a:custGeom>
            <a:avLst/>
            <a:gdLst/>
            <a:ahLst/>
            <a:cxnLst>
              <a:cxn ang="0">
                <a:pos x="778149" y="222307"/>
              </a:cxn>
              <a:cxn ang="0">
                <a:pos x="0" y="222307"/>
              </a:cxn>
              <a:cxn ang="0">
                <a:pos x="0" y="0"/>
              </a:cxn>
              <a:cxn ang="0">
                <a:pos x="778149" y="0"/>
              </a:cxn>
              <a:cxn ang="0">
                <a:pos x="778149" y="222307"/>
              </a:cxn>
            </a:cxnLst>
            <a:rect l="0" t="0" r="0" b="0"/>
            <a:pathLst>
              <a:path w="777240" h="221615">
                <a:moveTo>
                  <a:pt x="776879" y="221039"/>
                </a:moveTo>
                <a:lnTo>
                  <a:pt x="0" y="221039"/>
                </a:lnTo>
                <a:lnTo>
                  <a:pt x="0" y="0"/>
                </a:lnTo>
                <a:lnTo>
                  <a:pt x="776879" y="0"/>
                </a:lnTo>
                <a:lnTo>
                  <a:pt x="776879" y="221039"/>
                </a:lnTo>
                <a:close/>
              </a:path>
            </a:pathLst>
          </a:custGeom>
          <a:solidFill>
            <a:srgbClr val="C55A11">
              <a:alpha val="100000"/>
            </a:srgbClr>
          </a:solidFill>
          <a:ln w="9525">
            <a:noFill/>
          </a:ln>
        </p:spPr>
        <p:txBody>
          <a:bodyPr/>
          <a:lstStyle/>
          <a:p>
            <a:r>
              <a:rPr lang="en-US" dirty="0"/>
              <a:t>  </a:t>
            </a:r>
            <a:r>
              <a:rPr lang="en-US" dirty="0">
                <a:solidFill>
                  <a:schemeClr val="bg1"/>
                </a:solidFill>
              </a:rPr>
              <a:t>A-19</a:t>
            </a:r>
          </a:p>
        </p:txBody>
      </p:sp>
      <p:sp>
        <p:nvSpPr>
          <p:cNvPr id="8" name="object 8"/>
          <p:cNvSpPr txBox="1"/>
          <p:nvPr/>
        </p:nvSpPr>
        <p:spPr>
          <a:xfrm>
            <a:off x="7727950" y="1762125"/>
            <a:ext cx="2711450" cy="423834"/>
          </a:xfrm>
          <a:prstGeom prst="rect">
            <a:avLst/>
          </a:prstGeom>
        </p:spPr>
        <p:txBody>
          <a:bodyPr wrap="square" lIns="0" tIns="13335" rIns="0" bIns="0">
            <a:spAutoFit/>
          </a:bodyPr>
          <a:lstStyle/>
          <a:p>
            <a:pPr algn="ctr" eaLnBrk="1" hangingPunct="1">
              <a:lnSpc>
                <a:spcPts val="2075"/>
              </a:lnSpc>
              <a:spcBef>
                <a:spcPts val="100"/>
              </a:spcBef>
              <a:buNone/>
            </a:pPr>
            <a:r>
              <a:rPr lang="en-IN" altLang="zh-CN" sz="2000" dirty="0">
                <a:solidFill>
                  <a:srgbClr val="000000"/>
                </a:solidFill>
                <a:latin typeface="Times New Roman" panose="02020603050405020304" pitchFamily="18" charset="0"/>
                <a:cs typeface="Times New Roman" panose="02020603050405020304" pitchFamily="18" charset="0"/>
              </a:rPr>
              <a:t>T.JAGAN</a:t>
            </a:r>
            <a:endParaRPr lang="zh-CN" altLang="x-none" sz="20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1100" dirty="0">
                <a:solidFill>
                  <a:srgbClr val="000000"/>
                </a:solidFill>
                <a:latin typeface="Times New Roman" panose="02020603050405020304" pitchFamily="18" charset="0"/>
                <a:cs typeface="Times New Roman" panose="02020603050405020304" pitchFamily="18" charset="0"/>
              </a:rPr>
              <a:t>Roll No. </a:t>
            </a:r>
            <a:r>
              <a:rPr lang="en-IN" altLang="zh-CN" sz="1100" dirty="0">
                <a:solidFill>
                  <a:srgbClr val="000000"/>
                </a:solidFill>
                <a:latin typeface="Times New Roman" panose="02020603050405020304" pitchFamily="18" charset="0"/>
                <a:cs typeface="Times New Roman" panose="02020603050405020304" pitchFamily="18" charset="0"/>
              </a:rPr>
              <a:t>224G1A0531</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sp>
        <p:nvSpPr>
          <p:cNvPr id="6150" name="object 9"/>
          <p:cNvSpPr txBox="1"/>
          <p:nvPr/>
        </p:nvSpPr>
        <p:spPr>
          <a:xfrm>
            <a:off x="3657600" y="2312670"/>
            <a:ext cx="5181600" cy="1130935"/>
          </a:xfrm>
          <a:prstGeom prst="rect">
            <a:avLst/>
          </a:prstGeom>
          <a:noFill/>
          <a:ln w="9525">
            <a:noFill/>
          </a:ln>
        </p:spPr>
        <p:txBody>
          <a:bodyPr lIns="0" tIns="12700" rIns="0" bIns="0">
            <a:noAutofit/>
          </a:bodyPr>
          <a:lstStyle/>
          <a:p>
            <a:pPr algn="ctr" eaLnBrk="1" hangingPunct="1">
              <a:lnSpc>
                <a:spcPts val="1625"/>
              </a:lnSpc>
              <a:spcBef>
                <a:spcPts val="100"/>
              </a:spcBef>
            </a:pPr>
            <a:r>
              <a:rPr lang="en-US" altLang="en-US" sz="1600" i="1" dirty="0">
                <a:solidFill>
                  <a:srgbClr val="000000"/>
                </a:solidFill>
                <a:latin typeface="Times New Roman" panose="02020603050405020304" pitchFamily="18" charset="0"/>
                <a:cs typeface="Times New Roman" panose="02020603050405020304" pitchFamily="18" charset="0"/>
              </a:rPr>
              <a:t>Under the guidance of</a:t>
            </a:r>
            <a:endParaRPr lang="en-US" altLang="en-US" sz="16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2790"/>
              </a:lnSpc>
              <a:spcBef>
                <a:spcPts val="115"/>
              </a:spcBef>
            </a:pPr>
            <a:r>
              <a:rPr lang="en-US" altLang="en-US" sz="2000" b="1" dirty="0">
                <a:solidFill>
                  <a:srgbClr val="000000"/>
                </a:solidFill>
                <a:latin typeface="Times New Roman" panose="02020603050405020304" pitchFamily="18" charset="0"/>
                <a:cs typeface="Times New Roman" panose="02020603050405020304" pitchFamily="18" charset="0"/>
              </a:rPr>
              <a:t>Ms. G. Lokeswari </a:t>
            </a:r>
            <a:r>
              <a:rPr lang="en-US" altLang="en-US" sz="2000" baseline="-25000" dirty="0">
                <a:solidFill>
                  <a:srgbClr val="000000"/>
                </a:solidFill>
                <a:latin typeface="Times New Roman" panose="02020603050405020304" pitchFamily="18" charset="0"/>
                <a:cs typeface="Times New Roman" panose="02020603050405020304" pitchFamily="18" charset="0"/>
              </a:rPr>
              <a:t>M.Tech.,</a:t>
            </a:r>
            <a:r>
              <a:rPr lang="en-US" altLang="en-US" sz="2000" dirty="0">
                <a:solidFill>
                  <a:srgbClr val="000000"/>
                </a:solidFill>
                <a:latin typeface="Times New Roman" panose="02020603050405020304" pitchFamily="18" charset="0"/>
                <a:cs typeface="Times New Roman" panose="02020603050405020304" pitchFamily="18" charset="0"/>
              </a:rPr>
              <a:t> </a:t>
            </a:r>
            <a:r>
              <a:rPr lang="en-US" altLang="en-US" sz="2000" baseline="-25000" dirty="0">
                <a:solidFill>
                  <a:srgbClr val="000000"/>
                </a:solidFill>
                <a:latin typeface="Times New Roman" panose="02020603050405020304" pitchFamily="18" charset="0"/>
                <a:cs typeface="Times New Roman" panose="02020603050405020304" pitchFamily="18" charset="0"/>
              </a:rPr>
              <a:t>(Ph</a:t>
            </a:r>
            <a:r>
              <a:rPr lang="en-US" altLang="en-US" sz="2000" baseline="-25000" dirty="0">
                <a:solidFill>
                  <a:srgbClr val="000000"/>
                </a:solidFill>
                <a:latin typeface="Arial" panose="020B0604020202020204" pitchFamily="34" charset="0"/>
              </a:rPr>
              <a:t>.D)</a:t>
            </a:r>
          </a:p>
          <a:p>
            <a:pPr algn="ctr" eaLnBrk="1" hangingPunct="1">
              <a:lnSpc>
                <a:spcPts val="2790"/>
              </a:lnSpc>
              <a:spcBef>
                <a:spcPts val="115"/>
              </a:spcBef>
            </a:pPr>
            <a:r>
              <a:rPr lang="en-IN" altLang="en-US" sz="2000" baseline="-25000" dirty="0">
                <a:solidFill>
                  <a:srgbClr val="000000"/>
                </a:solidFill>
                <a:latin typeface="Arial" panose="020B0604020202020204" pitchFamily="34" charset="0"/>
              </a:rPr>
              <a:t>Assistant Professor</a:t>
            </a:r>
            <a:endParaRPr lang="en-US" altLang="en-US" sz="2000" baseline="-25000" dirty="0">
              <a:solidFill>
                <a:srgbClr val="000000"/>
              </a:solidFill>
              <a:latin typeface="Arial" panose="020B0604020202020204" pitchFamily="34" charset="0"/>
            </a:endParaRPr>
          </a:p>
          <a:p>
            <a:pPr algn="ctr" eaLnBrk="1" hangingPunct="1">
              <a:lnSpc>
                <a:spcPts val="2790"/>
              </a:lnSpc>
              <a:spcBef>
                <a:spcPts val="115"/>
              </a:spcBef>
            </a:pPr>
            <a:endParaRPr lang="en-IN" altLang="en-US" sz="2000" dirty="0">
              <a:solidFill>
                <a:srgbClr val="000000"/>
              </a:solidFill>
              <a:latin typeface="Arial" panose="020B0604020202020204" pitchFamily="34" charset="0"/>
            </a:endParaRPr>
          </a:p>
          <a:p>
            <a:pPr algn="ctr" eaLnBrk="1" hangingPunct="1">
              <a:lnSpc>
                <a:spcPts val="2790"/>
              </a:lnSpc>
              <a:spcBef>
                <a:spcPts val="115"/>
              </a:spcBef>
            </a:pPr>
            <a:endParaRPr lang="en-US" altLang="en-US" sz="2400" dirty="0">
              <a:solidFill>
                <a:srgbClr val="000000"/>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2147888" y="5095875"/>
            <a:ext cx="7889875" cy="1449388"/>
          </a:xfrm>
          <a:prstGeom prst="rect">
            <a:avLst/>
          </a:prstGeom>
        </p:spPr>
        <p:txBody>
          <a:bodyPr lIns="0" tIns="13335" rIns="0" bIns="0">
            <a:spAutoFit/>
          </a:bodyPr>
          <a:lstStyle/>
          <a:p>
            <a:pPr marL="3175" algn="ctr" eaLnBrk="1" hangingPunct="1">
              <a:lnSpc>
                <a:spcPts val="2300"/>
              </a:lnSpc>
              <a:spcBef>
                <a:spcPts val="100"/>
              </a:spcBef>
              <a:buNone/>
            </a:pPr>
            <a:r>
              <a:rPr lang="zh-CN" altLang="x-none" sz="2200" dirty="0">
                <a:solidFill>
                  <a:srgbClr val="000000"/>
                </a:solidFill>
                <a:latin typeface="Times New Roman" panose="02020603050405020304" pitchFamily="18" charset="0"/>
                <a:cs typeface="Times New Roman" panose="02020603050405020304" pitchFamily="18" charset="0"/>
              </a:rPr>
              <a:t>Department of Computer Science and Engineering</a:t>
            </a:r>
          </a:p>
          <a:p>
            <a:pPr marL="3175" algn="ctr" eaLnBrk="1" hangingPunct="1">
              <a:lnSpc>
                <a:spcPts val="3565"/>
              </a:lnSpc>
              <a:buNone/>
            </a:pPr>
            <a:r>
              <a:rPr lang="zh-CN" altLang="x-none" sz="3400" dirty="0">
                <a:solidFill>
                  <a:srgbClr val="FF0000"/>
                </a:solidFill>
                <a:latin typeface="Times New Roman" panose="02020603050405020304" pitchFamily="18" charset="0"/>
                <a:cs typeface="Times New Roman" panose="02020603050405020304" pitchFamily="18" charset="0"/>
              </a:rPr>
              <a:t>Srinivasa Ramanujan Institute of Technology</a:t>
            </a:r>
            <a:endParaRPr lang="zh-CN" altLang="x-none" sz="34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850"/>
              </a:lnSpc>
              <a:buNone/>
            </a:pPr>
            <a:r>
              <a:rPr lang="zh-CN" altLang="x-none" sz="1700" b="1" dirty="0">
                <a:solidFill>
                  <a:srgbClr val="000000"/>
                </a:solidFill>
                <a:latin typeface="Times New Roman" panose="02020603050405020304" pitchFamily="18" charset="0"/>
                <a:cs typeface="Times New Roman" panose="02020603050405020304" pitchFamily="18" charset="0"/>
              </a:rPr>
              <a:t>Autonomous</a:t>
            </a:r>
            <a:endParaRPr lang="zh-CN" altLang="x-none" sz="17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375"/>
              </a:lnSpc>
              <a:buNone/>
            </a:pPr>
            <a:r>
              <a:rPr lang="zh-CN" altLang="x-none" sz="1200" b="1" dirty="0">
                <a:solidFill>
                  <a:srgbClr val="000000"/>
                </a:solidFill>
                <a:latin typeface="Times New Roman" panose="02020603050405020304" pitchFamily="18" charset="0"/>
                <a:cs typeface="Times New Roman" panose="02020603050405020304" pitchFamily="18" charset="0"/>
              </a:rPr>
              <a:t>Rotarypuram Village, B K Samudram Mandal, Ananthapuramu – 515701.</a:t>
            </a:r>
            <a:endParaRPr lang="zh-CN" altLang="x-none" sz="1200" dirty="0">
              <a:solidFill>
                <a:srgbClr val="000000"/>
              </a:solidFill>
              <a:latin typeface="Times New Roman" panose="02020603050405020304" pitchFamily="18" charset="0"/>
              <a:cs typeface="Times New Roman" panose="02020603050405020304" pitchFamily="18" charset="0"/>
            </a:endParaRPr>
          </a:p>
          <a:p>
            <a:pPr marL="3175" algn="ctr" eaLnBrk="1" hangingPunct="1">
              <a:spcBef>
                <a:spcPts val="550"/>
              </a:spcBef>
              <a:buNone/>
            </a:pP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5</a:t>
            </a: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6</a:t>
            </a:r>
            <a:endParaRPr lang="zh-CN" altLang="x-none" sz="1300" dirty="0">
              <a:solidFill>
                <a:srgbClr val="000000"/>
              </a:solidFill>
              <a:latin typeface="Times New Roman" panose="02020603050405020304" pitchFamily="18" charset="0"/>
              <a:ea typeface="Times New Roman" panose="02020603050405020304" pitchFamily="18" charset="0"/>
            </a:endParaRPr>
          </a:p>
        </p:txBody>
      </p:sp>
      <p:sp>
        <p:nvSpPr>
          <p:cNvPr id="11" name="object 11"/>
          <p:cNvSpPr txBox="1"/>
          <p:nvPr/>
        </p:nvSpPr>
        <p:spPr>
          <a:xfrm>
            <a:off x="4753281" y="1691666"/>
            <a:ext cx="2927350" cy="465138"/>
          </a:xfrm>
          <a:prstGeom prst="rect">
            <a:avLst/>
          </a:prstGeom>
        </p:spPr>
        <p:txBody>
          <a:bodyPr wrap="square" lIns="0" tIns="14605" rIns="0" bIns="0">
            <a:spAutoFit/>
          </a:bodyPr>
          <a:lstStyle/>
          <a:p>
            <a:pPr algn="ctr" eaLnBrk="1" hangingPunct="1">
              <a:lnSpc>
                <a:spcPts val="2375"/>
              </a:lnSpc>
              <a:spcBef>
                <a:spcPts val="115"/>
              </a:spcBef>
              <a:buNone/>
            </a:pPr>
            <a:r>
              <a:rPr lang="en-IN" altLang="zh-CN" sz="2000" dirty="0">
                <a:solidFill>
                  <a:srgbClr val="000000"/>
                </a:solidFill>
                <a:latin typeface="Times New Roman" panose="02020603050405020304" pitchFamily="18" charset="0"/>
                <a:cs typeface="Times New Roman" panose="02020603050405020304" pitchFamily="18" charset="0"/>
              </a:rPr>
              <a:t>P.NAVADEEP</a:t>
            </a:r>
            <a:endParaRPr lang="zh-CN" altLang="x-none" sz="20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1100" dirty="0">
                <a:solidFill>
                  <a:srgbClr val="000000"/>
                </a:solidFill>
                <a:latin typeface="Times New Roman" panose="02020603050405020304" pitchFamily="18" charset="0"/>
                <a:cs typeface="Times New Roman" panose="02020603050405020304" pitchFamily="18" charset="0"/>
              </a:rPr>
              <a:t>Roll No. </a:t>
            </a:r>
            <a:r>
              <a:rPr sz="1100" dirty="0">
                <a:solidFill>
                  <a:srgbClr val="000000"/>
                </a:solidFill>
                <a:latin typeface="Times New Roman" panose="02020603050405020304" pitchFamily="18" charset="0"/>
                <a:cs typeface="Times New Roman" panose="02020603050405020304" pitchFamily="18" charset="0"/>
              </a:rPr>
              <a:t>2</a:t>
            </a:r>
            <a:r>
              <a:rPr lang="en-IN" sz="1100" dirty="0">
                <a:solidFill>
                  <a:srgbClr val="000000"/>
                </a:solidFill>
                <a:latin typeface="Times New Roman" panose="02020603050405020304" pitchFamily="18" charset="0"/>
                <a:cs typeface="Times New Roman" panose="02020603050405020304" pitchFamily="18" charset="0"/>
              </a:rPr>
              <a:t>34G5A0509</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sp>
        <p:nvSpPr>
          <p:cNvPr id="13" name="object 13"/>
          <p:cNvSpPr txBox="1"/>
          <p:nvPr/>
        </p:nvSpPr>
        <p:spPr>
          <a:xfrm>
            <a:off x="2438401" y="1658938"/>
            <a:ext cx="2205038" cy="490519"/>
          </a:xfrm>
          <a:prstGeom prst="rect">
            <a:avLst/>
          </a:prstGeom>
        </p:spPr>
        <p:txBody>
          <a:bodyPr wrap="square" lIns="0" tIns="13335" rIns="0" bIns="0">
            <a:spAutoFit/>
          </a:bodyPr>
          <a:lstStyle/>
          <a:p>
            <a:pPr algn="ctr" eaLnBrk="1" hangingPunct="1">
              <a:spcBef>
                <a:spcPts val="100"/>
              </a:spcBef>
              <a:buNone/>
            </a:pPr>
            <a:r>
              <a:rPr lang="en-IN" altLang="zh-CN" sz="2000" dirty="0">
                <a:solidFill>
                  <a:srgbClr val="000000"/>
                </a:solidFill>
                <a:latin typeface="Times New Roman" panose="02020603050405020304" pitchFamily="18" charset="0"/>
                <a:cs typeface="Times New Roman" panose="02020603050405020304" pitchFamily="18" charset="0"/>
              </a:rPr>
              <a:t>J.GOWRI</a:t>
            </a:r>
            <a:endParaRPr lang="zh-CN" altLang="x-none" sz="2000" dirty="0">
              <a:solidFill>
                <a:srgbClr val="000000"/>
              </a:solidFill>
              <a:latin typeface="Times New Roman" panose="02020603050405020304" pitchFamily="18" charset="0"/>
              <a:cs typeface="Times New Roman" panose="02020603050405020304" pitchFamily="18" charset="0"/>
            </a:endParaRPr>
          </a:p>
          <a:p>
            <a:pPr algn="ctr" eaLnBrk="1" hangingPunct="1">
              <a:spcBef>
                <a:spcPts val="40"/>
              </a:spcBef>
              <a:buNone/>
            </a:pPr>
            <a:r>
              <a:rPr lang="zh-CN" altLang="x-none" sz="1100" dirty="0">
                <a:solidFill>
                  <a:srgbClr val="000000"/>
                </a:solidFill>
                <a:latin typeface="Times New Roman" panose="02020603050405020304" pitchFamily="18" charset="0"/>
                <a:cs typeface="Times New Roman" panose="02020603050405020304" pitchFamily="18" charset="0"/>
              </a:rPr>
              <a:t>Roll No. 2</a:t>
            </a:r>
            <a:r>
              <a:rPr sz="1100" dirty="0">
                <a:solidFill>
                  <a:srgbClr val="000000"/>
                </a:solidFill>
                <a:latin typeface="Times New Roman" panose="02020603050405020304" pitchFamily="18" charset="0"/>
                <a:cs typeface="Times New Roman" panose="02020603050405020304" pitchFamily="18" charset="0"/>
              </a:rPr>
              <a:t>2</a:t>
            </a:r>
            <a:r>
              <a:rPr lang="zh-CN" altLang="x-none" sz="1100" dirty="0">
                <a:solidFill>
                  <a:srgbClr val="000000"/>
                </a:solidFill>
                <a:latin typeface="Times New Roman" panose="02020603050405020304" pitchFamily="18" charset="0"/>
                <a:cs typeface="Times New Roman" panose="02020603050405020304" pitchFamily="18" charset="0"/>
              </a:rPr>
              <a:t>4G1A05</a:t>
            </a:r>
            <a:r>
              <a:rPr lang="en-IN" altLang="zh-CN" sz="1100" dirty="0">
                <a:solidFill>
                  <a:srgbClr val="000000"/>
                </a:solidFill>
                <a:latin typeface="Times New Roman" panose="02020603050405020304" pitchFamily="18" charset="0"/>
                <a:cs typeface="Times New Roman" panose="02020603050405020304" pitchFamily="18" charset="0"/>
              </a:rPr>
              <a:t>21</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grpSp>
        <p:nvGrpSpPr>
          <p:cNvPr id="6154" name="object 14"/>
          <p:cNvGrpSpPr/>
          <p:nvPr/>
        </p:nvGrpSpPr>
        <p:grpSpPr>
          <a:xfrm>
            <a:off x="822408" y="328912"/>
            <a:ext cx="10609263" cy="958049"/>
            <a:chOff x="715009" y="318271"/>
            <a:chExt cx="10608310" cy="937894"/>
          </a:xfrm>
        </p:grpSpPr>
        <p:pic>
          <p:nvPicPr>
            <p:cNvPr id="6158" name="object 15"/>
            <p:cNvPicPr>
              <a:picLocks noChangeAspect="1"/>
            </p:cNvPicPr>
            <p:nvPr/>
          </p:nvPicPr>
          <p:blipFill>
            <a:blip r:embed="rId3"/>
            <a:stretch>
              <a:fillRect/>
            </a:stretch>
          </p:blipFill>
          <p:spPr>
            <a:xfrm>
              <a:off x="715009" y="318271"/>
              <a:ext cx="10608182" cy="937864"/>
            </a:xfrm>
            <a:prstGeom prst="rect">
              <a:avLst/>
            </a:prstGeom>
            <a:noFill/>
            <a:ln w="9525">
              <a:noFill/>
            </a:ln>
          </p:spPr>
        </p:pic>
        <p:sp>
          <p:nvSpPr>
            <p:cNvPr id="6159" name="object 16"/>
            <p:cNvSpPr/>
            <p:nvPr/>
          </p:nvSpPr>
          <p:spPr>
            <a:xfrm>
              <a:off x="755008" y="335270"/>
              <a:ext cx="10528300" cy="857885"/>
            </a:xfrm>
            <a:custGeom>
              <a:avLst/>
              <a:gdLst/>
              <a:ahLst/>
              <a:cxnLst>
                <a:cxn ang="0">
                  <a:pos x="10385202" y="857863"/>
                </a:cxn>
                <a:cxn ang="0">
                  <a:pos x="142980" y="857863"/>
                </a:cxn>
                <a:cxn ang="0">
                  <a:pos x="97787" y="850574"/>
                </a:cxn>
                <a:cxn ang="0">
                  <a:pos x="58537" y="830277"/>
                </a:cxn>
                <a:cxn ang="0">
                  <a:pos x="27586" y="799326"/>
                </a:cxn>
                <a:cxn ang="0">
                  <a:pos x="7289" y="760076"/>
                </a:cxn>
                <a:cxn ang="0">
                  <a:pos x="0" y="714883"/>
                </a:cxn>
                <a:cxn ang="0">
                  <a:pos x="0" y="142980"/>
                </a:cxn>
                <a:cxn ang="0">
                  <a:pos x="7289" y="97787"/>
                </a:cxn>
                <a:cxn ang="0">
                  <a:pos x="27586" y="58537"/>
                </a:cxn>
                <a:cxn ang="0">
                  <a:pos x="58537" y="27586"/>
                </a:cxn>
                <a:cxn ang="0">
                  <a:pos x="97787" y="7289"/>
                </a:cxn>
                <a:cxn ang="0">
                  <a:pos x="142980" y="0"/>
                </a:cxn>
                <a:cxn ang="0">
                  <a:pos x="10385202" y="0"/>
                </a:cxn>
                <a:cxn ang="0">
                  <a:pos x="10439918" y="10883"/>
                </a:cxn>
                <a:cxn ang="0">
                  <a:pos x="10486304" y="41877"/>
                </a:cxn>
                <a:cxn ang="0">
                  <a:pos x="10517299" y="88264"/>
                </a:cxn>
                <a:cxn ang="0">
                  <a:pos x="10528183" y="142980"/>
                </a:cxn>
                <a:cxn ang="0">
                  <a:pos x="10528183" y="714883"/>
                </a:cxn>
                <a:cxn ang="0">
                  <a:pos x="10520894" y="760076"/>
                </a:cxn>
                <a:cxn ang="0">
                  <a:pos x="10500596" y="799326"/>
                </a:cxn>
                <a:cxn ang="0">
                  <a:pos x="10469645" y="830277"/>
                </a:cxn>
                <a:cxn ang="0">
                  <a:pos x="10430395" y="850574"/>
                </a:cxn>
                <a:cxn ang="0">
                  <a:pos x="10385202" y="857863"/>
                </a:cxn>
              </a:cxnLst>
              <a:rect l="0" t="0" r="0" b="0"/>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alpha val="100000"/>
              </a:srgbClr>
            </a:solidFill>
            <a:ln w="9525">
              <a:noFill/>
            </a:ln>
          </p:spPr>
          <p:txBody>
            <a:bodyPr/>
            <a:lstStyle/>
            <a:p>
              <a:endParaRPr lang="en-US"/>
            </a:p>
          </p:txBody>
        </p:sp>
      </p:grpSp>
      <p:sp>
        <p:nvSpPr>
          <p:cNvPr id="6155" name="object 17"/>
          <p:cNvSpPr>
            <a:spLocks noGrp="1"/>
          </p:cNvSpPr>
          <p:nvPr>
            <p:ph type="title"/>
          </p:nvPr>
        </p:nvSpPr>
        <p:spPr>
          <a:xfrm>
            <a:off x="152400" y="311013"/>
            <a:ext cx="11217192" cy="876321"/>
          </a:xfrm>
          <a:ln/>
        </p:spPr>
        <p:txBody>
          <a:bodyPr vert="horz" wrap="square" lIns="0" tIns="12700" rIns="0" bIns="0" anchor="t" anchorCtr="0">
            <a:spAutoFit/>
          </a:bodyPr>
          <a:lstStyle/>
          <a:p>
            <a:r>
              <a:rPr lang="en-US" sz="2800" b="1" dirty="0"/>
              <a:t>              Remote Sensing Image Classification Of Land Use Land Cover Using Deep Learning</a:t>
            </a:r>
            <a:endParaRPr lang="en-IN" sz="2800" b="1" dirty="0"/>
          </a:p>
        </p:txBody>
      </p:sp>
      <p:sp>
        <p:nvSpPr>
          <p:cNvPr id="18" name="object 18"/>
          <p:cNvSpPr txBox="1"/>
          <p:nvPr/>
        </p:nvSpPr>
        <p:spPr>
          <a:xfrm>
            <a:off x="5988050" y="1279525"/>
            <a:ext cx="215900" cy="268288"/>
          </a:xfrm>
          <a:prstGeom prst="rect">
            <a:avLst/>
          </a:prstGeom>
        </p:spPr>
        <p:txBody>
          <a:bodyPr lIns="0" tIns="12700" rIns="0" bIns="0">
            <a:spAutoFit/>
          </a:bodyPr>
          <a:lstStyle/>
          <a:p>
            <a:pPr marL="12700" marR="0" defTabSz="914400" eaLnBrk="1" fontAlgn="auto" hangingPunct="1">
              <a:spcBef>
                <a:spcPts val="100"/>
              </a:spcBef>
              <a:spcAft>
                <a:spcPts val="0"/>
              </a:spcAft>
              <a:buClrTx/>
              <a:buSzTx/>
              <a:buFontTx/>
              <a:buNone/>
              <a:defRPr/>
            </a:pPr>
            <a:r>
              <a:rPr kumimoji="0" lang="en-US" sz="1600" i="1" kern="0" cap="none" spc="-25" normalizeH="0" baseline="0" noProof="0" dirty="0">
                <a:solidFill>
                  <a:sysClr val="windowText" lastClr="000000"/>
                </a:solidFill>
                <a:latin typeface="Times New Roman" panose="02020603050405020304"/>
                <a:ea typeface="+mn-ea"/>
                <a:cs typeface="Times New Roman" panose="02020603050405020304"/>
              </a:rPr>
              <a:t>by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6157" name="object 19"/>
          <p:cNvPicPr>
            <a:picLocks noChangeAspect="1"/>
          </p:cNvPicPr>
          <p:nvPr/>
        </p:nvPicPr>
        <p:blipFill>
          <a:blip r:embed="rId4"/>
          <a:stretch>
            <a:fillRect/>
          </a:stretch>
        </p:blipFill>
        <p:spPr>
          <a:xfrm>
            <a:off x="5329238" y="3351213"/>
            <a:ext cx="1527175" cy="1685925"/>
          </a:xfrm>
          <a:prstGeom prst="rect">
            <a:avLst/>
          </a:prstGeom>
          <a:noFill/>
          <a:ln w="9525">
            <a:noFill/>
          </a:ln>
        </p:spPr>
      </p:pic>
      <p:pic>
        <p:nvPicPr>
          <p:cNvPr id="3" name="Picture 2">
            <a:extLst>
              <a:ext uri="{FF2B5EF4-FFF2-40B4-BE49-F238E27FC236}">
                <a16:creationId xmlns:a16="http://schemas.microsoft.com/office/drawing/2014/main" id="{5E7F8D38-AC55-56AF-29C8-8419A8D3E465}"/>
              </a:ext>
            </a:extLst>
          </p:cNvPr>
          <p:cNvPicPr>
            <a:picLocks noChangeAspect="1"/>
          </p:cNvPicPr>
          <p:nvPr/>
        </p:nvPicPr>
        <p:blipFill>
          <a:blip r:embed="rId5"/>
          <a:stretch>
            <a:fillRect/>
          </a:stretch>
        </p:blipFill>
        <p:spPr>
          <a:xfrm>
            <a:off x="791146" y="6641911"/>
            <a:ext cx="10363200" cy="2125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bject 2"/>
          <p:cNvSpPr txBox="1"/>
          <p:nvPr/>
        </p:nvSpPr>
        <p:spPr>
          <a:xfrm>
            <a:off x="2590800" y="-33337"/>
            <a:ext cx="6221413" cy="259045"/>
          </a:xfrm>
          <a:prstGeom prst="rect">
            <a:avLst/>
          </a:prstGeom>
          <a:noFill/>
          <a:ln w="9525">
            <a:noFill/>
          </a:ln>
        </p:spPr>
        <p:txBody>
          <a:bodyPr wrap="square" lIns="0" tIns="12700" rIns="0" bIns="0">
            <a:spAutoFit/>
          </a:bodyPr>
          <a:lstStyle/>
          <a:p>
            <a:pPr marL="12700" eaLnBrk="1" hangingPunct="1">
              <a:spcBef>
                <a:spcPts val="100"/>
              </a:spcBef>
            </a:pPr>
            <a:r>
              <a:rPr lang="en-US" sz="1600" dirty="0">
                <a:solidFill>
                  <a:schemeClr val="bg1"/>
                </a:solidFill>
              </a:rPr>
              <a:t>      Remote sensing Image scene Classification on LULC using DL</a:t>
            </a:r>
            <a:endParaRPr lang="en-US" altLang="en-US" sz="1500" dirty="0">
              <a:solidFill>
                <a:schemeClr val="bg1"/>
              </a:solidFill>
              <a:latin typeface="Times New Roman" panose="02020603050405020304" pitchFamily="18" charset="0"/>
              <a:ea typeface="Times New Roman" panose="02020603050405020304" pitchFamily="18" charset="0"/>
            </a:endParaRPr>
          </a:p>
        </p:txBody>
      </p:sp>
      <p:grpSp>
        <p:nvGrpSpPr>
          <p:cNvPr id="7171" name="object 3"/>
          <p:cNvGrpSpPr/>
          <p:nvPr/>
        </p:nvGrpSpPr>
        <p:grpSpPr>
          <a:xfrm>
            <a:off x="0" y="202101"/>
            <a:ext cx="12192000" cy="803275"/>
            <a:chOff x="0" y="212399"/>
            <a:chExt cx="12192000" cy="803275"/>
          </a:xfrm>
        </p:grpSpPr>
        <p:pic>
          <p:nvPicPr>
            <p:cNvPr id="7178" name="object 4"/>
            <p:cNvPicPr>
              <a:picLocks noChangeAspect="1"/>
            </p:cNvPicPr>
            <p:nvPr/>
          </p:nvPicPr>
          <p:blipFill>
            <a:blip r:embed="rId2"/>
            <a:stretch>
              <a:fillRect/>
            </a:stretch>
          </p:blipFill>
          <p:spPr>
            <a:xfrm>
              <a:off x="0" y="212399"/>
              <a:ext cx="12192000" cy="803160"/>
            </a:xfrm>
            <a:prstGeom prst="rect">
              <a:avLst/>
            </a:prstGeom>
            <a:noFill/>
            <a:ln w="9525">
              <a:noFill/>
            </a:ln>
          </p:spPr>
        </p:pic>
        <p:sp>
          <p:nvSpPr>
            <p:cNvPr id="7179" name="object 5"/>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295400" y="182563"/>
            <a:ext cx="8077199" cy="1305486"/>
          </a:xfrm>
        </p:spPr>
        <p:txBody>
          <a:bodyPr vert="horz" wrap="square" lIns="0" tIns="12700" rIns="0" bIns="0" numCol="1" rtlCol="0" anchor="t" anchorCtr="0" compatLnSpc="1">
            <a:spAutoFit/>
          </a:bodyPr>
          <a:lstStyle/>
          <a:p>
            <a:pPr marL="12700" eaLnBrk="1" fontAlgn="auto" hangingPunct="1">
              <a:spcBef>
                <a:spcPts val="100"/>
              </a:spcBef>
              <a:spcAft>
                <a:spcPts val="0"/>
              </a:spcAft>
              <a:defRPr/>
            </a:pPr>
            <a:r>
              <a:rPr lang="en-US" sz="4000" dirty="0"/>
              <a:t>Queries From Review-0</a:t>
            </a:r>
            <a:br>
              <a:rPr lang="en-IN" dirty="0"/>
            </a:br>
            <a:endParaRPr kumimoji="0" lang="en-US"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450975" y="6629400"/>
            <a:ext cx="4645660" cy="252095"/>
          </a:xfrm>
          <a:noFill/>
        </p:spPr>
        <p:txBody>
          <a:bodyPr vert="horz" wrap="square" lIns="0" tIns="0" rIns="0" bIns="0" rtlCol="0">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zh-CN" altLang="x-none" sz="1600" dirty="0">
                <a:solidFill>
                  <a:schemeClr val="bg1"/>
                </a:solidFill>
                <a:latin typeface="Times New Roman" panose="02020603050405020304" pitchFamily="18" charset="0"/>
                <a:cs typeface="Times New Roman" panose="02020603050405020304" pitchFamily="18" charset="0"/>
              </a:rPr>
              <a:t>DEPT. OF COMPUTER SCIENCE AND</a:t>
            </a:r>
            <a:r>
              <a:rPr sz="1600" dirty="0">
                <a:solidFill>
                  <a:schemeClr val="bg1"/>
                </a:solidFill>
                <a:latin typeface="Times New Roman" panose="02020603050405020304" pitchFamily="18" charset="0"/>
                <a:cs typeface="Times New Roman" panose="02020603050405020304" pitchFamily="18" charset="0"/>
              </a:rPr>
              <a:t> </a:t>
            </a:r>
            <a:r>
              <a:rPr lang="zh-CN" altLang="x-none" sz="1600" dirty="0">
                <a:solidFill>
                  <a:schemeClr val="bg1"/>
                </a:solidFill>
                <a:latin typeface="Times New Roman" panose="02020603050405020304" pitchFamily="18" charset="0"/>
                <a:cs typeface="Times New Roman" panose="02020603050405020304" pitchFamily="18" charset="0"/>
              </a:rPr>
              <a:t>ENGINEERING</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7086600" y="6650892"/>
            <a:ext cx="4322763" cy="230188"/>
          </a:xfrm>
          <a:prstGeom prst="rect">
            <a:avLst/>
          </a:prstGeom>
        </p:spPr>
        <p:txBody>
          <a:bodyPr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B4E1554B-BE95-4FB1-AC37-FAB416F079D9}"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2</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7" name="object 7"/>
          <p:cNvSpPr txBox="1"/>
          <p:nvPr/>
        </p:nvSpPr>
        <p:spPr>
          <a:xfrm>
            <a:off x="325438" y="990600"/>
            <a:ext cx="9459913" cy="3167534"/>
          </a:xfrm>
          <a:prstGeom prst="rect">
            <a:avLst/>
          </a:prstGeom>
        </p:spPr>
        <p:txBody>
          <a:bodyPr lIns="0" tIns="96520" rIns="0" bIns="0">
            <a:spAutoFit/>
          </a:bodyPr>
          <a:lstStyle/>
          <a:p>
            <a:pPr marL="421005" indent="-408305" eaLnBrk="1" fontAlgn="auto" hangingPunct="1">
              <a:spcBef>
                <a:spcPts val="760"/>
              </a:spcBef>
              <a:spcAft>
                <a:spcPts val="0"/>
              </a:spcAft>
              <a:buFontTx/>
              <a:buChar char="•"/>
              <a:tabLst>
                <a:tab pos="421005" algn="l"/>
              </a:tabLst>
              <a:defRPr/>
            </a:pPr>
            <a:r>
              <a:rPr lang="en-US" sz="2600" dirty="0"/>
              <a:t>What is the main objective of your project?</a:t>
            </a:r>
            <a:endParaRPr kumimoji="0" lang="en-US" sz="2600" kern="0" cap="none" spc="-1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Who are the intended end users of this project, and how will they benefit from it?</a:t>
            </a:r>
            <a:endParaRPr kumimoji="0" lang="en-US"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What are the main algorithms used in this project, and why were they chosen?</a:t>
            </a:r>
            <a:endParaRPr kumimoji="0" lang="en-US"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Can you explain how this project works step by step from input to output?</a:t>
            </a:r>
            <a:endParaRPr kumimoji="0" lang="en-US" sz="2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D5F95-5288-F232-7416-CA562786A143}"/>
            </a:ext>
          </a:extLst>
        </p:cNvPr>
        <p:cNvGrpSpPr/>
        <p:nvPr/>
      </p:nvGrpSpPr>
      <p:grpSpPr>
        <a:xfrm>
          <a:off x="0" y="0"/>
          <a:ext cx="0" cy="0"/>
          <a:chOff x="0" y="0"/>
          <a:chExt cx="0" cy="0"/>
        </a:xfrm>
      </p:grpSpPr>
      <p:sp>
        <p:nvSpPr>
          <p:cNvPr id="7170" name="object 2">
            <a:extLst>
              <a:ext uri="{FF2B5EF4-FFF2-40B4-BE49-F238E27FC236}">
                <a16:creationId xmlns:a16="http://schemas.microsoft.com/office/drawing/2014/main" id="{971A8C81-09B0-8542-B112-5018C23B7EBA}"/>
              </a:ext>
            </a:extLst>
          </p:cNvPr>
          <p:cNvSpPr txBox="1"/>
          <p:nvPr/>
        </p:nvSpPr>
        <p:spPr>
          <a:xfrm>
            <a:off x="2743200" y="-1"/>
            <a:ext cx="7848600" cy="502702"/>
          </a:xfrm>
          <a:prstGeom prst="rect">
            <a:avLst/>
          </a:prstGeom>
          <a:noFill/>
          <a:ln w="9525">
            <a:noFill/>
          </a:ln>
        </p:spPr>
        <p:txBody>
          <a:bodyPr wrap="square" lIns="0" tIns="12700" rIns="0" bIns="0">
            <a:spAutoFit/>
          </a:bodyPr>
          <a:lstStyle/>
          <a:p>
            <a:pPr marL="12700" eaLnBrk="1" hangingPunct="1">
              <a:spcBef>
                <a:spcPts val="100"/>
              </a:spcBef>
            </a:pPr>
            <a:r>
              <a:rPr lang="en-US" sz="1600" dirty="0">
                <a:solidFill>
                  <a:schemeClr val="bg1"/>
                </a:solidFill>
              </a:rPr>
              <a:t>       Remote sensing Image scene Classification on LULC using DL</a:t>
            </a:r>
            <a:endParaRPr lang="en-US" altLang="en-US" sz="1600" dirty="0">
              <a:solidFill>
                <a:schemeClr val="bg1"/>
              </a:solidFill>
              <a:latin typeface="Times New Roman" panose="02020603050405020304" pitchFamily="18" charset="0"/>
              <a:ea typeface="Times New Roman" panose="02020603050405020304" pitchFamily="18" charset="0"/>
            </a:endParaRPr>
          </a:p>
          <a:p>
            <a:pPr marL="12700" eaLnBrk="1" hangingPunct="1">
              <a:spcBef>
                <a:spcPts val="100"/>
              </a:spcBef>
            </a:pPr>
            <a:endParaRPr lang="en-US" altLang="en-US" sz="1500" dirty="0">
              <a:solidFill>
                <a:srgbClr val="000000"/>
              </a:solidFill>
              <a:latin typeface="Times New Roman" panose="02020603050405020304" pitchFamily="18" charset="0"/>
              <a:ea typeface="Times New Roman" panose="02020603050405020304" pitchFamily="18" charset="0"/>
            </a:endParaRPr>
          </a:p>
        </p:txBody>
      </p:sp>
      <p:grpSp>
        <p:nvGrpSpPr>
          <p:cNvPr id="7171" name="object 3">
            <a:extLst>
              <a:ext uri="{FF2B5EF4-FFF2-40B4-BE49-F238E27FC236}">
                <a16:creationId xmlns:a16="http://schemas.microsoft.com/office/drawing/2014/main" id="{3A7B9803-6022-ECB4-B710-9AB7DAF7EAA8}"/>
              </a:ext>
            </a:extLst>
          </p:cNvPr>
          <p:cNvGrpSpPr/>
          <p:nvPr/>
        </p:nvGrpSpPr>
        <p:grpSpPr>
          <a:xfrm>
            <a:off x="0" y="225425"/>
            <a:ext cx="12192000" cy="803275"/>
            <a:chOff x="0" y="212399"/>
            <a:chExt cx="12192000" cy="803275"/>
          </a:xfrm>
        </p:grpSpPr>
        <p:pic>
          <p:nvPicPr>
            <p:cNvPr id="7178" name="object 4">
              <a:extLst>
                <a:ext uri="{FF2B5EF4-FFF2-40B4-BE49-F238E27FC236}">
                  <a16:creationId xmlns:a16="http://schemas.microsoft.com/office/drawing/2014/main" id="{5D3B2DC6-5370-6687-3FE5-959D1078AC4F}"/>
                </a:ext>
              </a:extLst>
            </p:cNvPr>
            <p:cNvPicPr>
              <a:picLocks noChangeAspect="1"/>
            </p:cNvPicPr>
            <p:nvPr/>
          </p:nvPicPr>
          <p:blipFill>
            <a:blip r:embed="rId2"/>
            <a:stretch>
              <a:fillRect/>
            </a:stretch>
          </p:blipFill>
          <p:spPr>
            <a:xfrm>
              <a:off x="0" y="212399"/>
              <a:ext cx="12192000" cy="803160"/>
            </a:xfrm>
            <a:prstGeom prst="rect">
              <a:avLst/>
            </a:prstGeom>
            <a:noFill/>
            <a:ln w="9525">
              <a:noFill/>
            </a:ln>
          </p:spPr>
        </p:pic>
        <p:sp>
          <p:nvSpPr>
            <p:cNvPr id="7179" name="object 5">
              <a:extLst>
                <a:ext uri="{FF2B5EF4-FFF2-40B4-BE49-F238E27FC236}">
                  <a16:creationId xmlns:a16="http://schemas.microsoft.com/office/drawing/2014/main" id="{02869D5C-6751-554A-6459-27927D5AEBD9}"/>
                </a:ext>
              </a:extLst>
            </p:cNvPr>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75D4F3CE-0762-E30A-1DC6-08C88E296B97}"/>
              </a:ext>
            </a:extLst>
          </p:cNvPr>
          <p:cNvSpPr txBox="1">
            <a:spLocks noGrp="1"/>
          </p:cNvSpPr>
          <p:nvPr>
            <p:ph type="title"/>
          </p:nvPr>
        </p:nvSpPr>
        <p:spPr>
          <a:xfrm>
            <a:off x="-2438400" y="182563"/>
            <a:ext cx="7250113"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lang="en-US"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Contents</a:t>
            </a:r>
          </a:p>
        </p:txBody>
      </p:sp>
      <p:sp>
        <p:nvSpPr>
          <p:cNvPr id="8" name="object 8">
            <a:extLst>
              <a:ext uri="{FF2B5EF4-FFF2-40B4-BE49-F238E27FC236}">
                <a16:creationId xmlns:a16="http://schemas.microsoft.com/office/drawing/2014/main" id="{90BA77DD-2F54-4F9A-74B6-0A3EE8C0389F}"/>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9A39209D-EEE8-5DD3-B343-FAEDD6A73CD4}"/>
              </a:ext>
            </a:extLst>
          </p:cNvPr>
          <p:cNvSpPr txBox="1">
            <a:spLocks noGrp="1"/>
          </p:cNvSpPr>
          <p:nvPr>
            <p:ph type="dt" sz="half" idx="2"/>
          </p:nvPr>
        </p:nvSpPr>
        <p:spPr>
          <a:xfrm>
            <a:off x="1450975" y="6629400"/>
            <a:ext cx="4645660" cy="252095"/>
          </a:xfrm>
          <a:noFill/>
        </p:spPr>
        <p:txBody>
          <a:bodyPr vert="horz" wrap="square" lIns="0" tIns="0" rIns="0" bIns="0" rtlCol="0">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zh-CN" altLang="x-none" sz="1600" dirty="0">
                <a:solidFill>
                  <a:schemeClr val="bg1"/>
                </a:solidFill>
                <a:latin typeface="Times New Roman" panose="02020603050405020304" pitchFamily="18" charset="0"/>
                <a:cs typeface="Times New Roman" panose="02020603050405020304" pitchFamily="18" charset="0"/>
              </a:rPr>
              <a:t>DEPT. OF COMPUTER SCIENCE AND</a:t>
            </a:r>
            <a:r>
              <a:rPr sz="1600" dirty="0">
                <a:solidFill>
                  <a:schemeClr val="bg1"/>
                </a:solidFill>
                <a:latin typeface="Times New Roman" panose="02020603050405020304" pitchFamily="18" charset="0"/>
                <a:cs typeface="Times New Roman" panose="02020603050405020304" pitchFamily="18" charset="0"/>
              </a:rPr>
              <a:t> </a:t>
            </a:r>
            <a:r>
              <a:rPr lang="zh-CN" altLang="x-none" sz="1600" dirty="0">
                <a:solidFill>
                  <a:schemeClr val="bg1"/>
                </a:solidFill>
                <a:latin typeface="Times New Roman" panose="02020603050405020304" pitchFamily="18" charset="0"/>
                <a:cs typeface="Times New Roman" panose="02020603050405020304" pitchFamily="18" charset="0"/>
              </a:rPr>
              <a:t>ENGINEERING</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10" name="object 10">
            <a:extLst>
              <a:ext uri="{FF2B5EF4-FFF2-40B4-BE49-F238E27FC236}">
                <a16:creationId xmlns:a16="http://schemas.microsoft.com/office/drawing/2014/main" id="{A5F4C78E-4E9E-51D5-F62C-DC92B0DC2922}"/>
              </a:ext>
            </a:extLst>
          </p:cNvPr>
          <p:cNvSpPr txBox="1"/>
          <p:nvPr/>
        </p:nvSpPr>
        <p:spPr>
          <a:xfrm>
            <a:off x="7086600" y="6650892"/>
            <a:ext cx="4322763" cy="230188"/>
          </a:xfrm>
          <a:prstGeom prst="rect">
            <a:avLst/>
          </a:prstGeom>
        </p:spPr>
        <p:txBody>
          <a:bodyPr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048E77CD-14A1-B29E-DEFA-86CDB4F3CB79}"/>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B4E1554B-BE95-4FB1-AC37-FAB416F079D9}"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3</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7" name="object 7">
            <a:extLst>
              <a:ext uri="{FF2B5EF4-FFF2-40B4-BE49-F238E27FC236}">
                <a16:creationId xmlns:a16="http://schemas.microsoft.com/office/drawing/2014/main" id="{91A4044E-178F-719C-778D-1AF04C379642}"/>
              </a:ext>
            </a:extLst>
          </p:cNvPr>
          <p:cNvSpPr txBox="1"/>
          <p:nvPr/>
        </p:nvSpPr>
        <p:spPr>
          <a:xfrm>
            <a:off x="325438" y="990600"/>
            <a:ext cx="9459913" cy="4906471"/>
          </a:xfrm>
          <a:prstGeom prst="rect">
            <a:avLst/>
          </a:prstGeom>
        </p:spPr>
        <p:txBody>
          <a:bodyPr lIns="0" tIns="96520" rIns="0" bIns="0">
            <a:spAutoFit/>
          </a:bodyPr>
          <a:lstStyle/>
          <a:p>
            <a:pPr marL="421005" marR="0" indent="-408305" defTabSz="914400" eaLnBrk="1" fontAlgn="auto" hangingPunct="1">
              <a:spcBef>
                <a:spcPts val="760"/>
              </a:spcBef>
              <a:spcAft>
                <a:spcPts val="0"/>
              </a:spcAft>
              <a:buClrTx/>
              <a:buSzTx/>
              <a:buFontTx/>
              <a:buChar char="•"/>
              <a:tabLst>
                <a:tab pos="421005" algn="l"/>
              </a:tabLst>
              <a:defRPr/>
            </a:pPr>
            <a:r>
              <a:rPr kumimoji="0" sz="2600" kern="0" cap="none" spc="0" normalizeH="0" baseline="0" noProof="0" dirty="0">
                <a:solidFill>
                  <a:sysClr val="windowText" lastClr="000000"/>
                </a:solidFill>
                <a:latin typeface="Times New Roman" panose="02020603050405020304"/>
                <a:ea typeface="+mn-ea"/>
                <a:cs typeface="Times New Roman" panose="02020603050405020304"/>
              </a:rPr>
              <a:t>Title</a:t>
            </a:r>
            <a:r>
              <a:rPr kumimoji="0" sz="26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600" kern="0" cap="none" spc="-10" normalizeH="0" baseline="0" noProof="0" dirty="0">
                <a:solidFill>
                  <a:sysClr val="windowText" lastClr="000000"/>
                </a:solidFill>
                <a:latin typeface="Times New Roman" panose="02020603050405020304"/>
                <a:ea typeface="+mn-ea"/>
                <a:cs typeface="Times New Roman" panose="02020603050405020304"/>
              </a:rPr>
              <a:t>Justification</a:t>
            </a:r>
            <a:endParaRPr kumimoji="0"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600" kern="0" cap="none" spc="-10" normalizeH="0" baseline="0" noProof="0" dirty="0">
                <a:solidFill>
                  <a:sysClr val="windowText" lastClr="000000"/>
                </a:solidFill>
                <a:latin typeface="Times New Roman" panose="02020603050405020304"/>
                <a:ea typeface="+mn-ea"/>
                <a:cs typeface="Times New Roman" panose="02020603050405020304"/>
              </a:rPr>
              <a:t>Abstract</a:t>
            </a:r>
            <a:endParaRPr kumimoji="0"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400" dirty="0"/>
              <a:t>Introduction</a:t>
            </a:r>
            <a:endParaRPr kumimoji="0" lang="en-US" sz="24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400" dirty="0"/>
              <a:t>Software Requirements</a:t>
            </a:r>
          </a:p>
          <a:p>
            <a:pPr marL="421005" indent="-408305" eaLnBrk="1" fontAlgn="auto" hangingPunct="1">
              <a:spcBef>
                <a:spcPts val="665"/>
              </a:spcBef>
              <a:spcAft>
                <a:spcPts val="0"/>
              </a:spcAft>
              <a:buFontTx/>
              <a:buChar char="•"/>
              <a:tabLst>
                <a:tab pos="421005" algn="l"/>
              </a:tabLst>
              <a:defRPr/>
            </a:pPr>
            <a:r>
              <a:rPr lang="en-US" sz="2400" dirty="0"/>
              <a:t>Datasets/Modules</a:t>
            </a:r>
          </a:p>
          <a:p>
            <a:pPr marL="421005" indent="-408305" eaLnBrk="1" fontAlgn="auto" hangingPunct="1">
              <a:spcBef>
                <a:spcPts val="665"/>
              </a:spcBef>
              <a:spcAft>
                <a:spcPts val="0"/>
              </a:spcAft>
              <a:buFontTx/>
              <a:buChar char="•"/>
              <a:tabLst>
                <a:tab pos="421005" algn="l"/>
              </a:tabLst>
              <a:defRPr/>
            </a:pPr>
            <a:r>
              <a:rPr lang="en-US" sz="2600" dirty="0"/>
              <a:t>Implementation</a:t>
            </a:r>
            <a:endParaRPr kumimoji="0"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Outputs</a:t>
            </a:r>
            <a:endParaRPr kumimoji="0" sz="26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Conclusion</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indent="-408305" eaLnBrk="1" fontAlgn="auto" hangingPunct="1">
              <a:spcBef>
                <a:spcPts val="665"/>
              </a:spcBef>
              <a:spcAft>
                <a:spcPts val="0"/>
              </a:spcAft>
              <a:buFontTx/>
              <a:buChar char="•"/>
              <a:tabLst>
                <a:tab pos="421005" algn="l"/>
              </a:tabLst>
              <a:defRPr/>
            </a:pPr>
            <a:r>
              <a:rPr lang="en-US" sz="2600" dirty="0"/>
              <a:t>References</a:t>
            </a:r>
          </a:p>
          <a:p>
            <a:pPr marL="421005" marR="0" indent="-408305" defTabSz="914400" eaLnBrk="1" fontAlgn="auto" hangingPunct="1">
              <a:spcBef>
                <a:spcPts val="665"/>
              </a:spcBef>
              <a:spcAft>
                <a:spcPts val="0"/>
              </a:spcAft>
              <a:buClrTx/>
              <a:buSzTx/>
              <a:buFontTx/>
              <a:buChar char="•"/>
              <a:tabLst>
                <a:tab pos="421005" algn="l"/>
              </a:tabLst>
              <a:defRPr/>
            </a:pP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extLst>
      <p:ext uri="{BB962C8B-B14F-4D97-AF65-F5344CB8AC3E}">
        <p14:creationId xmlns:p14="http://schemas.microsoft.com/office/powerpoint/2010/main" val="395085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8195" name="object 3"/>
          <p:cNvSpPr txBox="1"/>
          <p:nvPr/>
        </p:nvSpPr>
        <p:spPr>
          <a:xfrm>
            <a:off x="3405188" y="-22225"/>
            <a:ext cx="5688012" cy="505267"/>
          </a:xfrm>
          <a:prstGeom prst="rect">
            <a:avLst/>
          </a:prstGeom>
          <a:noFill/>
          <a:ln w="9525">
            <a:noFill/>
          </a:ln>
        </p:spPr>
        <p:txBody>
          <a:bodyPr lIns="0" tIns="12700" rIns="0" bIns="0">
            <a:spAutoFit/>
          </a:bodyPr>
          <a:lstStyle/>
          <a:p>
            <a:pPr marL="12700" eaLnBrk="1" hangingPunct="1">
              <a:spcBef>
                <a:spcPts val="100"/>
              </a:spcBef>
            </a:pPr>
            <a:r>
              <a:rPr lang="en-US" sz="1600" dirty="0">
                <a:solidFill>
                  <a:schemeClr val="bg1"/>
                </a:solidFill>
              </a:rPr>
              <a:t>Remote sensing Image scene Classification on LULC using DL ML</a:t>
            </a:r>
            <a:endParaRPr lang="en-US" altLang="en-US" sz="1500" dirty="0">
              <a:solidFill>
                <a:schemeClr val="bg1"/>
              </a:solidFill>
              <a:latin typeface="Times New Roman" panose="02020603050405020304" pitchFamily="18" charset="0"/>
              <a:ea typeface="Times New Roman" panose="02020603050405020304" pitchFamily="18" charset="0"/>
            </a:endParaRPr>
          </a:p>
        </p:txBody>
      </p:sp>
      <p:grpSp>
        <p:nvGrpSpPr>
          <p:cNvPr id="8196" name="object 4"/>
          <p:cNvGrpSpPr/>
          <p:nvPr/>
        </p:nvGrpSpPr>
        <p:grpSpPr>
          <a:xfrm>
            <a:off x="0" y="222718"/>
            <a:ext cx="12192000" cy="803275"/>
            <a:chOff x="0" y="212399"/>
            <a:chExt cx="12192000" cy="803275"/>
          </a:xfrm>
        </p:grpSpPr>
        <p:pic>
          <p:nvPicPr>
            <p:cNvPr id="8203" name="object 5"/>
            <p:cNvPicPr>
              <a:picLocks noChangeAspect="1"/>
            </p:cNvPicPr>
            <p:nvPr/>
          </p:nvPicPr>
          <p:blipFill>
            <a:blip r:embed="rId3"/>
            <a:stretch>
              <a:fillRect/>
            </a:stretch>
          </p:blipFill>
          <p:spPr>
            <a:xfrm>
              <a:off x="0" y="212399"/>
              <a:ext cx="12192000" cy="803160"/>
            </a:xfrm>
            <a:prstGeom prst="rect">
              <a:avLst/>
            </a:prstGeom>
            <a:noFill/>
            <a:ln w="9525">
              <a:noFill/>
            </a:ln>
          </p:spPr>
        </p:pic>
        <p:sp>
          <p:nvSpPr>
            <p:cNvPr id="8204" name="object 6"/>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a:xfrm>
            <a:off x="-152400" y="182563"/>
            <a:ext cx="4964113"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Title</a:t>
            </a:r>
            <a:r>
              <a:rPr kumimoji="0" sz="4400" b="0" i="0" u="none" strike="noStrike" kern="0" cap="none" spc="-1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Justification</a:t>
            </a:r>
          </a:p>
        </p:txBody>
      </p:sp>
      <p:sp>
        <p:nvSpPr>
          <p:cNvPr id="2" name="Text Placeholder 1"/>
          <p:cNvSpPr>
            <a:spLocks noGrp="1"/>
          </p:cNvSpPr>
          <p:nvPr>
            <p:ph type="body" idx="1"/>
          </p:nvPr>
        </p:nvSpPr>
        <p:spPr>
          <a:xfrm>
            <a:off x="287338" y="1068266"/>
            <a:ext cx="11506200" cy="5445760"/>
          </a:xfrm>
        </p:spPr>
        <p:txBody>
          <a:bodyPr vert="horz" wrap="square" lIns="0" tIns="0" rIns="0" bIns="0" numCol="1" anchor="t" anchorCtr="0" compatLnSpc="1">
            <a:noAutofit/>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Project Title:</a:t>
            </a:r>
          </a:p>
          <a:p>
            <a:pPr lvl="0">
              <a:defRPr/>
            </a:pPr>
            <a:r>
              <a:rPr lang="en-US" sz="2000" dirty="0"/>
              <a:t>Remote Sensing Image Scene Classification on LULC Using DL</a:t>
            </a:r>
          </a:p>
          <a:p>
            <a:pPr lvl="0">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Justification:</a:t>
            </a:r>
          </a:p>
          <a:p>
            <a:pPr marL="342900" indent="-342900">
              <a:buFont typeface="Wingdings" panose="05000000000000000000" pitchFamily="2" charset="2"/>
              <a:buChar char="§"/>
            </a:pPr>
            <a:r>
              <a:rPr lang="en-US" sz="2000" dirty="0"/>
              <a:t>The title </a:t>
            </a:r>
            <a:r>
              <a:rPr lang="en-US" sz="2000" b="1" dirty="0"/>
              <a:t>“Remote Sensing Image Scene Classification”</a:t>
            </a:r>
            <a:r>
              <a:rPr lang="en-US" sz="2000" dirty="0"/>
              <a:t> represents a </a:t>
            </a:r>
            <a:r>
              <a:rPr lang="en-US" sz="2000" b="1" dirty="0"/>
              <a:t>deep learning–based system</a:t>
            </a:r>
            <a:r>
              <a:rPr lang="en-US" sz="2000" dirty="0"/>
              <a:t> designed to identify and analyze </a:t>
            </a:r>
            <a:r>
              <a:rPr lang="en-US" sz="2000" b="1" dirty="0"/>
              <a:t>land use and land cover (LULC)</a:t>
            </a:r>
            <a:r>
              <a:rPr lang="en-US" sz="2000" dirty="0"/>
              <a:t> patterns from satellite images.</a:t>
            </a:r>
          </a:p>
          <a:p>
            <a:pPr marL="342900" indent="-342900">
              <a:buFont typeface="Wingdings" panose="05000000000000000000" pitchFamily="2" charset="2"/>
              <a:buChar char="§"/>
            </a:pPr>
            <a:r>
              <a:rPr lang="en-US" sz="2000" dirty="0"/>
              <a:t>The term </a:t>
            </a:r>
            <a:r>
              <a:rPr lang="en-US" sz="2000" b="1" dirty="0"/>
              <a:t>“Remote Sensing”</a:t>
            </a:r>
            <a:r>
              <a:rPr lang="en-US" sz="2000" dirty="0"/>
              <a:t> refers to the use of satellite or aerial imagery to observe and collect information about the Earth’s surface without direct contact.</a:t>
            </a:r>
          </a:p>
          <a:p>
            <a:pPr marL="342900" indent="-342900">
              <a:buFont typeface="Wingdings" panose="05000000000000000000" pitchFamily="2" charset="2"/>
              <a:buChar char="§"/>
            </a:pPr>
            <a:r>
              <a:rPr lang="en-US" sz="2000" b="1" dirty="0"/>
              <a:t>“Scene Classification”</a:t>
            </a:r>
            <a:r>
              <a:rPr lang="en-US" sz="2000" dirty="0"/>
              <a:t> describes the process of categorizing satellite images into different land scenes such as </a:t>
            </a:r>
            <a:r>
              <a:rPr lang="en-US" sz="2000" b="1" dirty="0"/>
              <a:t>urban areas, vegetation, water bodies, forests, and barren land</a:t>
            </a:r>
            <a:r>
              <a:rPr lang="en-US" sz="2000" dirty="0"/>
              <a:t>.</a:t>
            </a:r>
          </a:p>
          <a:p>
            <a:pPr marL="342900" indent="-342900">
              <a:buFont typeface="Wingdings" panose="05000000000000000000" pitchFamily="2" charset="2"/>
              <a:buChar char="§"/>
            </a:pPr>
            <a:r>
              <a:rPr lang="en-US" sz="2000" dirty="0"/>
              <a:t>The subtitle </a:t>
            </a:r>
            <a:r>
              <a:rPr lang="en-US" sz="2000" b="1" dirty="0"/>
              <a:t>“on LULC Using DL”</a:t>
            </a:r>
            <a:r>
              <a:rPr lang="en-US" sz="2000" dirty="0"/>
              <a:t> clearly highlights the main objective of the project, which is to classify land use and land cover using </a:t>
            </a:r>
            <a:r>
              <a:rPr lang="en-US" sz="2000" b="1" dirty="0"/>
              <a:t>deep learning techniques</a:t>
            </a:r>
            <a:r>
              <a:rPr lang="en-US" sz="2000" dirty="0"/>
              <a:t>.</a:t>
            </a:r>
          </a:p>
          <a:p>
            <a:pPr marL="342900" indent="-342900">
              <a:buFont typeface="Wingdings" panose="05000000000000000000" pitchFamily="2" charset="2"/>
              <a:buChar char="§"/>
            </a:pPr>
            <a:r>
              <a:rPr lang="en-US" sz="2000" dirty="0"/>
              <a:t>This project emphasizes </a:t>
            </a:r>
            <a:r>
              <a:rPr lang="en-US" sz="2000" b="1" dirty="0"/>
              <a:t>advanced technology, environmental significance, and the role of deep learning</a:t>
            </a:r>
            <a:r>
              <a:rPr lang="en-US" sz="2000" dirty="0"/>
              <a:t> in achieving accurate land monitoring and supporting sustainable planning in real-world applications.</a:t>
            </a:r>
          </a:p>
          <a:p>
            <a:pPr marL="342900" lvl="0" indent="-342900">
              <a:buFont typeface="Wingdings" panose="05000000000000000000" pitchFamily="2" charset="2"/>
              <a:buChar char="§"/>
              <a:defRPr/>
            </a:pPr>
            <a:endPar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p:txBody>
      </p:sp>
      <p:sp>
        <p:nvSpPr>
          <p:cNvPr id="8" name="object 8"/>
          <p:cNvSpPr txBox="1">
            <a:spLocks noGrp="1"/>
          </p:cNvSpPr>
          <p:nvPr>
            <p:ph type="ftr" sz="quarter" idx="3"/>
          </p:nvPr>
        </p:nvSpPr>
        <p:spPr>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3941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4098A613-0174-4EC4-8DE5-4ED819B4EEE1}"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4</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 name="object 10"/>
          <p:cNvSpPr txBox="1"/>
          <p:nvPr/>
        </p:nvSpPr>
        <p:spPr>
          <a:xfrm>
            <a:off x="7146925" y="6629400"/>
            <a:ext cx="464661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19050"/>
            <a:ext cx="9448800"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p:cNvGrpSpPr/>
          <p:nvPr/>
        </p:nvGrpSpPr>
        <p:grpSpPr>
          <a:xfrm>
            <a:off x="-11112" y="209550"/>
            <a:ext cx="12192000" cy="803275"/>
            <a:chOff x="0" y="216720"/>
            <a:chExt cx="12192000" cy="803275"/>
          </a:xfrm>
        </p:grpSpPr>
        <p:pic>
          <p:nvPicPr>
            <p:cNvPr id="10250" name="object 4"/>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0251"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49225" y="227013"/>
            <a:ext cx="5286375" cy="714375"/>
          </a:xfrm>
        </p:spPr>
        <p:txBody>
          <a:bodyPr vert="horz" wrap="square" lIns="0" tIns="12700" rIns="0" bIns="0" numCol="1" rtlCol="0" anchor="t" anchorCtr="0" compatLnSpc="1">
            <a:spAutoFit/>
          </a:bodyPr>
          <a:lstStyle/>
          <a:p>
            <a:pPr marL="12700" indent="0" algn="l" eaLnBrk="1" hangingPunct="1">
              <a:spcBef>
                <a:spcPts val="100"/>
              </a:spcBef>
              <a:buNone/>
            </a:pPr>
            <a:r>
              <a:rPr lang="zh-CN" altLang="x-none" dirty="0">
                <a:latin typeface="Times New Roman" panose="02020603050405020304" pitchFamily="18" charset="0"/>
                <a:ea typeface="+mj-ea"/>
                <a:cs typeface="Times New Roman" panose="02020603050405020304" pitchFamily="18" charset="0"/>
              </a:rPr>
              <a:t>Ab</a:t>
            </a:r>
            <a:r>
              <a:rPr dirty="0">
                <a:latin typeface="Times New Roman" panose="02020603050405020304" pitchFamily="18" charset="0"/>
                <a:ea typeface="+mj-ea"/>
                <a:cs typeface="Times New Roman" panose="02020603050405020304" pitchFamily="18" charset="0"/>
              </a:rPr>
              <a:t>stract</a:t>
            </a:r>
            <a:endParaRPr lang="zh-CN" altLang="x-none" dirty="0">
              <a:latin typeface="Times New Roman" panose="02020603050405020304" pitchFamily="18" charset="0"/>
              <a:ea typeface="Times New Roman" panose="02020603050405020304" pitchFamily="18" charset="0"/>
              <a:cs typeface="+mj-cs"/>
            </a:endParaRP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5</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p:cNvSpPr txBox="1"/>
          <p:nvPr/>
        </p:nvSpPr>
        <p:spPr>
          <a:xfrm>
            <a:off x="273050" y="956960"/>
            <a:ext cx="11614150" cy="5604495"/>
          </a:xfrm>
          <a:prstGeom prst="rect">
            <a:avLst/>
          </a:prstGeom>
          <a:noFill/>
          <a:ln w="9525">
            <a:noFill/>
          </a:ln>
        </p:spPr>
        <p:txBody>
          <a:bodyPr lIns="0" tIns="12065" rIns="0" bIns="0">
            <a:noAutofit/>
          </a:bodyPr>
          <a:lstStyle/>
          <a:p>
            <a:pPr marL="355600" indent="-342900" algn="just" eaLnBrk="1" hangingPunct="1">
              <a:lnSpc>
                <a:spcPct val="120000"/>
              </a:lnSpc>
              <a:spcBef>
                <a:spcPts val="100"/>
              </a:spcBef>
              <a:buFont typeface="Arial" panose="020B0604020202020204" pitchFamily="34" charset="0"/>
              <a:buChar char="•"/>
            </a:pPr>
            <a:r>
              <a:rPr lang="en-US" sz="1600" dirty="0"/>
              <a:t>Accurate land use and land cover (LULC) classification from remote sensing imagery plays a critical role in environmental monitoring, urban planning, and sustainable resource management. Recent advances in deep learning have significantly improved the capability of automated feature extraction from high-resolution satellite images, enabling robust and scalable geospatial analysis.</a:t>
            </a:r>
            <a:endParaRPr lang="en-US" sz="1600" dirty="0">
              <a:latin typeface="Times New Roman" panose="02020603050405020304" pitchFamily="18" charset="0"/>
              <a:cs typeface="Times New Roman" panose="02020603050405020304" pitchFamily="18" charset="0"/>
            </a:endParaRPr>
          </a:p>
          <a:p>
            <a:pPr marL="355600" indent="-342900" algn="just" eaLnBrk="1" hangingPunct="1">
              <a:lnSpc>
                <a:spcPct val="120000"/>
              </a:lnSpc>
              <a:spcBef>
                <a:spcPts val="100"/>
              </a:spcBef>
              <a:buFont typeface="Arial" panose="020B0604020202020204" pitchFamily="34" charset="0"/>
              <a:buChar char="•"/>
            </a:pPr>
            <a:r>
              <a:rPr lang="en-US" sz="1600" dirty="0"/>
              <a:t>This study presents a deep learning–based framework for LULC classification using the </a:t>
            </a:r>
            <a:r>
              <a:rPr lang="en-US" sz="1600" dirty="0" err="1"/>
              <a:t>EuroSAT</a:t>
            </a:r>
            <a:r>
              <a:rPr lang="en-US" sz="1600" dirty="0"/>
              <a:t> RGB dataset. The workflow includes systematic dataset exploration, image preprocessing with Image Data Generator–based rescaling, geometric transformations, horizontal flipping, and image reshaping to enhance generalization. Multiple deep convolutional architectures—ResNet50, ResNet18, DenseNet121, VGG19, ResNet152, and </a:t>
            </a:r>
            <a:r>
              <a:rPr lang="en-US" sz="1600" dirty="0" err="1"/>
              <a:t>ConvNeXt</a:t>
            </a:r>
            <a:r>
              <a:rPr lang="en-US" sz="1600" dirty="0"/>
              <a:t>-Tiny—are implemented and trained with early stopping to mitigate overfitting and underfitting. </a:t>
            </a:r>
          </a:p>
          <a:p>
            <a:pPr marL="355600" indent="-342900" algn="just" eaLnBrk="1" hangingPunct="1">
              <a:lnSpc>
                <a:spcPct val="120000"/>
              </a:lnSpc>
              <a:spcBef>
                <a:spcPts val="100"/>
              </a:spcBef>
              <a:buFont typeface="Arial" panose="020B0604020202020204" pitchFamily="34" charset="0"/>
              <a:buChar char="•"/>
            </a:pPr>
            <a:r>
              <a:rPr lang="en-US" sz="1600" dirty="0"/>
              <a:t>Model evaluation is performed using precision, recall, F1-score, and accuracy metrics, computed through a dedicated performance assessment function. Grad-CAM visualization is applied to interpret model predictions by highlighting salient regions of satellite images that influence classification decisions. Among the evaluated models, </a:t>
            </a:r>
            <a:r>
              <a:rPr lang="en-US" sz="1600" dirty="0" err="1"/>
              <a:t>ConvNeXt</a:t>
            </a:r>
            <a:r>
              <a:rPr lang="en-US" sz="1600" dirty="0"/>
              <a:t>-Tiny achieves superior performance with an accuracy of 98.49%, precision of 98.48%, recall of 98.46%, and F1-score of 98.47%, demonstrating its effectiveness for complex LULC discrimination. </a:t>
            </a:r>
          </a:p>
          <a:p>
            <a:pPr marL="355600" indent="-342900" algn="just" eaLnBrk="1" hangingPunct="1">
              <a:lnSpc>
                <a:spcPct val="120000"/>
              </a:lnSpc>
              <a:spcBef>
                <a:spcPts val="100"/>
              </a:spcBef>
              <a:buFont typeface="Arial" panose="020B0604020202020204" pitchFamily="34" charset="0"/>
              <a:buChar char="•"/>
            </a:pPr>
            <a:r>
              <a:rPr lang="en-US" sz="1600" dirty="0"/>
              <a:t>The best-performing model is serialized and integrated into a Flask-based web framework with SQLite-backed user authentication, enabling end-user image upload, preprocessing, inference, Grad-CAM visualization, and result display through a lightweight frontend interface.</a:t>
            </a:r>
            <a:endParaRPr lang="en-IN" sz="1600" dirty="0"/>
          </a:p>
          <a:p>
            <a:pPr marL="355600" indent="-342900" eaLnBrk="1" hangingPunct="1">
              <a:lnSpc>
                <a:spcPct val="120000"/>
              </a:lnSpc>
              <a:spcBef>
                <a:spcPts val="100"/>
              </a:spcBef>
              <a:buFont typeface="Arial" panose="020B0604020202020204" pitchFamily="34" charset="0"/>
              <a:buChar char="•"/>
            </a:pPr>
            <a:endParaRPr lang="en-US" sz="1600" dirty="0"/>
          </a:p>
          <a:p>
            <a:pPr marL="355600" indent="-342900" eaLnBrk="1" hangingPunct="1">
              <a:lnSpc>
                <a:spcPct val="120000"/>
              </a:lnSpc>
              <a:spcBef>
                <a:spcPts val="100"/>
              </a:spcBef>
              <a:buFont typeface="Arial" panose="020B0604020202020204" pitchFamily="34" charset="0"/>
              <a:buChar char="•"/>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458B-24BE-A6EA-66A2-A4AA919271B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B13881-8733-7FBC-C4AC-1471D28B032D}"/>
              </a:ext>
            </a:extLst>
          </p:cNvPr>
          <p:cNvSpPr txBox="1"/>
          <p:nvPr/>
        </p:nvSpPr>
        <p:spPr>
          <a:xfrm>
            <a:off x="1143000" y="-19050"/>
            <a:ext cx="9448800"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a:extLst>
              <a:ext uri="{FF2B5EF4-FFF2-40B4-BE49-F238E27FC236}">
                <a16:creationId xmlns:a16="http://schemas.microsoft.com/office/drawing/2014/main" id="{1689EB40-A606-C77C-886A-46DE17154FE7}"/>
              </a:ext>
            </a:extLst>
          </p:cNvPr>
          <p:cNvGrpSpPr/>
          <p:nvPr/>
        </p:nvGrpSpPr>
        <p:grpSpPr>
          <a:xfrm>
            <a:off x="-11112" y="209550"/>
            <a:ext cx="12192000" cy="803275"/>
            <a:chOff x="0" y="216720"/>
            <a:chExt cx="12192000" cy="803275"/>
          </a:xfrm>
        </p:grpSpPr>
        <p:pic>
          <p:nvPicPr>
            <p:cNvPr id="10250" name="object 4">
              <a:extLst>
                <a:ext uri="{FF2B5EF4-FFF2-40B4-BE49-F238E27FC236}">
                  <a16:creationId xmlns:a16="http://schemas.microsoft.com/office/drawing/2014/main" id="{EE2B812E-5DD5-C83B-4350-81D26ECB3B7D}"/>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0251" name="object 5">
              <a:extLst>
                <a:ext uri="{FF2B5EF4-FFF2-40B4-BE49-F238E27FC236}">
                  <a16:creationId xmlns:a16="http://schemas.microsoft.com/office/drawing/2014/main" id="{95997D8D-3F6C-947C-F99C-E223ED60C066}"/>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4F686294-FC86-5CB3-0007-D7F46AEB5466}"/>
              </a:ext>
            </a:extLst>
          </p:cNvPr>
          <p:cNvSpPr txBox="1">
            <a:spLocks noGrp="1"/>
          </p:cNvSpPr>
          <p:nvPr>
            <p:ph type="title"/>
          </p:nvPr>
        </p:nvSpPr>
        <p:spPr>
          <a:xfrm>
            <a:off x="149225" y="227013"/>
            <a:ext cx="5286375" cy="628377"/>
          </a:xfrm>
        </p:spPr>
        <p:txBody>
          <a:bodyPr vert="horz" wrap="square" lIns="0" tIns="12700" rIns="0" bIns="0" numCol="1" rtlCol="0" anchor="t" anchorCtr="0" compatLnSpc="1">
            <a:spAutoFit/>
          </a:bodyPr>
          <a:lstStyle/>
          <a:p>
            <a:pPr marL="12700" indent="0" algn="l" eaLnBrk="1" hangingPunct="1">
              <a:spcBef>
                <a:spcPts val="100"/>
              </a:spcBef>
              <a:buNone/>
            </a:pPr>
            <a:r>
              <a:rPr lang="en-US" altLang="zh-CN" sz="4000" dirty="0">
                <a:latin typeface="Times New Roman" panose="02020603050405020304" pitchFamily="18" charset="0"/>
                <a:cs typeface="Times New Roman" panose="02020603050405020304" pitchFamily="18" charset="0"/>
              </a:rPr>
              <a:t>Introduction</a:t>
            </a:r>
            <a:endParaRPr lang="zh-CN" altLang="x-none" sz="4000" dirty="0">
              <a:latin typeface="Times New Roman" panose="02020603050405020304" pitchFamily="18" charset="0"/>
              <a:ea typeface="Times New Roman" panose="02020603050405020304" pitchFamily="18" charset="0"/>
              <a:cs typeface="+mj-cs"/>
            </a:endParaRPr>
          </a:p>
        </p:txBody>
      </p:sp>
      <p:sp>
        <p:nvSpPr>
          <p:cNvPr id="8" name="object 8">
            <a:extLst>
              <a:ext uri="{FF2B5EF4-FFF2-40B4-BE49-F238E27FC236}">
                <a16:creationId xmlns:a16="http://schemas.microsoft.com/office/drawing/2014/main" id="{F66CCA42-BD39-B34B-23EE-6A6AA4535A2D}"/>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1D1BA305-3268-4C5B-F577-98110330712C}"/>
              </a:ext>
            </a:extLst>
          </p:cNvPr>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30952A66-E404-E5DB-2FD7-77E12C2C05D8}"/>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C2A87A0B-6801-4CF3-3671-F66FE844B82C}"/>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6</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a:extLst>
              <a:ext uri="{FF2B5EF4-FFF2-40B4-BE49-F238E27FC236}">
                <a16:creationId xmlns:a16="http://schemas.microsoft.com/office/drawing/2014/main" id="{CE380FA2-DCF4-272E-34FF-1EE97E24363D}"/>
              </a:ext>
            </a:extLst>
          </p:cNvPr>
          <p:cNvSpPr txBox="1"/>
          <p:nvPr/>
        </p:nvSpPr>
        <p:spPr>
          <a:xfrm>
            <a:off x="273050" y="990600"/>
            <a:ext cx="11690350" cy="5570855"/>
          </a:xfrm>
          <a:prstGeom prst="rect">
            <a:avLst/>
          </a:prstGeom>
          <a:noFill/>
          <a:ln w="9525">
            <a:noFill/>
          </a:ln>
        </p:spPr>
        <p:txBody>
          <a:bodyPr lIns="0" tIns="12065" rIns="0" bIns="0">
            <a:noAutofit/>
          </a:bodyPr>
          <a:lstStyle/>
          <a:p>
            <a:pPr marL="355600" indent="-342900" algn="just" eaLnBrk="1" hangingPunct="1">
              <a:lnSpc>
                <a:spcPct val="120000"/>
              </a:lnSpc>
              <a:spcBef>
                <a:spcPts val="100"/>
              </a:spcBef>
              <a:buFont typeface="Wingdings" panose="05000000000000000000" pitchFamily="2" charset="2"/>
              <a:buChar char="q"/>
            </a:pPr>
            <a:r>
              <a:rPr lang="en-IN" sz="1600" dirty="0"/>
              <a:t>Remote sensing plays a critical role in monitoring the Earth's surface, enabling the observation and analysis of land use and land cover patterns over time. The increasing availability of high-resolution satellite imagery has created opportunities to understand environmental changes, urban expansion, deforestation, agricultural development, and natural resource management with unprecedented accuracy. </a:t>
            </a:r>
            <a:endParaRPr lang="en-US" sz="1600" dirty="0"/>
          </a:p>
          <a:p>
            <a:pPr marL="355600" indent="-342900" algn="just" eaLnBrk="1" hangingPunct="1">
              <a:lnSpc>
                <a:spcPct val="120000"/>
              </a:lnSpc>
              <a:spcBef>
                <a:spcPts val="100"/>
              </a:spcBef>
              <a:buFont typeface="Wingdings" panose="05000000000000000000" pitchFamily="2" charset="2"/>
              <a:buChar char="q"/>
            </a:pPr>
            <a:r>
              <a:rPr lang="en-IN" sz="1600" dirty="0"/>
              <a:t>Accurate classification of land cover types is essential for informed decision-making in urban planning, environmental conservation, and sustainable resource allocation. Manual interpretation of these images is </a:t>
            </a:r>
            <a:r>
              <a:rPr lang="en-IN" sz="1600" dirty="0" err="1"/>
              <a:t>labor-intensive</a:t>
            </a:r>
            <a:r>
              <a:rPr lang="en-IN" sz="1600" dirty="0"/>
              <a:t>, time-consuming, and prone to human error, making automated solutions highly valuable.</a:t>
            </a:r>
            <a:endParaRPr lang="en-US" sz="1600" dirty="0"/>
          </a:p>
          <a:p>
            <a:pPr marL="355600" indent="-342900" algn="just" eaLnBrk="1" hangingPunct="1">
              <a:lnSpc>
                <a:spcPct val="120000"/>
              </a:lnSpc>
              <a:spcBef>
                <a:spcPts val="100"/>
              </a:spcBef>
              <a:buFont typeface="Wingdings" panose="05000000000000000000" pitchFamily="2" charset="2"/>
              <a:buChar char="q"/>
            </a:pPr>
            <a:r>
              <a:rPr lang="en-IN" sz="1600" dirty="0"/>
              <a:t>Advances in machine learning and image analysis have enabled automated systems to process vast amounts of satellite imagery efficiently, identifying meaningful patterns and classifying regions based on their spectral and spatial characteristics. These systems enhance the precision and scalability of land cover mapping while reducing dependency on manual efforts. By incorporating automated processing pipelines, users can </a:t>
            </a:r>
            <a:r>
              <a:rPr lang="en-IN" sz="1600" dirty="0" err="1"/>
              <a:t>analyze</a:t>
            </a:r>
            <a:r>
              <a:rPr lang="en-IN" sz="1600" dirty="0"/>
              <a:t> temporal and spatial changes, supporting monitoring of ecological impacts and infrastructure development.</a:t>
            </a:r>
          </a:p>
          <a:p>
            <a:pPr marL="355600" indent="-342900" algn="just" eaLnBrk="1" hangingPunct="1">
              <a:lnSpc>
                <a:spcPct val="120000"/>
              </a:lnSpc>
              <a:spcBef>
                <a:spcPts val="100"/>
              </a:spcBef>
              <a:buFont typeface="Wingdings" panose="05000000000000000000" pitchFamily="2" charset="2"/>
              <a:buChar char="q"/>
            </a:pPr>
            <a:r>
              <a:rPr lang="en-IN" sz="1600" dirty="0"/>
              <a:t>The integration of interactive applications further improves accessibility, allowing users to upload satellite imagery and obtain classification results quickly. Such systems provide immediate insights and visualization of land use categories, facilitating easy interpretation and supporting actionable decisions. This approach bridges the gap between large-scale geospatial data and end-user requirements, promoting more informed management of environmental and urban resources. Overall, automated land use and land cover classification empowers stakeholders with reliable, timely, and scalable tools for environmental analysis and spatial planning.</a:t>
            </a:r>
          </a:p>
          <a:p>
            <a:pPr marL="355600" indent="-342900" eaLnBrk="1" hangingPunct="1">
              <a:lnSpc>
                <a:spcPct val="120000"/>
              </a:lnSpc>
              <a:spcBef>
                <a:spcPts val="100"/>
              </a:spcBef>
              <a:buFont typeface="Wingdings" panose="05000000000000000000" pitchFamily="2" charset="2"/>
              <a:buChar char="q"/>
            </a:pPr>
            <a:endParaRPr lang="en-US" sz="1600" dirty="0"/>
          </a:p>
          <a:p>
            <a:pPr marL="355600" indent="-342900" eaLnBrk="1" hangingPunct="1">
              <a:lnSpc>
                <a:spcPct val="120000"/>
              </a:lnSpc>
              <a:spcBef>
                <a:spcPts val="100"/>
              </a:spcBef>
              <a:buFont typeface="Wingdings" panose="05000000000000000000" pitchFamily="2" charset="2"/>
              <a:buChar char="q"/>
            </a:pPr>
            <a:endParaRPr lang="en-US" sz="2000" dirty="0"/>
          </a:p>
        </p:txBody>
      </p:sp>
    </p:spTree>
    <p:extLst>
      <p:ext uri="{BB962C8B-B14F-4D97-AF65-F5344CB8AC3E}">
        <p14:creationId xmlns:p14="http://schemas.microsoft.com/office/powerpoint/2010/main" val="3092051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1203" y="0"/>
            <a:ext cx="7238998"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2291" name="object 3"/>
          <p:cNvGrpSpPr/>
          <p:nvPr/>
        </p:nvGrpSpPr>
        <p:grpSpPr>
          <a:xfrm>
            <a:off x="0" y="217488"/>
            <a:ext cx="12192000" cy="803275"/>
            <a:chOff x="0" y="216720"/>
            <a:chExt cx="12192000" cy="803275"/>
          </a:xfrm>
        </p:grpSpPr>
        <p:pic>
          <p:nvPicPr>
            <p:cNvPr id="12298"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2299"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219200" y="182563"/>
            <a:ext cx="7848599" cy="628377"/>
          </a:xfrm>
        </p:spPr>
        <p:txBody>
          <a:bodyPr vert="horz" wrap="square" lIns="0" tIns="12700" rIns="0" bIns="0" numCol="1" rtlCol="0" anchor="t" anchorCtr="0" compatLnSpc="1">
            <a:spAutoFit/>
          </a:bodyPr>
          <a:lstStyle/>
          <a:p>
            <a:pPr marL="12700" lvl="0" eaLnBrk="1" fontAlgn="auto" hangingPunct="1">
              <a:spcBef>
                <a:spcPts val="100"/>
              </a:spcBef>
              <a:spcAft>
                <a:spcPts val="0"/>
              </a:spcAft>
              <a:tabLst>
                <a:tab pos="3145790" algn="l"/>
              </a:tabLst>
              <a:defRPr/>
            </a:pPr>
            <a:r>
              <a:rPr lang="en-US" sz="4000" dirty="0">
                <a:sym typeface="+mn-ea"/>
              </a:rPr>
              <a:t>Software Requirements</a:t>
            </a:r>
            <a:endParaRPr kumimoji="0" sz="40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59638" y="6629400"/>
            <a:ext cx="409416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37285FAC-0E59-4888-B0BB-2D06E0981F0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7</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2297" name="object 7"/>
          <p:cNvSpPr txBox="1"/>
          <p:nvPr/>
        </p:nvSpPr>
        <p:spPr>
          <a:xfrm>
            <a:off x="286543" y="1233740"/>
            <a:ext cx="11618913" cy="2598147"/>
          </a:xfrm>
          <a:prstGeom prst="rect">
            <a:avLst/>
          </a:prstGeom>
          <a:noFill/>
          <a:ln w="9525">
            <a:noFill/>
          </a:ln>
        </p:spPr>
        <p:txBody>
          <a:bodyPr lIns="0" tIns="12700" rIns="0" bIns="0">
            <a:spAutoFit/>
          </a:bodyPr>
          <a:lstStyle/>
          <a:p>
            <a:pPr marL="342900" lvl="0" indent="-342900">
              <a:buFont typeface="Wingdings" panose="05000000000000000000" pitchFamily="2" charset="2"/>
              <a:buChar char="v"/>
            </a:pPr>
            <a:r>
              <a:rPr lang="en-US" sz="2400" dirty="0"/>
              <a:t> Software: Anaconda (2023.03-1)</a:t>
            </a:r>
          </a:p>
          <a:p>
            <a:pPr marL="342900" lvl="0" indent="-342900">
              <a:buFont typeface="Wingdings" panose="05000000000000000000" pitchFamily="2" charset="2"/>
              <a:buChar char="v"/>
            </a:pPr>
            <a:r>
              <a:rPr lang="en-US" sz="2400" dirty="0"/>
              <a:t> Primary Language: Python (3.10.9)</a:t>
            </a:r>
          </a:p>
          <a:p>
            <a:pPr marL="342900" lvl="0" indent="-342900">
              <a:buFont typeface="Wingdings" panose="05000000000000000000" pitchFamily="2" charset="2"/>
              <a:buChar char="v"/>
            </a:pPr>
            <a:r>
              <a:rPr lang="en-US" sz="2400" dirty="0"/>
              <a:t> Web Framework: Flask</a:t>
            </a:r>
          </a:p>
          <a:p>
            <a:pPr marL="342900" lvl="0" indent="-342900">
              <a:buFont typeface="Wingdings" panose="05000000000000000000" pitchFamily="2" charset="2"/>
              <a:buChar char="v"/>
            </a:pPr>
            <a:r>
              <a:rPr lang="en-US" sz="2400" dirty="0"/>
              <a:t> Development Environment: </a:t>
            </a:r>
            <a:r>
              <a:rPr lang="en-US" sz="2400" dirty="0" err="1"/>
              <a:t>Jupyter</a:t>
            </a:r>
            <a:r>
              <a:rPr lang="en-US" sz="2400" dirty="0"/>
              <a:t> Notebook</a:t>
            </a:r>
          </a:p>
          <a:p>
            <a:pPr marL="342900" lvl="0" indent="-342900">
              <a:buFont typeface="Wingdings" panose="05000000000000000000" pitchFamily="2" charset="2"/>
              <a:buChar char="v"/>
            </a:pPr>
            <a:r>
              <a:rPr lang="en-US" sz="2400" dirty="0"/>
              <a:t> Database: Sqlite3</a:t>
            </a:r>
          </a:p>
          <a:p>
            <a:pPr marL="342900" lvl="0" indent="-342900">
              <a:buFont typeface="Wingdings" panose="05000000000000000000" pitchFamily="2" charset="2"/>
              <a:buChar char="v"/>
            </a:pPr>
            <a:r>
              <a:rPr lang="en-US" sz="2400" dirty="0"/>
              <a:t> Front-End Technologies: HTML, CSS, JavaScript and Bootstrap4</a:t>
            </a:r>
          </a:p>
          <a:p>
            <a:pPr lvl="0"/>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BD42F-A921-7368-D903-7A16E51ADCE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578960-A38B-BB6A-2093-08BB5E73E1A2}"/>
              </a:ext>
            </a:extLst>
          </p:cNvPr>
          <p:cNvSpPr txBox="1"/>
          <p:nvPr/>
        </p:nvSpPr>
        <p:spPr>
          <a:xfrm>
            <a:off x="1143000" y="-19050"/>
            <a:ext cx="9448800"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a:extLst>
              <a:ext uri="{FF2B5EF4-FFF2-40B4-BE49-F238E27FC236}">
                <a16:creationId xmlns:a16="http://schemas.microsoft.com/office/drawing/2014/main" id="{F4C6E74C-B155-A502-559D-A4945710673D}"/>
              </a:ext>
            </a:extLst>
          </p:cNvPr>
          <p:cNvGrpSpPr/>
          <p:nvPr/>
        </p:nvGrpSpPr>
        <p:grpSpPr>
          <a:xfrm>
            <a:off x="-11112" y="209550"/>
            <a:ext cx="12192000" cy="803275"/>
            <a:chOff x="0" y="216720"/>
            <a:chExt cx="12192000" cy="803275"/>
          </a:xfrm>
        </p:grpSpPr>
        <p:pic>
          <p:nvPicPr>
            <p:cNvPr id="10250" name="object 4">
              <a:extLst>
                <a:ext uri="{FF2B5EF4-FFF2-40B4-BE49-F238E27FC236}">
                  <a16:creationId xmlns:a16="http://schemas.microsoft.com/office/drawing/2014/main" id="{29D77839-75F8-FB1D-DECE-E4503EDAB99B}"/>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0251" name="object 5">
              <a:extLst>
                <a:ext uri="{FF2B5EF4-FFF2-40B4-BE49-F238E27FC236}">
                  <a16:creationId xmlns:a16="http://schemas.microsoft.com/office/drawing/2014/main" id="{791AB145-F0FB-7AF9-600D-8A4DDAA43404}"/>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0EAA667B-7791-4B2E-AE5A-B32228D34A67}"/>
              </a:ext>
            </a:extLst>
          </p:cNvPr>
          <p:cNvSpPr txBox="1">
            <a:spLocks noGrp="1"/>
          </p:cNvSpPr>
          <p:nvPr>
            <p:ph type="title"/>
          </p:nvPr>
        </p:nvSpPr>
        <p:spPr>
          <a:xfrm>
            <a:off x="149225" y="227013"/>
            <a:ext cx="5286375" cy="628377"/>
          </a:xfrm>
        </p:spPr>
        <p:txBody>
          <a:bodyPr vert="horz" wrap="square" lIns="0" tIns="12700" rIns="0" bIns="0" numCol="1" rtlCol="0" anchor="t" anchorCtr="0" compatLnSpc="1">
            <a:spAutoFit/>
          </a:bodyPr>
          <a:lstStyle/>
          <a:p>
            <a:pPr marL="12700" indent="0" algn="l" eaLnBrk="1" hangingPunct="1">
              <a:spcBef>
                <a:spcPts val="100"/>
              </a:spcBef>
              <a:buNone/>
            </a:pPr>
            <a:r>
              <a:rPr lang="en-US" sz="4000" dirty="0">
                <a:sym typeface="+mn-ea"/>
              </a:rPr>
              <a:t>Datasets/Modules</a:t>
            </a:r>
            <a:endParaRPr lang="zh-CN" altLang="x-none" sz="4000" dirty="0">
              <a:latin typeface="Times New Roman" panose="02020603050405020304" pitchFamily="18" charset="0"/>
              <a:ea typeface="Times New Roman" panose="02020603050405020304" pitchFamily="18" charset="0"/>
              <a:cs typeface="+mj-cs"/>
            </a:endParaRPr>
          </a:p>
        </p:txBody>
      </p:sp>
      <p:sp>
        <p:nvSpPr>
          <p:cNvPr id="8" name="object 8">
            <a:extLst>
              <a:ext uri="{FF2B5EF4-FFF2-40B4-BE49-F238E27FC236}">
                <a16:creationId xmlns:a16="http://schemas.microsoft.com/office/drawing/2014/main" id="{F5EE489C-DFAE-6EED-59DF-E52E843485D2}"/>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2F5E3EBE-49B8-2C0C-3004-E8E25F3AB77C}"/>
              </a:ext>
            </a:extLst>
          </p:cNvPr>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C4FC02C0-A026-4C0C-22D3-C6370D8CDEFD}"/>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839F5884-C37B-46C3-B3BD-4FB8074819BA}"/>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8</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a:extLst>
              <a:ext uri="{FF2B5EF4-FFF2-40B4-BE49-F238E27FC236}">
                <a16:creationId xmlns:a16="http://schemas.microsoft.com/office/drawing/2014/main" id="{2F0CE054-E57C-924F-0D97-49589B441C8F}"/>
              </a:ext>
            </a:extLst>
          </p:cNvPr>
          <p:cNvSpPr txBox="1"/>
          <p:nvPr/>
        </p:nvSpPr>
        <p:spPr>
          <a:xfrm>
            <a:off x="273050" y="990600"/>
            <a:ext cx="11690350" cy="5570855"/>
          </a:xfrm>
          <a:prstGeom prst="rect">
            <a:avLst/>
          </a:prstGeom>
          <a:noFill/>
          <a:ln w="9525">
            <a:noFill/>
          </a:ln>
        </p:spPr>
        <p:txBody>
          <a:bodyPr lIns="0" tIns="12065" rIns="0" bIns="0">
            <a:noAutofit/>
          </a:bodyPr>
          <a:lstStyle/>
          <a:p>
            <a:pPr marL="355600" indent="-342900" algn="just" eaLnBrk="1" hangingPunct="1">
              <a:lnSpc>
                <a:spcPct val="120000"/>
              </a:lnSpc>
              <a:spcBef>
                <a:spcPts val="100"/>
              </a:spcBef>
              <a:buFont typeface="Wingdings" panose="05000000000000000000" pitchFamily="2" charset="2"/>
              <a:buChar char="Ø"/>
            </a:pPr>
            <a:r>
              <a:rPr lang="en-IN" b="1" dirty="0"/>
              <a:t>Importing the Packages: </a:t>
            </a:r>
            <a:r>
              <a:rPr lang="en-IN" dirty="0"/>
              <a:t>Essential libraries are imported to support image handling, numerical computation, deep learning operations, performance evaluation, and web integration. These packages enable data preprocessing, model construction, training control, metric computation, and seamless interaction between backend processing and user-facing functionalities.</a:t>
            </a:r>
          </a:p>
          <a:p>
            <a:pPr marL="355600" indent="-342900" algn="just" eaLnBrk="1" hangingPunct="1">
              <a:lnSpc>
                <a:spcPct val="120000"/>
              </a:lnSpc>
              <a:spcBef>
                <a:spcPts val="100"/>
              </a:spcBef>
              <a:buFont typeface="Wingdings" panose="05000000000000000000" pitchFamily="2" charset="2"/>
              <a:buChar char="Ø"/>
            </a:pPr>
            <a:r>
              <a:rPr lang="en-IN" b="1" dirty="0"/>
              <a:t>Exploring the Dataset: </a:t>
            </a:r>
            <a:r>
              <a:rPr lang="en-IN" dirty="0"/>
              <a:t>The dataset is examined to understand class distribution, image resolution, and category diversity. Sample visualization and directory inspection help verify data integrity and balance, ensuring that images are correctly organized and suitable for effective land use and land cover classification tasks.</a:t>
            </a:r>
          </a:p>
          <a:p>
            <a:pPr marL="355600" indent="-342900" algn="just" eaLnBrk="1" hangingPunct="1">
              <a:lnSpc>
                <a:spcPct val="120000"/>
              </a:lnSpc>
              <a:spcBef>
                <a:spcPts val="100"/>
              </a:spcBef>
              <a:buFont typeface="Wingdings" panose="05000000000000000000" pitchFamily="2" charset="2"/>
              <a:buChar char="Ø"/>
            </a:pPr>
            <a:r>
              <a:rPr lang="en-IN" b="1" dirty="0"/>
              <a:t>Image Processing: </a:t>
            </a:r>
            <a:r>
              <a:rPr lang="en-IN" dirty="0"/>
              <a:t>Image preprocessing is performed using an image data generator to rescale pixel values, apply geometric transformations, perform horizontal flipping, and reshape inputs. These operations enhance feature learning, reduce overfitting, and ensure uniform input dimensions for efficient model training.</a:t>
            </a:r>
          </a:p>
          <a:p>
            <a:pPr marL="355600" indent="-342900" algn="just" eaLnBrk="1" hangingPunct="1">
              <a:lnSpc>
                <a:spcPct val="120000"/>
              </a:lnSpc>
              <a:spcBef>
                <a:spcPts val="100"/>
              </a:spcBef>
              <a:buFont typeface="Wingdings" panose="05000000000000000000" pitchFamily="2" charset="2"/>
              <a:buChar char="Ø"/>
            </a:pPr>
            <a:r>
              <a:rPr lang="en-IN" b="1" dirty="0"/>
              <a:t>Model Training: </a:t>
            </a:r>
            <a:r>
              <a:rPr lang="en-IN" dirty="0"/>
              <a:t>The training phase involves building and fitting deep learning models including ResNet50, ResNet18, DenseNet121, VGG19, ResNet152, and </a:t>
            </a:r>
            <a:r>
              <a:rPr lang="en-IN" dirty="0" err="1"/>
              <a:t>ConvNeXt</a:t>
            </a:r>
            <a:r>
              <a:rPr lang="en-IN" dirty="0"/>
              <a:t>-Tiny. Early stopping is applied to monitor validation performance, ensuring stable convergence and preventing underfitting or overfitting during learning.</a:t>
            </a:r>
          </a:p>
          <a:p>
            <a:pPr marL="355600" indent="-342900" algn="just" eaLnBrk="1" hangingPunct="1">
              <a:lnSpc>
                <a:spcPct val="120000"/>
              </a:lnSpc>
              <a:spcBef>
                <a:spcPts val="100"/>
              </a:spcBef>
              <a:buFont typeface="Wingdings" panose="05000000000000000000" pitchFamily="2" charset="2"/>
              <a:buChar char="Ø"/>
            </a:pPr>
            <a:r>
              <a:rPr lang="en-IN" b="1" dirty="0"/>
              <a:t>Final Outcome: </a:t>
            </a:r>
            <a:r>
              <a:rPr lang="en-IN" dirty="0"/>
              <a:t>The system displays the predicted land use and land cover category through the frontend interface. Clear visualization of results enables users to interpret classification outcomes effectively, supporting informed analysis and decision-making based on remote sensing imagery.</a:t>
            </a:r>
          </a:p>
          <a:p>
            <a:pPr marL="355600" indent="-342900" algn="just" eaLnBrk="1" hangingPunct="1">
              <a:lnSpc>
                <a:spcPct val="120000"/>
              </a:lnSpc>
              <a:spcBef>
                <a:spcPts val="100"/>
              </a:spcBef>
              <a:buFont typeface="Wingdings" panose="05000000000000000000" pitchFamily="2" charset="2"/>
              <a:buChar char="Ø"/>
            </a:pPr>
            <a:endParaRPr lang="en-IN" dirty="0"/>
          </a:p>
        </p:txBody>
      </p:sp>
    </p:spTree>
    <p:extLst>
      <p:ext uri="{BB962C8B-B14F-4D97-AF65-F5344CB8AC3E}">
        <p14:creationId xmlns:p14="http://schemas.microsoft.com/office/powerpoint/2010/main" val="136625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p:cNvGrpSpPr/>
          <p:nvPr/>
        </p:nvGrpSpPr>
        <p:grpSpPr>
          <a:xfrm>
            <a:off x="0" y="209550"/>
            <a:ext cx="12192000" cy="803275"/>
            <a:chOff x="0" y="216720"/>
            <a:chExt cx="12192000" cy="803275"/>
          </a:xfrm>
        </p:grpSpPr>
        <p:pic>
          <p:nvPicPr>
            <p:cNvPr id="13322"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3323"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p:nvPr/>
        </p:nvSpPr>
        <p:spPr>
          <a:xfrm>
            <a:off x="73025" y="304800"/>
            <a:ext cx="10213975" cy="2021066"/>
          </a:xfrm>
          <a:prstGeom prst="rect">
            <a:avLst/>
          </a:prstGeom>
        </p:spPr>
        <p:txBody>
          <a:bodyPr wrap="square" lIns="0" tIns="12700" rIns="0" bIns="0">
            <a:spAutoFit/>
          </a:bodyPr>
          <a:lstStyle/>
          <a:p>
            <a:pPr marL="12700" eaLnBrk="1" hangingPunct="1">
              <a:spcBef>
                <a:spcPts val="100"/>
              </a:spcBef>
            </a:pPr>
            <a:r>
              <a:rPr lang="en-US" sz="3600" dirty="0">
                <a:solidFill>
                  <a:schemeClr val="bg1"/>
                </a:solidFill>
                <a:sym typeface="+mn-ea"/>
              </a:rPr>
              <a:t>Implementation – Use Case Diagram</a:t>
            </a:r>
            <a:endParaRPr lang="en-US" sz="3600" dirty="0">
              <a:solidFill>
                <a:schemeClr val="bg1"/>
              </a:solidFill>
            </a:endParaRPr>
          </a:p>
          <a:p>
            <a:pPr marL="12700" eaLnBrk="1" hangingPunct="1">
              <a:spcBef>
                <a:spcPts val="100"/>
              </a:spcBef>
              <a:buNone/>
            </a:pPr>
            <a:endParaRPr lang="zh-CN" altLang="x-none" sz="3600" dirty="0">
              <a:solidFill>
                <a:schemeClr val="bg1"/>
              </a:solidFill>
              <a:latin typeface="Times New Roman" panose="02020603050405020304" pitchFamily="18" charset="0"/>
              <a:cs typeface="Times New Roman" panose="02020603050405020304" pitchFamily="18" charset="0"/>
            </a:endParaRPr>
          </a:p>
          <a:p>
            <a:pPr marL="12700" eaLnBrk="1" hangingPunct="1">
              <a:spcBef>
                <a:spcPts val="225"/>
              </a:spcBef>
              <a:buNone/>
            </a:pPr>
            <a:endParaRPr lang="zh-CN" altLang="x-none" sz="2800" dirty="0">
              <a:solidFill>
                <a:srgbClr val="000000"/>
              </a:solidFill>
              <a:latin typeface="Times New Roman" panose="02020603050405020304" pitchFamily="18" charset="0"/>
              <a:cs typeface="Times New Roman" panose="02020603050405020304" pitchFamily="18" charset="0"/>
            </a:endParaRPr>
          </a:p>
          <a:p>
            <a:pPr marL="12700" eaLnBrk="1" hangingPunct="1">
              <a:buNone/>
            </a:pPr>
            <a:endParaRPr lang="zh-CN" altLang="x-none" sz="2800" dirty="0">
              <a:solidFill>
                <a:srgbClr val="000000"/>
              </a:solidFill>
              <a:latin typeface="Lucida Sans Unicode" panose="020B0602030504020204" pitchFamily="34" charset="0"/>
              <a:ea typeface="Lucida Sans Unicode" panose="020B0602030504020204" pitchFamily="34" charset="0"/>
            </a:endParaRPr>
          </a:p>
        </p:txBody>
      </p:sp>
      <p:sp>
        <p:nvSpPr>
          <p:cNvPr id="13317" name="Text Placeholder 3"/>
          <p:cNvSpPr>
            <a:spLocks noGrp="1"/>
          </p:cNvSpPr>
          <p:nvPr>
            <p:ph type="body" idx="1"/>
          </p:nvPr>
        </p:nvSpPr>
        <p:spPr>
          <a:xfrm>
            <a:off x="6611176" y="1094105"/>
            <a:ext cx="5182362" cy="5238750"/>
          </a:xfrm>
          <a:ln/>
        </p:spPr>
        <p:txBody>
          <a:bodyPr vert="horz" wrap="square" lIns="0" tIns="0" rIns="0" bIns="0" anchor="t" anchorCtr="0">
            <a:noAutofit/>
          </a:bodyPr>
          <a:lstStyle/>
          <a:p>
            <a:pPr algn="just">
              <a:buNone/>
            </a:pPr>
            <a:r>
              <a:rPr lang="en-US" sz="2000" dirty="0"/>
              <a:t>                        </a:t>
            </a:r>
          </a:p>
          <a:p>
            <a:pPr algn="just">
              <a:buNone/>
            </a:pPr>
            <a:r>
              <a:rPr lang="en-US" sz="2000" dirty="0"/>
              <a:t>                     The use case diagram represents the functional flow of the system by illustrating interactions between the User, Application, Dataset, and Database. It shows key use cases such as importing packages, exploring and preprocessing the dataset, building and training deep learning models (</a:t>
            </a:r>
            <a:r>
              <a:rPr lang="en-US" sz="2000" dirty="0" err="1"/>
              <a:t>ResNet</a:t>
            </a:r>
            <a:r>
              <a:rPr lang="en-US" sz="2000" dirty="0"/>
              <a:t>, </a:t>
            </a:r>
            <a:r>
              <a:rPr lang="en-US" sz="2000" dirty="0" err="1"/>
              <a:t>DenseNet</a:t>
            </a:r>
            <a:r>
              <a:rPr lang="en-US" sz="2000" dirty="0"/>
              <a:t>, VGG, </a:t>
            </a:r>
            <a:r>
              <a:rPr lang="en-US" sz="2000" dirty="0" err="1"/>
              <a:t>ConvNeXt</a:t>
            </a:r>
            <a:r>
              <a:rPr lang="en-US" sz="2000" dirty="0"/>
              <a:t>), user signup and </a:t>
            </a:r>
            <a:r>
              <a:rPr lang="en-US" sz="2000" dirty="0" err="1"/>
              <a:t>signin</a:t>
            </a:r>
            <a:r>
              <a:rPr lang="en-US" sz="2000" dirty="0"/>
              <a:t>, user input submission, and generation of the final outcome, thereby explaining the complete </a:t>
            </a:r>
            <a:r>
              <a:rPr lang="en-US" sz="2000" dirty="0" err="1"/>
              <a:t>EcoVision</a:t>
            </a:r>
            <a:r>
              <a:rPr lang="en-US" sz="2000" dirty="0"/>
              <a:t> system workflow.</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9</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12" name="Picture 11">
            <a:extLst>
              <a:ext uri="{FF2B5EF4-FFF2-40B4-BE49-F238E27FC236}">
                <a16:creationId xmlns:a16="http://schemas.microsoft.com/office/drawing/2014/main" id="{CE20078E-2152-F2D2-1F44-7972DDE90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143000"/>
            <a:ext cx="5925377" cy="48965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F939-0CEE-A2BB-BB34-5E2246231C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C7BD42-7138-3801-4788-678E119DD4AC}"/>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E1EFD7F8-E5E4-3A3C-536E-F3E752BCD3E4}"/>
              </a:ext>
            </a:extLst>
          </p:cNvPr>
          <p:cNvGrpSpPr/>
          <p:nvPr/>
        </p:nvGrpSpPr>
        <p:grpSpPr>
          <a:xfrm>
            <a:off x="0" y="209550"/>
            <a:ext cx="12192000" cy="803275"/>
            <a:chOff x="0" y="216720"/>
            <a:chExt cx="12192000" cy="803275"/>
          </a:xfrm>
        </p:grpSpPr>
        <p:pic>
          <p:nvPicPr>
            <p:cNvPr id="13322" name="object 4">
              <a:extLst>
                <a:ext uri="{FF2B5EF4-FFF2-40B4-BE49-F238E27FC236}">
                  <a16:creationId xmlns:a16="http://schemas.microsoft.com/office/drawing/2014/main" id="{A9A57837-A57A-02A0-079F-74C83463000E}"/>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F2DB1440-B317-005A-8D39-3C1E85D7D6CF}"/>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88C2FECE-887D-5793-1EA3-5BEC1624C4BF}"/>
              </a:ext>
            </a:extLst>
          </p:cNvPr>
          <p:cNvSpPr txBox="1"/>
          <p:nvPr/>
        </p:nvSpPr>
        <p:spPr>
          <a:xfrm>
            <a:off x="73025" y="304800"/>
            <a:ext cx="10213975" cy="566822"/>
          </a:xfrm>
          <a:prstGeom prst="rect">
            <a:avLst/>
          </a:prstGeom>
        </p:spPr>
        <p:txBody>
          <a:bodyPr wrap="square" lIns="0" tIns="12700" rIns="0" bIns="0">
            <a:spAutoFit/>
          </a:bodyPr>
          <a:lstStyle/>
          <a:p>
            <a:r>
              <a:rPr lang="en-US" sz="3600" dirty="0">
                <a:solidFill>
                  <a:schemeClr val="bg1"/>
                </a:solidFill>
                <a:sym typeface="+mn-ea"/>
              </a:rPr>
              <a:t>Implementation – Class Diagram</a:t>
            </a:r>
            <a:endParaRPr lang="en-US" sz="3600" dirty="0">
              <a:solidFill>
                <a:schemeClr val="bg1"/>
              </a:solidFill>
            </a:endParaRPr>
          </a:p>
        </p:txBody>
      </p:sp>
      <p:sp>
        <p:nvSpPr>
          <p:cNvPr id="13317" name="Text Placeholder 3">
            <a:extLst>
              <a:ext uri="{FF2B5EF4-FFF2-40B4-BE49-F238E27FC236}">
                <a16:creationId xmlns:a16="http://schemas.microsoft.com/office/drawing/2014/main" id="{17389446-F5D7-D10A-24BC-FFDEDE4DC64B}"/>
              </a:ext>
            </a:extLst>
          </p:cNvPr>
          <p:cNvSpPr>
            <a:spLocks noGrp="1"/>
          </p:cNvSpPr>
          <p:nvPr>
            <p:ph type="body" idx="1"/>
          </p:nvPr>
        </p:nvSpPr>
        <p:spPr>
          <a:xfrm>
            <a:off x="6611176" y="1094105"/>
            <a:ext cx="5182362" cy="5238750"/>
          </a:xfrm>
          <a:ln/>
        </p:spPr>
        <p:txBody>
          <a:bodyPr vert="horz" wrap="square" lIns="0" tIns="0" rIns="0" bIns="0" anchor="t" anchorCtr="0">
            <a:noAutofit/>
          </a:bodyPr>
          <a:lstStyle/>
          <a:p>
            <a:pPr algn="just">
              <a:buNone/>
            </a:pPr>
            <a:endParaRPr lang="en-US" sz="2000" dirty="0"/>
          </a:p>
          <a:p>
            <a:pPr algn="just">
              <a:buNone/>
            </a:pPr>
            <a:r>
              <a:rPr lang="en-US" sz="2000" dirty="0"/>
              <a:t>                        The class diagram illustrates the structural design of the system by representing classes, their attributes, and operations, and the relationships between them. It describes the workflow starting from importing packages, exploring and preprocessing the dataset, user signup and </a:t>
            </a:r>
            <a:r>
              <a:rPr lang="en-US" sz="2000" dirty="0" err="1"/>
              <a:t>signin</a:t>
            </a:r>
            <a:r>
              <a:rPr lang="en-US" sz="2000" dirty="0"/>
              <a:t>, building and training deep learning models (</a:t>
            </a:r>
            <a:r>
              <a:rPr lang="en-US" sz="2000" dirty="0" err="1"/>
              <a:t>ResNet</a:t>
            </a:r>
            <a:r>
              <a:rPr lang="en-US" sz="2000" dirty="0"/>
              <a:t>, </a:t>
            </a:r>
            <a:r>
              <a:rPr lang="en-US" sz="2000" dirty="0" err="1"/>
              <a:t>DenseNet</a:t>
            </a:r>
            <a:r>
              <a:rPr lang="en-US" sz="2000" dirty="0"/>
              <a:t>, VGG, </a:t>
            </a:r>
            <a:r>
              <a:rPr lang="en-US" sz="2000" dirty="0" err="1"/>
              <a:t>ConvNeXt</a:t>
            </a:r>
            <a:r>
              <a:rPr lang="en-US" sz="2000" dirty="0"/>
              <a:t>), accepting user input, and generating the final prediction result, thereby defining the complete system architecture of the </a:t>
            </a:r>
            <a:r>
              <a:rPr lang="en-US" sz="2000" dirty="0" err="1"/>
              <a:t>EcoVision</a:t>
            </a:r>
            <a:r>
              <a:rPr lang="en-US" sz="2000" dirty="0"/>
              <a:t> application.</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EAFD8EF0-E1B9-BC8B-8CBE-EAB8DB3FCF97}"/>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0C3C3A54-E4B7-AE4A-6BC9-73B1BF827C49}"/>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E46F0012-4836-F952-1BA5-BC7FDA5756C9}"/>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10</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C57BAA27-F5AE-FD6F-275D-C98CB8B8BB47}"/>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4" name="Picture 3">
            <a:extLst>
              <a:ext uri="{FF2B5EF4-FFF2-40B4-BE49-F238E27FC236}">
                <a16:creationId xmlns:a16="http://schemas.microsoft.com/office/drawing/2014/main" id="{312605AF-B988-CA76-73EB-AD096F34A6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463" y="1371600"/>
            <a:ext cx="6078538" cy="4343400"/>
          </a:xfrm>
          <a:prstGeom prst="rect">
            <a:avLst/>
          </a:prstGeom>
        </p:spPr>
      </p:pic>
    </p:spTree>
    <p:extLst>
      <p:ext uri="{BB962C8B-B14F-4D97-AF65-F5344CB8AC3E}">
        <p14:creationId xmlns:p14="http://schemas.microsoft.com/office/powerpoint/2010/main" val="2112012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523E7-BF7E-652E-79D8-76CAC32E63E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07F3D8-8583-D8D2-874D-52448D8D95A0}"/>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EEEFC5CE-2C10-1B77-6C57-E5BF984BFE38}"/>
              </a:ext>
            </a:extLst>
          </p:cNvPr>
          <p:cNvGrpSpPr/>
          <p:nvPr/>
        </p:nvGrpSpPr>
        <p:grpSpPr>
          <a:xfrm>
            <a:off x="0" y="209550"/>
            <a:ext cx="12192000" cy="803275"/>
            <a:chOff x="0" y="216720"/>
            <a:chExt cx="12192000" cy="803275"/>
          </a:xfrm>
        </p:grpSpPr>
        <p:pic>
          <p:nvPicPr>
            <p:cNvPr id="13322" name="object 4">
              <a:extLst>
                <a:ext uri="{FF2B5EF4-FFF2-40B4-BE49-F238E27FC236}">
                  <a16:creationId xmlns:a16="http://schemas.microsoft.com/office/drawing/2014/main" id="{D6B4796F-1EB1-1BC9-F0D6-997E57B58959}"/>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ED65C818-9C1C-E9B7-2453-316A2DF2C104}"/>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8E622016-5D03-3CDC-7F8C-716D68BEA65C}"/>
              </a:ext>
            </a:extLst>
          </p:cNvPr>
          <p:cNvSpPr txBox="1"/>
          <p:nvPr/>
        </p:nvSpPr>
        <p:spPr>
          <a:xfrm>
            <a:off x="73025" y="304800"/>
            <a:ext cx="10213975" cy="2021066"/>
          </a:xfrm>
          <a:prstGeom prst="rect">
            <a:avLst/>
          </a:prstGeom>
        </p:spPr>
        <p:txBody>
          <a:bodyPr wrap="square" lIns="0" tIns="12700" rIns="0" bIns="0">
            <a:spAutoFit/>
          </a:bodyPr>
          <a:lstStyle/>
          <a:p>
            <a:pPr marL="12700" eaLnBrk="1" hangingPunct="1">
              <a:spcBef>
                <a:spcPts val="100"/>
              </a:spcBef>
            </a:pPr>
            <a:r>
              <a:rPr lang="en-US" sz="3600" dirty="0">
                <a:solidFill>
                  <a:schemeClr val="bg1"/>
                </a:solidFill>
                <a:sym typeface="+mn-ea"/>
              </a:rPr>
              <a:t>Implementation – Activity Diagram</a:t>
            </a:r>
            <a:endParaRPr lang="en-US" sz="3600" dirty="0">
              <a:solidFill>
                <a:schemeClr val="bg1"/>
              </a:solidFill>
            </a:endParaRPr>
          </a:p>
          <a:p>
            <a:pPr marL="12700" eaLnBrk="1" hangingPunct="1">
              <a:spcBef>
                <a:spcPts val="100"/>
              </a:spcBef>
              <a:buNone/>
            </a:pPr>
            <a:endParaRPr lang="zh-CN" altLang="x-none" sz="3600" dirty="0">
              <a:solidFill>
                <a:schemeClr val="bg1"/>
              </a:solidFill>
              <a:latin typeface="Times New Roman" panose="02020603050405020304" pitchFamily="18" charset="0"/>
              <a:cs typeface="Times New Roman" panose="02020603050405020304" pitchFamily="18" charset="0"/>
            </a:endParaRPr>
          </a:p>
          <a:p>
            <a:pPr marL="12700" eaLnBrk="1" hangingPunct="1">
              <a:spcBef>
                <a:spcPts val="225"/>
              </a:spcBef>
              <a:buNone/>
            </a:pPr>
            <a:endParaRPr lang="zh-CN" altLang="x-none" sz="2800" dirty="0">
              <a:solidFill>
                <a:srgbClr val="000000"/>
              </a:solidFill>
              <a:latin typeface="Times New Roman" panose="02020603050405020304" pitchFamily="18" charset="0"/>
              <a:cs typeface="Times New Roman" panose="02020603050405020304" pitchFamily="18" charset="0"/>
            </a:endParaRPr>
          </a:p>
          <a:p>
            <a:pPr marL="12700" eaLnBrk="1" hangingPunct="1">
              <a:buNone/>
            </a:pPr>
            <a:endParaRPr lang="zh-CN" altLang="x-none" sz="2800" dirty="0">
              <a:solidFill>
                <a:srgbClr val="000000"/>
              </a:solidFill>
              <a:latin typeface="Lucida Sans Unicode" panose="020B0602030504020204" pitchFamily="34" charset="0"/>
              <a:ea typeface="Lucida Sans Unicode" panose="020B0602030504020204" pitchFamily="34" charset="0"/>
            </a:endParaRPr>
          </a:p>
        </p:txBody>
      </p:sp>
      <p:sp>
        <p:nvSpPr>
          <p:cNvPr id="13317" name="Text Placeholder 3">
            <a:extLst>
              <a:ext uri="{FF2B5EF4-FFF2-40B4-BE49-F238E27FC236}">
                <a16:creationId xmlns:a16="http://schemas.microsoft.com/office/drawing/2014/main" id="{0670F99C-58C0-2C8B-017E-C3F81ED864BB}"/>
              </a:ext>
            </a:extLst>
          </p:cNvPr>
          <p:cNvSpPr>
            <a:spLocks noGrp="1"/>
          </p:cNvSpPr>
          <p:nvPr>
            <p:ph type="body" idx="1"/>
          </p:nvPr>
        </p:nvSpPr>
        <p:spPr>
          <a:xfrm>
            <a:off x="6629400" y="1094105"/>
            <a:ext cx="5164138" cy="5238750"/>
          </a:xfrm>
          <a:ln/>
        </p:spPr>
        <p:txBody>
          <a:bodyPr vert="horz" wrap="square" lIns="0" tIns="0" rIns="0" bIns="0" anchor="t" anchorCtr="0">
            <a:noAutofit/>
          </a:bodyPr>
          <a:lstStyle/>
          <a:p>
            <a:pPr algn="just">
              <a:buNone/>
            </a:pPr>
            <a:endParaRPr lang="en-US" sz="2000" dirty="0"/>
          </a:p>
          <a:p>
            <a:pPr algn="just">
              <a:buNone/>
            </a:pPr>
            <a:r>
              <a:rPr lang="en-US" sz="2000" dirty="0"/>
              <a:t>                         </a:t>
            </a:r>
          </a:p>
          <a:p>
            <a:pPr algn="just">
              <a:buNone/>
            </a:pPr>
            <a:r>
              <a:rPr lang="en-US" sz="2000" dirty="0"/>
              <a:t>                        The activity diagram represents the workflow of Remote Sensing Image Classification of Land Use and Land Cover using Deep Learning, starting from application launch, data preprocessing, and model training using deep learning architectures. User authentication and input of satellite images lead to land use and land cover classification, generating </a:t>
            </a:r>
            <a:r>
              <a:rPr lang="en-US" sz="2200" dirty="0"/>
              <a:t>the</a:t>
            </a:r>
            <a:r>
              <a:rPr lang="en-US" sz="2000" dirty="0"/>
              <a:t> final outcome.</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567AA64D-6596-F1EB-FB9A-FC8EC497B98C}"/>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F524D0C3-5F78-8A02-75BB-BDCA313C7A11}"/>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D18C1F3A-6D59-7DC0-CA6C-5885685AABF2}"/>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11</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29210B76-0A94-54C2-0693-12568231B126}"/>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4" name="Picture 3">
            <a:extLst>
              <a:ext uri="{FF2B5EF4-FFF2-40B4-BE49-F238E27FC236}">
                <a16:creationId xmlns:a16="http://schemas.microsoft.com/office/drawing/2014/main" id="{59B4BD18-B13A-429C-E203-C6A6BC4FF8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595" y="1179476"/>
            <a:ext cx="6163535" cy="5068007"/>
          </a:xfrm>
          <a:prstGeom prst="rect">
            <a:avLst/>
          </a:prstGeom>
        </p:spPr>
      </p:pic>
    </p:spTree>
    <p:extLst>
      <p:ext uri="{BB962C8B-B14F-4D97-AF65-F5344CB8AC3E}">
        <p14:creationId xmlns:p14="http://schemas.microsoft.com/office/powerpoint/2010/main" val="170232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2090-4801-218C-DD05-0E0C5F2A6E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0B13D1-037A-AAA0-A530-B3BA40C710F7}"/>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9D8A845B-32EC-69FB-6285-4879EC59A6C5}"/>
              </a:ext>
            </a:extLst>
          </p:cNvPr>
          <p:cNvGrpSpPr/>
          <p:nvPr/>
        </p:nvGrpSpPr>
        <p:grpSpPr>
          <a:xfrm>
            <a:off x="0" y="204036"/>
            <a:ext cx="12192000" cy="803275"/>
            <a:chOff x="0" y="216720"/>
            <a:chExt cx="12192000" cy="803275"/>
          </a:xfrm>
        </p:grpSpPr>
        <p:pic>
          <p:nvPicPr>
            <p:cNvPr id="13322" name="object 4">
              <a:extLst>
                <a:ext uri="{FF2B5EF4-FFF2-40B4-BE49-F238E27FC236}">
                  <a16:creationId xmlns:a16="http://schemas.microsoft.com/office/drawing/2014/main" id="{6A01005E-B382-ADC9-BC34-BFF1FBE11198}"/>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13B833A2-DCFA-AF8B-57A6-539285CD14EF}"/>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2280B92E-90FC-7F3A-2800-19CE2ABDE7DB}"/>
              </a:ext>
            </a:extLst>
          </p:cNvPr>
          <p:cNvSpPr txBox="1"/>
          <p:nvPr/>
        </p:nvSpPr>
        <p:spPr>
          <a:xfrm>
            <a:off x="73025" y="304800"/>
            <a:ext cx="10213975" cy="566822"/>
          </a:xfrm>
          <a:prstGeom prst="rect">
            <a:avLst/>
          </a:prstGeom>
        </p:spPr>
        <p:txBody>
          <a:bodyPr wrap="square" lIns="0" tIns="12700" rIns="0" bIns="0">
            <a:spAutoFit/>
          </a:bodyPr>
          <a:lstStyle/>
          <a:p>
            <a:r>
              <a:rPr lang="en-US" sz="3600" dirty="0">
                <a:solidFill>
                  <a:schemeClr val="bg1"/>
                </a:solidFill>
                <a:sym typeface="+mn-ea"/>
              </a:rPr>
              <a:t>Implementation – Sequence Diagram</a:t>
            </a:r>
            <a:endParaRPr lang="en-US" sz="3600" dirty="0">
              <a:solidFill>
                <a:schemeClr val="bg1"/>
              </a:solidFill>
            </a:endParaRPr>
          </a:p>
        </p:txBody>
      </p:sp>
      <p:sp>
        <p:nvSpPr>
          <p:cNvPr id="13317" name="Text Placeholder 3">
            <a:extLst>
              <a:ext uri="{FF2B5EF4-FFF2-40B4-BE49-F238E27FC236}">
                <a16:creationId xmlns:a16="http://schemas.microsoft.com/office/drawing/2014/main" id="{BC8DBA54-B6DC-03D1-4EEA-81F27A904EAC}"/>
              </a:ext>
            </a:extLst>
          </p:cNvPr>
          <p:cNvSpPr>
            <a:spLocks noGrp="1"/>
          </p:cNvSpPr>
          <p:nvPr>
            <p:ph type="body" idx="1"/>
          </p:nvPr>
        </p:nvSpPr>
        <p:spPr>
          <a:xfrm>
            <a:off x="6611176" y="1094105"/>
            <a:ext cx="5182362" cy="5238750"/>
          </a:xfrm>
          <a:ln/>
        </p:spPr>
        <p:txBody>
          <a:bodyPr vert="horz" wrap="square" lIns="0" tIns="0" rIns="0" bIns="0" anchor="t" anchorCtr="0">
            <a:noAutofit/>
          </a:bodyPr>
          <a:lstStyle/>
          <a:p>
            <a:pPr algn="just">
              <a:buNone/>
            </a:pPr>
            <a:endParaRPr lang="en-US" sz="2000" dirty="0"/>
          </a:p>
          <a:p>
            <a:pPr algn="just">
              <a:buNone/>
            </a:pPr>
            <a:r>
              <a:rPr lang="en-US" sz="2000" dirty="0"/>
              <a:t>                             The sequence diagram illustrates the interaction flow of </a:t>
            </a:r>
            <a:r>
              <a:rPr lang="en-US" sz="2000" i="1" dirty="0"/>
              <a:t>Remote Sensing Image Classification of Land Use and Land Cover Using Deep Learning</a:t>
            </a:r>
            <a:r>
              <a:rPr lang="en-US" sz="2000" dirty="0"/>
              <a:t> among the User, Dataset, Application, Database, and System. It shows the sequence of operations including importing packages, exploring and preprocessing remote sensing datasets, building and training deep learning, user signup and </a:t>
            </a:r>
            <a:r>
              <a:rPr lang="en-US" sz="2000" dirty="0" err="1"/>
              <a:t>signin</a:t>
            </a:r>
            <a:r>
              <a:rPr lang="en-US" sz="2000" dirty="0"/>
              <a:t>, user input submission, and generation of the final land use and land cover classification result.</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C7252E1A-3491-8C7B-A501-58C4EA41B828}"/>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ABD5D1E0-746F-D852-3A52-297EFE3ECA91}"/>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48B68993-7FD6-9CB5-61EF-8E1E9FB59F92}"/>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12</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B5C0E7F3-35A0-2C40-B888-2CB4515B2A6C}"/>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4" name="Picture 3">
            <a:extLst>
              <a:ext uri="{FF2B5EF4-FFF2-40B4-BE49-F238E27FC236}">
                <a16:creationId xmlns:a16="http://schemas.microsoft.com/office/drawing/2014/main" id="{ACB8F530-0E13-34D6-2F6B-8866875895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692" y="1524000"/>
            <a:ext cx="6222483" cy="4307422"/>
          </a:xfrm>
          <a:prstGeom prst="rect">
            <a:avLst/>
          </a:prstGeom>
        </p:spPr>
      </p:pic>
    </p:spTree>
    <p:extLst>
      <p:ext uri="{BB962C8B-B14F-4D97-AF65-F5344CB8AC3E}">
        <p14:creationId xmlns:p14="http://schemas.microsoft.com/office/powerpoint/2010/main" val="1819043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E027D-FC82-7748-6C2B-2B9DE1D204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0D1C6B-3C8B-D2D1-461A-64D7AF3BFB1F}"/>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           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CFFB3CAD-2CAB-D01D-3D12-1D6C0B92B5C8}"/>
              </a:ext>
            </a:extLst>
          </p:cNvPr>
          <p:cNvGrpSpPr/>
          <p:nvPr/>
        </p:nvGrpSpPr>
        <p:grpSpPr>
          <a:xfrm>
            <a:off x="0" y="204036"/>
            <a:ext cx="12192000" cy="803275"/>
            <a:chOff x="0" y="216720"/>
            <a:chExt cx="12192000" cy="803275"/>
          </a:xfrm>
        </p:grpSpPr>
        <p:pic>
          <p:nvPicPr>
            <p:cNvPr id="13322" name="object 4">
              <a:extLst>
                <a:ext uri="{FF2B5EF4-FFF2-40B4-BE49-F238E27FC236}">
                  <a16:creationId xmlns:a16="http://schemas.microsoft.com/office/drawing/2014/main" id="{8AA495B2-D6EB-A904-21B9-1C0757956C8B}"/>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FFC44ECC-CDE0-3190-4FC8-F5B9A689DE42}"/>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772AB6EA-4156-6CBD-D5C4-8FAF4DE66760}"/>
              </a:ext>
            </a:extLst>
          </p:cNvPr>
          <p:cNvSpPr txBox="1"/>
          <p:nvPr/>
        </p:nvSpPr>
        <p:spPr>
          <a:xfrm>
            <a:off x="73025" y="304800"/>
            <a:ext cx="10213975" cy="1120820"/>
          </a:xfrm>
          <a:prstGeom prst="rect">
            <a:avLst/>
          </a:prstGeom>
        </p:spPr>
        <p:txBody>
          <a:bodyPr wrap="square" lIns="0" tIns="12700" rIns="0" bIns="0">
            <a:spAutoFit/>
          </a:bodyPr>
          <a:lstStyle/>
          <a:p>
            <a:r>
              <a:rPr lang="en-US" sz="3600" dirty="0">
                <a:solidFill>
                  <a:schemeClr val="bg1"/>
                </a:solidFill>
                <a:sym typeface="+mn-ea"/>
              </a:rPr>
              <a:t>Implementation – Collaboration Diagram</a:t>
            </a:r>
            <a:endParaRPr lang="en-US" sz="3600" dirty="0">
              <a:solidFill>
                <a:schemeClr val="bg1"/>
              </a:solidFill>
            </a:endParaRPr>
          </a:p>
          <a:p>
            <a:endParaRPr lang="en-US" sz="3600" dirty="0">
              <a:solidFill>
                <a:schemeClr val="bg1"/>
              </a:solidFill>
            </a:endParaRPr>
          </a:p>
        </p:txBody>
      </p:sp>
      <p:sp>
        <p:nvSpPr>
          <p:cNvPr id="13317" name="Text Placeholder 3">
            <a:extLst>
              <a:ext uri="{FF2B5EF4-FFF2-40B4-BE49-F238E27FC236}">
                <a16:creationId xmlns:a16="http://schemas.microsoft.com/office/drawing/2014/main" id="{6CCD8B32-1670-FFAC-1FF7-EB52C96EEC7D}"/>
              </a:ext>
            </a:extLst>
          </p:cNvPr>
          <p:cNvSpPr>
            <a:spLocks noGrp="1"/>
          </p:cNvSpPr>
          <p:nvPr>
            <p:ph type="body" idx="1"/>
          </p:nvPr>
        </p:nvSpPr>
        <p:spPr>
          <a:xfrm>
            <a:off x="6611176" y="1094105"/>
            <a:ext cx="5182362" cy="5238750"/>
          </a:xfrm>
          <a:ln/>
        </p:spPr>
        <p:txBody>
          <a:bodyPr vert="horz" wrap="square" lIns="0" tIns="0" rIns="0" bIns="0" anchor="t" anchorCtr="0">
            <a:noAutofit/>
          </a:bodyPr>
          <a:lstStyle/>
          <a:p>
            <a:pPr algn="just">
              <a:buNone/>
            </a:pPr>
            <a:endParaRPr lang="en-US" sz="2000" dirty="0"/>
          </a:p>
          <a:p>
            <a:pPr algn="just">
              <a:buNone/>
            </a:pPr>
            <a:r>
              <a:rPr lang="en-US" sz="2000" dirty="0"/>
              <a:t>                          The diagram illustrates the system interaction flow for </a:t>
            </a:r>
            <a:r>
              <a:rPr lang="en-US" sz="2000" i="1" dirty="0"/>
              <a:t>Remote Sensing Image Classification of Land Use and Land Cover Using Deep Learning</a:t>
            </a:r>
            <a:r>
              <a:rPr lang="en-US" sz="2000" dirty="0"/>
              <a:t>. It shows how the user interacts with the system to import required packages and provide input satellite images, while the system explores the remote sensing dataset and performs preprocessing. The application builds and trains deep learning models such as </a:t>
            </a:r>
            <a:r>
              <a:rPr lang="en-US" sz="2000" dirty="0" err="1"/>
              <a:t>ResNet</a:t>
            </a:r>
            <a:r>
              <a:rPr lang="en-US" sz="2000" dirty="0"/>
              <a:t>, </a:t>
            </a:r>
            <a:r>
              <a:rPr lang="en-US" sz="2000" dirty="0" err="1"/>
              <a:t>DenseNet</a:t>
            </a:r>
            <a:r>
              <a:rPr lang="en-US" sz="2000" dirty="0"/>
              <a:t>, VGG, and </a:t>
            </a:r>
            <a:r>
              <a:rPr lang="en-US" sz="2000" dirty="0" err="1"/>
              <a:t>ConvNeXt</a:t>
            </a:r>
            <a:r>
              <a:rPr lang="en-US" sz="2000" dirty="0"/>
              <a:t>, user authentication is managed through the database, and the trained system generates the final land use and land cover classification outcome.</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63893B0F-91C2-2BE0-8FC4-3C389C6AAF83}"/>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69BB1C5D-0C87-06B3-E4D4-E8996BED9E11}"/>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06326B83-C158-8F38-40C4-333DBEA1F55D}"/>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13</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F7BB4ED7-73CA-ADDE-6FB8-5DE2C24F2C8B}"/>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11" name="Content Placeholder 3">
            <a:extLst>
              <a:ext uri="{FF2B5EF4-FFF2-40B4-BE49-F238E27FC236}">
                <a16:creationId xmlns:a16="http://schemas.microsoft.com/office/drawing/2014/main" id="{823C3CD3-FE44-B07A-F838-FFB63C6251FE}"/>
              </a:ext>
            </a:extLst>
          </p:cNvPr>
          <p:cNvPicPr>
            <a:picLocks noGrp="1"/>
          </p:cNvPicPr>
          <p:nvPr/>
        </p:nvPicPr>
        <p:blipFill>
          <a:blip r:embed="rId4"/>
          <a:stretch>
            <a:fillRect/>
          </a:stretch>
        </p:blipFill>
        <p:spPr>
          <a:xfrm>
            <a:off x="104287" y="1341625"/>
            <a:ext cx="6251576" cy="4900613"/>
          </a:xfrm>
          <a:prstGeom prst="rect">
            <a:avLst/>
          </a:prstGeom>
        </p:spPr>
      </p:pic>
    </p:spTree>
    <p:extLst>
      <p:ext uri="{BB962C8B-B14F-4D97-AF65-F5344CB8AC3E}">
        <p14:creationId xmlns:p14="http://schemas.microsoft.com/office/powerpoint/2010/main" val="370386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9619-C6D6-C8BF-90FB-A2EA380ADB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AB5C85-E9B8-4037-01AD-17A4BD89AA56}"/>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E5004389-7DCD-3155-1E02-763F277D4F4E}"/>
              </a:ext>
            </a:extLst>
          </p:cNvPr>
          <p:cNvGrpSpPr/>
          <p:nvPr/>
        </p:nvGrpSpPr>
        <p:grpSpPr>
          <a:xfrm>
            <a:off x="0" y="209218"/>
            <a:ext cx="12192000" cy="803275"/>
            <a:chOff x="0" y="216720"/>
            <a:chExt cx="12192000" cy="803275"/>
          </a:xfrm>
        </p:grpSpPr>
        <p:pic>
          <p:nvPicPr>
            <p:cNvPr id="13322" name="object 4">
              <a:extLst>
                <a:ext uri="{FF2B5EF4-FFF2-40B4-BE49-F238E27FC236}">
                  <a16:creationId xmlns:a16="http://schemas.microsoft.com/office/drawing/2014/main" id="{EC65FF89-0532-EAD2-03FB-D15BC78D3E73}"/>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EF68532F-A46C-6D25-1071-26652743DD2D}"/>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FDA619C0-9EC6-345E-F65B-9047014A366B}"/>
              </a:ext>
            </a:extLst>
          </p:cNvPr>
          <p:cNvSpPr txBox="1"/>
          <p:nvPr/>
        </p:nvSpPr>
        <p:spPr>
          <a:xfrm>
            <a:off x="76200" y="267499"/>
            <a:ext cx="10210800" cy="1158121"/>
          </a:xfrm>
          <a:prstGeom prst="rect">
            <a:avLst/>
          </a:prstGeom>
        </p:spPr>
        <p:txBody>
          <a:bodyPr wrap="square" lIns="0" tIns="12700" rIns="0" bIns="0">
            <a:spAutoFit/>
          </a:bodyPr>
          <a:lstStyle/>
          <a:p>
            <a:r>
              <a:rPr lang="en-US" sz="3600" dirty="0">
                <a:solidFill>
                  <a:schemeClr val="bg1"/>
                </a:solidFill>
                <a:sym typeface="+mn-ea"/>
              </a:rPr>
              <a:t>Implementation – Component Diagram</a:t>
            </a:r>
            <a:endParaRPr lang="en-US" sz="3600" dirty="0">
              <a:solidFill>
                <a:schemeClr val="bg1"/>
              </a:solidFill>
            </a:endParaRPr>
          </a:p>
          <a:p>
            <a:endParaRPr lang="en-US" sz="3600" dirty="0">
              <a:solidFill>
                <a:schemeClr val="bg1"/>
              </a:solidFill>
            </a:endParaRPr>
          </a:p>
        </p:txBody>
      </p:sp>
      <p:sp>
        <p:nvSpPr>
          <p:cNvPr id="13317" name="Text Placeholder 3">
            <a:extLst>
              <a:ext uri="{FF2B5EF4-FFF2-40B4-BE49-F238E27FC236}">
                <a16:creationId xmlns:a16="http://schemas.microsoft.com/office/drawing/2014/main" id="{66DA3210-D6D6-E847-D6FA-B09332653A07}"/>
              </a:ext>
            </a:extLst>
          </p:cNvPr>
          <p:cNvSpPr>
            <a:spLocks noGrp="1"/>
          </p:cNvSpPr>
          <p:nvPr>
            <p:ph type="body" idx="1"/>
          </p:nvPr>
        </p:nvSpPr>
        <p:spPr>
          <a:xfrm>
            <a:off x="6611176" y="1094105"/>
            <a:ext cx="5182362" cy="5238750"/>
          </a:xfrm>
          <a:ln/>
        </p:spPr>
        <p:txBody>
          <a:bodyPr vert="horz" wrap="square" lIns="0" tIns="0" rIns="0" bIns="0" anchor="t" anchorCtr="0">
            <a:noAutofit/>
          </a:bodyPr>
          <a:lstStyle/>
          <a:p>
            <a:pPr algn="just">
              <a:buNone/>
            </a:pPr>
            <a:endParaRPr lang="en-US" sz="2000" dirty="0"/>
          </a:p>
          <a:p>
            <a:pPr algn="just">
              <a:buNone/>
            </a:pPr>
            <a:r>
              <a:rPr lang="en-US" sz="2000" dirty="0"/>
              <a:t>                     The diagram represents an end-to-end machine learning application workflow starting from user interaction. The user provides input to the system after necessary packages are imported, and the dataset is explored to understand its structure and quality. The application performs data pre-processing before building and training deep learning models such as </a:t>
            </a:r>
            <a:r>
              <a:rPr lang="en-US" sz="2000" dirty="0" err="1"/>
              <a:t>ResNet</a:t>
            </a:r>
            <a:r>
              <a:rPr lang="en-US" sz="2000" dirty="0"/>
              <a:t>, </a:t>
            </a:r>
            <a:r>
              <a:rPr lang="en-US" sz="2000" dirty="0" err="1"/>
              <a:t>DenseNet</a:t>
            </a:r>
            <a:r>
              <a:rPr lang="en-US" sz="2000" dirty="0"/>
              <a:t>, VGG, and </a:t>
            </a:r>
            <a:r>
              <a:rPr lang="en-US" sz="2000" dirty="0" err="1"/>
              <a:t>ConvNeXt</a:t>
            </a:r>
            <a:r>
              <a:rPr lang="en-US" sz="2000" dirty="0"/>
              <a:t>. A database module manages user signup and </a:t>
            </a:r>
            <a:r>
              <a:rPr lang="en-US" sz="2000" dirty="0" err="1"/>
              <a:t>signin</a:t>
            </a:r>
            <a:r>
              <a:rPr lang="en-US" sz="2000" dirty="0"/>
              <a:t> to ensure secure access. Finally, the trained model processes the user input and delivers the final outcome.</a:t>
            </a: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2D7F4876-D2AB-89AC-E6B2-088994BF72FF}"/>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5CC06CBF-5B6B-B166-ED6C-D2138B9125F2}"/>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D70E66A6-C86C-A45D-6294-EC0FA6CF2AE7}"/>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14</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7F43B645-9E0E-0B81-F5AB-4339519FE9EB}"/>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3" name="Content Placeholder 3">
            <a:extLst>
              <a:ext uri="{FF2B5EF4-FFF2-40B4-BE49-F238E27FC236}">
                <a16:creationId xmlns:a16="http://schemas.microsoft.com/office/drawing/2014/main" id="{63E3CDE4-6E26-6499-EC2A-9B0F6207885E}"/>
              </a:ext>
            </a:extLst>
          </p:cNvPr>
          <p:cNvPicPr>
            <a:picLocks noGrp="1"/>
          </p:cNvPicPr>
          <p:nvPr/>
        </p:nvPicPr>
        <p:blipFill>
          <a:blip r:embed="rId4"/>
          <a:stretch>
            <a:fillRect/>
          </a:stretch>
        </p:blipFill>
        <p:spPr>
          <a:xfrm>
            <a:off x="337376" y="1754845"/>
            <a:ext cx="6248400" cy="3501813"/>
          </a:xfrm>
          <a:prstGeom prst="rect">
            <a:avLst/>
          </a:prstGeom>
        </p:spPr>
      </p:pic>
    </p:spTree>
    <p:extLst>
      <p:ext uri="{BB962C8B-B14F-4D97-AF65-F5344CB8AC3E}">
        <p14:creationId xmlns:p14="http://schemas.microsoft.com/office/powerpoint/2010/main" val="2512489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88C56-087F-2608-7F23-7145F29590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E59D81-8813-D6E8-88DB-750BECB17E85}"/>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       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F27FA920-7303-045E-709C-59499F5FF4D2}"/>
              </a:ext>
            </a:extLst>
          </p:cNvPr>
          <p:cNvGrpSpPr/>
          <p:nvPr/>
        </p:nvGrpSpPr>
        <p:grpSpPr>
          <a:xfrm>
            <a:off x="0" y="204036"/>
            <a:ext cx="12192000" cy="803275"/>
            <a:chOff x="0" y="216720"/>
            <a:chExt cx="12192000" cy="803275"/>
          </a:xfrm>
        </p:grpSpPr>
        <p:pic>
          <p:nvPicPr>
            <p:cNvPr id="13322" name="object 4">
              <a:extLst>
                <a:ext uri="{FF2B5EF4-FFF2-40B4-BE49-F238E27FC236}">
                  <a16:creationId xmlns:a16="http://schemas.microsoft.com/office/drawing/2014/main" id="{B4C2A7AE-3D3B-FAD6-5FC8-FBA321C7A44A}"/>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9A9CF115-6848-26E8-0C5E-706C3EFAC083}"/>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34CF1BE4-5C00-BC87-A189-5602E100B338}"/>
              </a:ext>
            </a:extLst>
          </p:cNvPr>
          <p:cNvSpPr txBox="1"/>
          <p:nvPr/>
        </p:nvSpPr>
        <p:spPr>
          <a:xfrm>
            <a:off x="73025" y="304800"/>
            <a:ext cx="10213975" cy="1120820"/>
          </a:xfrm>
          <a:prstGeom prst="rect">
            <a:avLst/>
          </a:prstGeom>
        </p:spPr>
        <p:txBody>
          <a:bodyPr wrap="square" lIns="0" tIns="12700" rIns="0" bIns="0">
            <a:spAutoFit/>
          </a:bodyPr>
          <a:lstStyle/>
          <a:p>
            <a:r>
              <a:rPr lang="en-US" sz="3600" dirty="0">
                <a:solidFill>
                  <a:schemeClr val="bg1"/>
                </a:solidFill>
                <a:sym typeface="+mn-ea"/>
              </a:rPr>
              <a:t>Implementation – Deployment Diagram</a:t>
            </a:r>
            <a:endParaRPr lang="en-US" sz="3600" dirty="0">
              <a:solidFill>
                <a:schemeClr val="bg1"/>
              </a:solidFill>
            </a:endParaRPr>
          </a:p>
          <a:p>
            <a:endParaRPr lang="en-US" sz="3600" dirty="0">
              <a:solidFill>
                <a:schemeClr val="bg1"/>
              </a:solidFill>
            </a:endParaRPr>
          </a:p>
        </p:txBody>
      </p:sp>
      <p:sp>
        <p:nvSpPr>
          <p:cNvPr id="13317" name="Text Placeholder 3">
            <a:extLst>
              <a:ext uri="{FF2B5EF4-FFF2-40B4-BE49-F238E27FC236}">
                <a16:creationId xmlns:a16="http://schemas.microsoft.com/office/drawing/2014/main" id="{53DED6F8-C83E-EC0D-504D-B58EA47F7945}"/>
              </a:ext>
            </a:extLst>
          </p:cNvPr>
          <p:cNvSpPr>
            <a:spLocks noGrp="1"/>
          </p:cNvSpPr>
          <p:nvPr>
            <p:ph type="body" idx="1"/>
          </p:nvPr>
        </p:nvSpPr>
        <p:spPr>
          <a:xfrm>
            <a:off x="6611176" y="1094105"/>
            <a:ext cx="5182362" cy="5238750"/>
          </a:xfrm>
          <a:ln/>
        </p:spPr>
        <p:txBody>
          <a:bodyPr vert="horz" wrap="square" lIns="0" tIns="0" rIns="0" bIns="0" anchor="t" anchorCtr="0">
            <a:noAutofit/>
          </a:bodyPr>
          <a:lstStyle/>
          <a:p>
            <a:pPr algn="just"/>
            <a:endParaRPr lang="en-US" sz="2000" dirty="0"/>
          </a:p>
          <a:p>
            <a:pPr algn="just"/>
            <a:endParaRPr lang="en-US" sz="2000" dirty="0"/>
          </a:p>
          <a:p>
            <a:pPr algn="just"/>
            <a:r>
              <a:rPr lang="en-US" sz="2000" dirty="0"/>
              <a:t>                         This diagram illustrates the overall architecture of a machine learning–based system involving the user, dataset, application, and database. The process starts with the user, where required packages are imported and user input is provided to the system. The dataset is then explored to understand its characteristics before being used in the application. The application performs data pre-processing followed by building and training the machine learning models. The database manages user signup and </a:t>
            </a:r>
            <a:r>
              <a:rPr lang="en-US" sz="2000" dirty="0" err="1"/>
              <a:t>signin</a:t>
            </a:r>
            <a:r>
              <a:rPr lang="en-US" sz="2000" dirty="0"/>
              <a:t>, and the system finally generates the output for the user.</a:t>
            </a:r>
          </a:p>
          <a:p>
            <a:pPr algn="just">
              <a:buNone/>
            </a:pPr>
            <a:endParaRPr lang="en-US" altLang="en-US" sz="2000" b="1" dirty="0">
              <a:latin typeface="Times New Roman" panose="02020603050405020304" pitchFamily="18" charset="0"/>
              <a:ea typeface="Times New Roman" panose="02020603050405020304" pitchFamily="18" charset="0"/>
              <a:cs typeface="+mn-cs"/>
            </a:endParaRPr>
          </a:p>
        </p:txBody>
      </p:sp>
      <p:sp>
        <p:nvSpPr>
          <p:cNvPr id="7" name="object 7">
            <a:extLst>
              <a:ext uri="{FF2B5EF4-FFF2-40B4-BE49-F238E27FC236}">
                <a16:creationId xmlns:a16="http://schemas.microsoft.com/office/drawing/2014/main" id="{C061B6F4-F47A-9446-E522-FA8DCFC857FB}"/>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CF12F28C-8784-B559-B248-75966DCD08B3}"/>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49965A48-A4CC-095F-61EF-AF9DB89D9777}"/>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15</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0CFA3552-B72E-1901-75AC-66735310E215}"/>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3" name="Content Placeholder 3">
            <a:extLst>
              <a:ext uri="{FF2B5EF4-FFF2-40B4-BE49-F238E27FC236}">
                <a16:creationId xmlns:a16="http://schemas.microsoft.com/office/drawing/2014/main" id="{E9430D9D-7EAB-5C50-7269-0B2629CC5092}"/>
              </a:ext>
            </a:extLst>
          </p:cNvPr>
          <p:cNvPicPr>
            <a:picLocks noGrp="1"/>
          </p:cNvPicPr>
          <p:nvPr/>
        </p:nvPicPr>
        <p:blipFill>
          <a:blip r:embed="rId4"/>
          <a:stretch>
            <a:fillRect/>
          </a:stretch>
        </p:blipFill>
        <p:spPr>
          <a:xfrm>
            <a:off x="466724" y="2110693"/>
            <a:ext cx="5629275" cy="2700241"/>
          </a:xfrm>
          <a:prstGeom prst="rect">
            <a:avLst/>
          </a:prstGeom>
        </p:spPr>
      </p:pic>
    </p:spTree>
    <p:extLst>
      <p:ext uri="{BB962C8B-B14F-4D97-AF65-F5344CB8AC3E}">
        <p14:creationId xmlns:p14="http://schemas.microsoft.com/office/powerpoint/2010/main" val="257467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D0F3-21DD-09FC-253D-ABC3962C51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DC832E-96B9-A359-CA17-E56221AE2AF3}"/>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        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62353FB3-6A89-E4D5-8902-9CC8F997740C}"/>
              </a:ext>
            </a:extLst>
          </p:cNvPr>
          <p:cNvGrpSpPr/>
          <p:nvPr/>
        </p:nvGrpSpPr>
        <p:grpSpPr>
          <a:xfrm>
            <a:off x="0" y="204036"/>
            <a:ext cx="12192000" cy="803275"/>
            <a:chOff x="0" y="216720"/>
            <a:chExt cx="12192000" cy="803275"/>
          </a:xfrm>
        </p:grpSpPr>
        <p:pic>
          <p:nvPicPr>
            <p:cNvPr id="13322" name="object 4">
              <a:extLst>
                <a:ext uri="{FF2B5EF4-FFF2-40B4-BE49-F238E27FC236}">
                  <a16:creationId xmlns:a16="http://schemas.microsoft.com/office/drawing/2014/main" id="{7B944083-C2B8-B815-A133-A7E83A14AD57}"/>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B7A46702-0BF0-BF9C-5ED2-42D299518856}"/>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3C174201-4452-6865-538A-83F76E024D69}"/>
              </a:ext>
            </a:extLst>
          </p:cNvPr>
          <p:cNvSpPr txBox="1"/>
          <p:nvPr/>
        </p:nvSpPr>
        <p:spPr>
          <a:xfrm>
            <a:off x="73025" y="304800"/>
            <a:ext cx="10213975" cy="1120820"/>
          </a:xfrm>
          <a:prstGeom prst="rect">
            <a:avLst/>
          </a:prstGeom>
        </p:spPr>
        <p:txBody>
          <a:bodyPr wrap="square" lIns="0" tIns="12700" rIns="0" bIns="0">
            <a:spAutoFit/>
          </a:bodyPr>
          <a:lstStyle/>
          <a:p>
            <a:r>
              <a:rPr lang="en-US" sz="3600" dirty="0">
                <a:solidFill>
                  <a:schemeClr val="bg1"/>
                </a:solidFill>
                <a:sym typeface="+mn-ea"/>
              </a:rPr>
              <a:t>Outputs</a:t>
            </a:r>
            <a:endParaRPr lang="en-US" sz="3600" dirty="0">
              <a:solidFill>
                <a:schemeClr val="bg1"/>
              </a:solidFill>
            </a:endParaRPr>
          </a:p>
          <a:p>
            <a:endParaRPr lang="en-US" sz="3600" dirty="0">
              <a:solidFill>
                <a:schemeClr val="bg1"/>
              </a:solidFill>
            </a:endParaRPr>
          </a:p>
        </p:txBody>
      </p:sp>
      <p:sp>
        <p:nvSpPr>
          <p:cNvPr id="13317" name="Text Placeholder 3">
            <a:extLst>
              <a:ext uri="{FF2B5EF4-FFF2-40B4-BE49-F238E27FC236}">
                <a16:creationId xmlns:a16="http://schemas.microsoft.com/office/drawing/2014/main" id="{80B3F6D8-0CF9-6A38-B863-3EBA06392F6C}"/>
              </a:ext>
            </a:extLst>
          </p:cNvPr>
          <p:cNvSpPr>
            <a:spLocks noGrp="1"/>
          </p:cNvSpPr>
          <p:nvPr>
            <p:ph type="body" idx="1"/>
          </p:nvPr>
        </p:nvSpPr>
        <p:spPr>
          <a:xfrm>
            <a:off x="381000" y="1094105"/>
            <a:ext cx="11412538" cy="5238750"/>
          </a:xfrm>
          <a:ln/>
        </p:spPr>
        <p:txBody>
          <a:bodyPr vert="horz" wrap="square" lIns="0" tIns="0" rIns="0" bIns="0" anchor="t" anchorCtr="0">
            <a:noAutofit/>
          </a:bodyPr>
          <a:lstStyle/>
          <a:p>
            <a:endParaRPr lang="en-US" sz="2000" dirty="0"/>
          </a:p>
        </p:txBody>
      </p:sp>
      <p:sp>
        <p:nvSpPr>
          <p:cNvPr id="7" name="object 7">
            <a:extLst>
              <a:ext uri="{FF2B5EF4-FFF2-40B4-BE49-F238E27FC236}">
                <a16:creationId xmlns:a16="http://schemas.microsoft.com/office/drawing/2014/main" id="{06F5B9D9-0EF6-192B-78E3-2595B0A2508F}"/>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0A1E4F96-0969-27B4-6734-6FAF19D82669}"/>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577E82BD-4729-2719-F578-6DCA3CE4BBC8}"/>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16</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EC70102B-F739-85FC-14A7-525DE9C52FE4}"/>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pic>
        <p:nvPicPr>
          <p:cNvPr id="12" name="Picture 11">
            <a:extLst>
              <a:ext uri="{FF2B5EF4-FFF2-40B4-BE49-F238E27FC236}">
                <a16:creationId xmlns:a16="http://schemas.microsoft.com/office/drawing/2014/main" id="{07F29C6C-BD08-EDAB-9439-F0894DEA52A5}"/>
              </a:ext>
            </a:extLst>
          </p:cNvPr>
          <p:cNvPicPr/>
          <p:nvPr/>
        </p:nvPicPr>
        <p:blipFill>
          <a:blip r:embed="rId4"/>
          <a:stretch>
            <a:fillRect/>
          </a:stretch>
        </p:blipFill>
        <p:spPr>
          <a:xfrm>
            <a:off x="357685" y="1070968"/>
            <a:ext cx="3757115" cy="2300648"/>
          </a:xfrm>
          <a:prstGeom prst="rect">
            <a:avLst/>
          </a:prstGeom>
        </p:spPr>
      </p:pic>
      <p:pic>
        <p:nvPicPr>
          <p:cNvPr id="16" name="Picture 15">
            <a:extLst>
              <a:ext uri="{FF2B5EF4-FFF2-40B4-BE49-F238E27FC236}">
                <a16:creationId xmlns:a16="http://schemas.microsoft.com/office/drawing/2014/main" id="{61846853-4176-C456-F150-F809AE3B6969}"/>
              </a:ext>
            </a:extLst>
          </p:cNvPr>
          <p:cNvPicPr>
            <a:picLocks noChangeAspect="1"/>
          </p:cNvPicPr>
          <p:nvPr/>
        </p:nvPicPr>
        <p:blipFill>
          <a:blip r:embed="rId5"/>
          <a:stretch>
            <a:fillRect/>
          </a:stretch>
        </p:blipFill>
        <p:spPr>
          <a:xfrm>
            <a:off x="4191001" y="1070968"/>
            <a:ext cx="4000296" cy="2300648"/>
          </a:xfrm>
          <a:prstGeom prst="rect">
            <a:avLst/>
          </a:prstGeom>
        </p:spPr>
      </p:pic>
      <p:pic>
        <p:nvPicPr>
          <p:cNvPr id="18" name="Picture 17">
            <a:extLst>
              <a:ext uri="{FF2B5EF4-FFF2-40B4-BE49-F238E27FC236}">
                <a16:creationId xmlns:a16="http://schemas.microsoft.com/office/drawing/2014/main" id="{688DAB91-2A5E-B820-CFBB-6BDE3BB2C1D0}"/>
              </a:ext>
            </a:extLst>
          </p:cNvPr>
          <p:cNvPicPr>
            <a:picLocks noChangeAspect="1"/>
          </p:cNvPicPr>
          <p:nvPr/>
        </p:nvPicPr>
        <p:blipFill>
          <a:blip r:embed="rId6"/>
          <a:stretch>
            <a:fillRect/>
          </a:stretch>
        </p:blipFill>
        <p:spPr>
          <a:xfrm>
            <a:off x="8267498" y="1081364"/>
            <a:ext cx="3409024" cy="2279856"/>
          </a:xfrm>
          <a:prstGeom prst="rect">
            <a:avLst/>
          </a:prstGeom>
        </p:spPr>
      </p:pic>
      <p:pic>
        <p:nvPicPr>
          <p:cNvPr id="20" name="Picture 19">
            <a:extLst>
              <a:ext uri="{FF2B5EF4-FFF2-40B4-BE49-F238E27FC236}">
                <a16:creationId xmlns:a16="http://schemas.microsoft.com/office/drawing/2014/main" id="{4C66691B-D12B-892F-3EBE-D45D3FE3ABDE}"/>
              </a:ext>
            </a:extLst>
          </p:cNvPr>
          <p:cNvPicPr>
            <a:picLocks noChangeAspect="1"/>
          </p:cNvPicPr>
          <p:nvPr/>
        </p:nvPicPr>
        <p:blipFill>
          <a:blip r:embed="rId7"/>
          <a:stretch>
            <a:fillRect/>
          </a:stretch>
        </p:blipFill>
        <p:spPr>
          <a:xfrm>
            <a:off x="871157" y="3531950"/>
            <a:ext cx="4855430" cy="2660997"/>
          </a:xfrm>
          <a:prstGeom prst="rect">
            <a:avLst/>
          </a:prstGeom>
        </p:spPr>
      </p:pic>
      <p:pic>
        <p:nvPicPr>
          <p:cNvPr id="22" name="Picture 21">
            <a:extLst>
              <a:ext uri="{FF2B5EF4-FFF2-40B4-BE49-F238E27FC236}">
                <a16:creationId xmlns:a16="http://schemas.microsoft.com/office/drawing/2014/main" id="{1AD4B685-2757-9908-EC5C-EB1015ADD284}"/>
              </a:ext>
            </a:extLst>
          </p:cNvPr>
          <p:cNvPicPr>
            <a:picLocks noChangeAspect="1"/>
          </p:cNvPicPr>
          <p:nvPr/>
        </p:nvPicPr>
        <p:blipFill>
          <a:blip r:embed="rId8"/>
          <a:stretch>
            <a:fillRect/>
          </a:stretch>
        </p:blipFill>
        <p:spPr>
          <a:xfrm>
            <a:off x="6324600" y="3531950"/>
            <a:ext cx="4892416" cy="2653626"/>
          </a:xfrm>
          <a:prstGeom prst="rect">
            <a:avLst/>
          </a:prstGeom>
        </p:spPr>
      </p:pic>
    </p:spTree>
    <p:extLst>
      <p:ext uri="{BB962C8B-B14F-4D97-AF65-F5344CB8AC3E}">
        <p14:creationId xmlns:p14="http://schemas.microsoft.com/office/powerpoint/2010/main" val="705766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1C5CD-09EA-B500-33C8-ECFB0FA1C7D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CDD2A6-F281-724B-25CE-86646BF65D60}"/>
              </a:ext>
            </a:extLst>
          </p:cNvPr>
          <p:cNvSpPr txBox="1"/>
          <p:nvPr/>
        </p:nvSpPr>
        <p:spPr>
          <a:xfrm>
            <a:off x="2057400" y="-19050"/>
            <a:ext cx="7242175" cy="259045"/>
          </a:xfrm>
          <a:prstGeom prst="rect">
            <a:avLst/>
          </a:prstGeom>
        </p:spPr>
        <p:txBody>
          <a:bodyPr wrap="square" lIns="0" tIns="12700" rIns="0" bIns="0">
            <a:spAutoFit/>
          </a:bodyPr>
          <a:lstStyle/>
          <a:p>
            <a:pPr marL="12700" algn="ctr" eaLnBrk="1" fontAlgn="auto" hangingPunct="1">
              <a:spcBef>
                <a:spcPts val="100"/>
              </a:spcBef>
              <a:spcAft>
                <a:spcPts val="0"/>
              </a:spcAft>
              <a:defRPr/>
            </a:pPr>
            <a:r>
              <a:rPr lang="en-US" sz="1600" dirty="0">
                <a:solidFill>
                  <a:schemeClr val="bg1"/>
                </a:solidFill>
              </a:rPr>
              <a:t>        Remote sensing Image scene Classification on LULC using DL</a:t>
            </a:r>
            <a:endParaRPr lang="en-US" sz="1600" kern="0" dirty="0">
              <a:solidFill>
                <a:sysClr val="windowText" lastClr="000000"/>
              </a:solidFill>
              <a:latin typeface="Times New Roman" panose="02020603050405020304"/>
              <a:cs typeface="Times New Roman" panose="02020603050405020304"/>
            </a:endParaRPr>
          </a:p>
        </p:txBody>
      </p:sp>
      <p:grpSp>
        <p:nvGrpSpPr>
          <p:cNvPr id="13315" name="object 3">
            <a:extLst>
              <a:ext uri="{FF2B5EF4-FFF2-40B4-BE49-F238E27FC236}">
                <a16:creationId xmlns:a16="http://schemas.microsoft.com/office/drawing/2014/main" id="{EC1B09ED-D4E5-67B5-1F5E-9A4C0B27BBFF}"/>
              </a:ext>
            </a:extLst>
          </p:cNvPr>
          <p:cNvGrpSpPr/>
          <p:nvPr/>
        </p:nvGrpSpPr>
        <p:grpSpPr>
          <a:xfrm>
            <a:off x="0" y="204036"/>
            <a:ext cx="12192000" cy="803275"/>
            <a:chOff x="0" y="216720"/>
            <a:chExt cx="12192000" cy="803275"/>
          </a:xfrm>
        </p:grpSpPr>
        <p:pic>
          <p:nvPicPr>
            <p:cNvPr id="13322" name="object 4">
              <a:extLst>
                <a:ext uri="{FF2B5EF4-FFF2-40B4-BE49-F238E27FC236}">
                  <a16:creationId xmlns:a16="http://schemas.microsoft.com/office/drawing/2014/main" id="{CD2C9DED-911E-4F82-B01C-D946CB14B58A}"/>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3323" name="object 5">
              <a:extLst>
                <a:ext uri="{FF2B5EF4-FFF2-40B4-BE49-F238E27FC236}">
                  <a16:creationId xmlns:a16="http://schemas.microsoft.com/office/drawing/2014/main" id="{B846F2E0-729E-B287-41F3-2695A3490E85}"/>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a:extLst>
              <a:ext uri="{FF2B5EF4-FFF2-40B4-BE49-F238E27FC236}">
                <a16:creationId xmlns:a16="http://schemas.microsoft.com/office/drawing/2014/main" id="{AE9A38B5-1908-7B3A-8723-5D851FFD4EEC}"/>
              </a:ext>
            </a:extLst>
          </p:cNvPr>
          <p:cNvSpPr txBox="1"/>
          <p:nvPr/>
        </p:nvSpPr>
        <p:spPr>
          <a:xfrm>
            <a:off x="73025" y="304800"/>
            <a:ext cx="10213975" cy="1120820"/>
          </a:xfrm>
          <a:prstGeom prst="rect">
            <a:avLst/>
          </a:prstGeom>
        </p:spPr>
        <p:txBody>
          <a:bodyPr wrap="square" lIns="0" tIns="12700" rIns="0" bIns="0">
            <a:spAutoFit/>
          </a:bodyPr>
          <a:lstStyle/>
          <a:p>
            <a:r>
              <a:rPr lang="en-US" sz="3600" dirty="0">
                <a:solidFill>
                  <a:schemeClr val="bg1"/>
                </a:solidFill>
                <a:sym typeface="+mn-ea"/>
              </a:rPr>
              <a:t>Conclusion</a:t>
            </a:r>
            <a:endParaRPr lang="en-US" sz="3600" dirty="0">
              <a:solidFill>
                <a:schemeClr val="bg1"/>
              </a:solidFill>
            </a:endParaRPr>
          </a:p>
          <a:p>
            <a:endParaRPr lang="en-US" sz="3600" dirty="0">
              <a:solidFill>
                <a:schemeClr val="bg1"/>
              </a:solidFill>
            </a:endParaRPr>
          </a:p>
        </p:txBody>
      </p:sp>
      <p:sp>
        <p:nvSpPr>
          <p:cNvPr id="13317" name="Text Placeholder 3">
            <a:extLst>
              <a:ext uri="{FF2B5EF4-FFF2-40B4-BE49-F238E27FC236}">
                <a16:creationId xmlns:a16="http://schemas.microsoft.com/office/drawing/2014/main" id="{2CE059AF-66FD-FBC3-3211-E05106FAB70A}"/>
              </a:ext>
            </a:extLst>
          </p:cNvPr>
          <p:cNvSpPr>
            <a:spLocks noGrp="1"/>
          </p:cNvSpPr>
          <p:nvPr>
            <p:ph type="body" idx="1"/>
          </p:nvPr>
        </p:nvSpPr>
        <p:spPr>
          <a:xfrm>
            <a:off x="381000" y="1094105"/>
            <a:ext cx="11412538" cy="5238750"/>
          </a:xfrm>
          <a:ln/>
        </p:spPr>
        <p:txBody>
          <a:bodyPr vert="horz" wrap="square" lIns="0" tIns="0" rIns="0" bIns="0" anchor="t" anchorCtr="0">
            <a:noAutofit/>
          </a:bodyPr>
          <a:lstStyle/>
          <a:p>
            <a:pPr marL="342900" indent="-342900">
              <a:buFont typeface="Wingdings" panose="05000000000000000000" pitchFamily="2" charset="2"/>
              <a:buChar char="ü"/>
            </a:pPr>
            <a:r>
              <a:rPr lang="en-US" sz="2000" dirty="0"/>
              <a:t>The developed deep learning–driven land use and land cover classification framework demonstrates strong capability in extracting discriminative spatial features from high-resolution remote sensing imagery. Comprehensive preprocessing, including normalization, geometric augmentation, and reshaping, contributes to improved model generalization and robustness across diverse land cover categories. Performance evaluation using standard metrics confirms the effectiveness of deep convolutional representations for multi-class LULC recognition. </a:t>
            </a:r>
          </a:p>
          <a:p>
            <a:pPr marL="342900" indent="-342900">
              <a:buFont typeface="Wingdings" panose="05000000000000000000" pitchFamily="2" charset="2"/>
              <a:buChar char="ü"/>
            </a:pPr>
            <a:r>
              <a:rPr lang="en-US" sz="2000" dirty="0"/>
              <a:t>Experimental results highlight </a:t>
            </a:r>
            <a:r>
              <a:rPr lang="en-US" sz="2000" dirty="0" err="1"/>
              <a:t>ConvNeXt</a:t>
            </a:r>
            <a:r>
              <a:rPr lang="en-US" sz="2000" dirty="0"/>
              <a:t>-Tiny as the most effective architecture, achieving an accuracy of 98.49%, precision of 98.48%, recall of 98.46%, and an F1-score of 98.47%, indicating reliable and balanced classification performance. Grad-CAM visualization is applied to interpret model predictions by highlighting the most influential regions of satellite images, providing insights into the spatial features driving classification decisions.</a:t>
            </a:r>
          </a:p>
          <a:p>
            <a:pPr marL="342900" indent="-342900">
              <a:buFont typeface="Wingdings" panose="05000000000000000000" pitchFamily="2" charset="2"/>
              <a:buChar char="ü"/>
            </a:pPr>
            <a:r>
              <a:rPr lang="en-US" sz="2000" dirty="0"/>
              <a:t>The trained high-performing model is preserved and reused for efficient inference, ensuring consistency and reproducibility in classification outcomes. Practical applicability is enhanced through integration with a Flask-based web interface supported by an SQLite database for secure user authentication. </a:t>
            </a:r>
          </a:p>
        </p:txBody>
      </p:sp>
      <p:sp>
        <p:nvSpPr>
          <p:cNvPr id="7" name="object 7">
            <a:extLst>
              <a:ext uri="{FF2B5EF4-FFF2-40B4-BE49-F238E27FC236}">
                <a16:creationId xmlns:a16="http://schemas.microsoft.com/office/drawing/2014/main" id="{DF783F00-B16A-DBDC-8147-7CD73211E8D1}"/>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a:extLst>
              <a:ext uri="{FF2B5EF4-FFF2-40B4-BE49-F238E27FC236}">
                <a16:creationId xmlns:a16="http://schemas.microsoft.com/office/drawing/2014/main" id="{108E2227-B967-5492-0654-B2D071436E86}"/>
              </a:ext>
            </a:extLst>
          </p:cNvPr>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E3D94318-F62B-723D-7231-E7014AA92543}"/>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17</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a:extLst>
              <a:ext uri="{FF2B5EF4-FFF2-40B4-BE49-F238E27FC236}">
                <a16:creationId xmlns:a16="http://schemas.microsoft.com/office/drawing/2014/main" id="{BD446B32-C589-89FC-3CB8-CEBCEBD6E478}"/>
              </a:ext>
            </a:extLst>
          </p:cNvPr>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extLst>
      <p:ext uri="{BB962C8B-B14F-4D97-AF65-F5344CB8AC3E}">
        <p14:creationId xmlns:p14="http://schemas.microsoft.com/office/powerpoint/2010/main" val="1378591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8958-8EB0-9890-9B13-33C10AB07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5917C1-49A7-9689-D635-872D45A67BC4}"/>
              </a:ext>
            </a:extLst>
          </p:cNvPr>
          <p:cNvSpPr txBox="1"/>
          <p:nvPr/>
        </p:nvSpPr>
        <p:spPr>
          <a:xfrm>
            <a:off x="2057400" y="-19050"/>
            <a:ext cx="8382000" cy="259045"/>
          </a:xfrm>
          <a:prstGeom prst="rect">
            <a:avLst/>
          </a:prstGeom>
        </p:spPr>
        <p:txBody>
          <a:bodyPr wrap="square" lIns="0" tIns="12700" rIns="0" bIns="0">
            <a:spAutoFit/>
          </a:bodyPr>
          <a:lstStyle/>
          <a:p>
            <a:r>
              <a:rPr lang="en-US" sz="1600" dirty="0">
                <a:solidFill>
                  <a:schemeClr val="bg1"/>
                </a:solidFill>
              </a:rPr>
              <a:t>              Remote Sensing Image Classification Of Land Use Land Cover Using DL</a:t>
            </a:r>
            <a:endParaRPr lang="en-IN" sz="1600" dirty="0">
              <a:solidFill>
                <a:schemeClr val="bg1"/>
              </a:solidFill>
            </a:endParaRPr>
          </a:p>
        </p:txBody>
      </p:sp>
      <p:grpSp>
        <p:nvGrpSpPr>
          <p:cNvPr id="14339" name="object 4">
            <a:extLst>
              <a:ext uri="{FF2B5EF4-FFF2-40B4-BE49-F238E27FC236}">
                <a16:creationId xmlns:a16="http://schemas.microsoft.com/office/drawing/2014/main" id="{B27F50B7-1144-3798-4244-6B3D43345882}"/>
              </a:ext>
            </a:extLst>
          </p:cNvPr>
          <p:cNvGrpSpPr/>
          <p:nvPr/>
        </p:nvGrpSpPr>
        <p:grpSpPr>
          <a:xfrm>
            <a:off x="0" y="228600"/>
            <a:ext cx="12192000" cy="805674"/>
            <a:chOff x="0" y="214206"/>
            <a:chExt cx="12192000" cy="805674"/>
          </a:xfrm>
        </p:grpSpPr>
        <p:pic>
          <p:nvPicPr>
            <p:cNvPr id="14346" name="object 5">
              <a:extLst>
                <a:ext uri="{FF2B5EF4-FFF2-40B4-BE49-F238E27FC236}">
                  <a16:creationId xmlns:a16="http://schemas.microsoft.com/office/drawing/2014/main" id="{F8AF17CC-9D11-E615-C868-8FFDECBE14F6}"/>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4347" name="object 6">
              <a:extLst>
                <a:ext uri="{FF2B5EF4-FFF2-40B4-BE49-F238E27FC236}">
                  <a16:creationId xmlns:a16="http://schemas.microsoft.com/office/drawing/2014/main" id="{D4F36DE7-6F42-13A7-A55F-85CAC9BD74A7}"/>
                </a:ext>
              </a:extLst>
            </p:cNvPr>
            <p:cNvSpPr/>
            <p:nvPr/>
          </p:nvSpPr>
          <p:spPr>
            <a:xfrm>
              <a:off x="0" y="214206"/>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a:extLst>
              <a:ext uri="{FF2B5EF4-FFF2-40B4-BE49-F238E27FC236}">
                <a16:creationId xmlns:a16="http://schemas.microsoft.com/office/drawing/2014/main" id="{A899A221-DDEC-5811-CCAD-4479B139DC11}"/>
              </a:ext>
            </a:extLst>
          </p:cNvPr>
          <p:cNvSpPr txBox="1">
            <a:spLocks noGrp="1"/>
          </p:cNvSpPr>
          <p:nvPr>
            <p:ph type="title"/>
          </p:nvPr>
        </p:nvSpPr>
        <p:spPr>
          <a:xfrm>
            <a:off x="-609600" y="182563"/>
            <a:ext cx="4570413"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lang="en-IN" sz="4400" b="0" strike="noStrike" spc="-1" dirty="0">
                <a:solidFill>
                  <a:srgbClr val="FFFFFF"/>
                </a:solidFill>
                <a:latin typeface="Times New Roman" panose="02020603050405020304"/>
              </a:rPr>
              <a:t>Reference</a:t>
            </a:r>
            <a:r>
              <a:rPr lang="en-US" sz="4400" b="0" strike="noStrike" spc="-1" dirty="0">
                <a:solidFill>
                  <a:srgbClr val="FFFFFF"/>
                </a:solidFill>
                <a:latin typeface="Times New Roman" panose="02020603050405020304"/>
              </a:rPr>
              <a:t>s</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a:extLst>
              <a:ext uri="{FF2B5EF4-FFF2-40B4-BE49-F238E27FC236}">
                <a16:creationId xmlns:a16="http://schemas.microsoft.com/office/drawing/2014/main" id="{2BA2EC26-51CB-1278-6646-18823A4B4E20}"/>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4432E33E-AEA6-C334-5AE4-60D42E9C0683}"/>
              </a:ext>
            </a:extLst>
          </p:cNvPr>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8E2D0780-C2F8-F667-52C1-6E3AAD316C8A}"/>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A467F9D1-0095-E53E-07AE-325F11910869}"/>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18</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a:extLst>
              <a:ext uri="{FF2B5EF4-FFF2-40B4-BE49-F238E27FC236}">
                <a16:creationId xmlns:a16="http://schemas.microsoft.com/office/drawing/2014/main" id="{2481CFBC-F9E2-AC48-E397-3EA4C6FDEBD2}"/>
              </a:ext>
            </a:extLst>
          </p:cNvPr>
          <p:cNvSpPr/>
          <p:nvPr/>
        </p:nvSpPr>
        <p:spPr>
          <a:xfrm>
            <a:off x="457200" y="1038225"/>
            <a:ext cx="11430000" cy="5179695"/>
          </a:xfrm>
          <a:prstGeom prst="rect">
            <a:avLst/>
          </a:prstGeom>
          <a:noFill/>
          <a:ln w="9525">
            <a:noFill/>
          </a:ln>
        </p:spPr>
        <p:txBody>
          <a:bodyPr>
            <a:noAutofit/>
          </a:bodyPr>
          <a:lstStyle/>
          <a:p>
            <a:pPr marL="342900" indent="-342900">
              <a:buFont typeface="Arial" panose="020B0604020202020204" pitchFamily="34" charset="0"/>
              <a:buChar char="•"/>
            </a:pPr>
            <a:r>
              <a:rPr lang="en-US" sz="2000" dirty="0"/>
              <a:t>[1] Irfan, A., Li, Y., E, X., &amp; Sun, G. (2025). Land Use and Land Cover classification with deep learning-based fusion of SAR and optical data. </a:t>
            </a:r>
            <a:r>
              <a:rPr lang="en-US" sz="2000" i="1" dirty="0"/>
              <a:t>Remote Sensing</a:t>
            </a:r>
            <a:r>
              <a:rPr lang="en-US" sz="2000" dirty="0"/>
              <a:t>, </a:t>
            </a:r>
            <a:r>
              <a:rPr lang="en-US" sz="2000" i="1" dirty="0"/>
              <a:t>17</a:t>
            </a:r>
            <a:r>
              <a:rPr lang="en-US" sz="2000" dirty="0"/>
              <a:t>(7), 1298.</a:t>
            </a:r>
            <a:endParaRPr lang="en-IN" sz="2000" dirty="0"/>
          </a:p>
          <a:p>
            <a:pPr marL="342900" indent="-342900">
              <a:buFont typeface="Arial" panose="020B0604020202020204" pitchFamily="34" charset="0"/>
              <a:buChar char="•"/>
            </a:pPr>
            <a:r>
              <a:rPr lang="en-US" sz="2000" dirty="0"/>
              <a:t>[2] Behera, D. K., Pujar, G. S., Kumar, R., &amp; Singh, S. K. (2025). A comprehensive approach towards enhancing land use land cover classification through machine learning and object-based image analysis. </a:t>
            </a:r>
            <a:r>
              <a:rPr lang="en-US" sz="2000" i="1" dirty="0"/>
              <a:t>Journal of the Indian Society of Remote Sensing</a:t>
            </a:r>
            <a:r>
              <a:rPr lang="en-US" sz="2000" dirty="0"/>
              <a:t>, </a:t>
            </a:r>
            <a:r>
              <a:rPr lang="en-US" sz="2000" i="1" dirty="0"/>
              <a:t>53</a:t>
            </a:r>
            <a:r>
              <a:rPr lang="en-US" sz="2000" dirty="0"/>
              <a:t>(3), 731-749.</a:t>
            </a:r>
            <a:endParaRPr lang="en-IN" sz="2000" dirty="0"/>
          </a:p>
          <a:p>
            <a:pPr marL="342900" indent="-342900">
              <a:buFont typeface="Arial" panose="020B0604020202020204" pitchFamily="34" charset="0"/>
              <a:buChar char="•"/>
            </a:pPr>
            <a:r>
              <a:rPr lang="en-US" sz="2000" dirty="0"/>
              <a:t>[3] Al-Najjar, H., Kalantar, B., &amp; Abdul Halin, A. (2025). Advancements in land cover classification and machine learning techniques for Urban areas using remote sensing big data. Frontiers in Environmental Science, 13, 1584485.</a:t>
            </a:r>
            <a:endParaRPr lang="en-IN" sz="2000" dirty="0"/>
          </a:p>
          <a:p>
            <a:pPr marL="342900" indent="-342900">
              <a:buFont typeface="Arial" panose="020B0604020202020204" pitchFamily="34" charset="0"/>
              <a:buChar char="•"/>
            </a:pPr>
            <a:r>
              <a:rPr lang="en-US" sz="2000" dirty="0"/>
              <a:t>[4] Pushpalatha, V., Mallikarjuna, P. B., Mahendra, H. N., </a:t>
            </a:r>
            <a:r>
              <a:rPr lang="en-US" sz="2000" dirty="0" err="1"/>
              <a:t>Subramoniam</a:t>
            </a:r>
            <a:r>
              <a:rPr lang="en-US" sz="2000" dirty="0"/>
              <a:t>, S. R., &amp; </a:t>
            </a:r>
            <a:r>
              <a:rPr lang="en-US" sz="2000" dirty="0" err="1"/>
              <a:t>Mallikarjunaswamy</a:t>
            </a:r>
            <a:r>
              <a:rPr lang="en-US" sz="2000" dirty="0"/>
              <a:t>, S. (2025). Land use and land cover classification for change detection studies using convolutional neural network. </a:t>
            </a:r>
            <a:r>
              <a:rPr lang="en-US" sz="2000" i="1" dirty="0"/>
              <a:t>Applied Computing and Geosciences</a:t>
            </a:r>
            <a:r>
              <a:rPr lang="en-US" sz="2000" dirty="0"/>
              <a:t>, </a:t>
            </a:r>
            <a:r>
              <a:rPr lang="en-US" sz="2000" i="1" dirty="0"/>
              <a:t>25</a:t>
            </a:r>
            <a:r>
              <a:rPr lang="en-US" sz="2000" dirty="0"/>
              <a:t>, 100227.</a:t>
            </a:r>
            <a:endParaRPr lang="en-IN" sz="2000" dirty="0"/>
          </a:p>
          <a:p>
            <a:pPr marL="342900" indent="-342900">
              <a:buFont typeface="Arial" panose="020B0604020202020204" pitchFamily="34" charset="0"/>
              <a:buChar char="•"/>
            </a:pPr>
            <a:r>
              <a:rPr lang="en-US" sz="2000" dirty="0"/>
              <a:t>[5] </a:t>
            </a:r>
            <a:r>
              <a:rPr lang="en-US" sz="2000" dirty="0" err="1"/>
              <a:t>Komeh</a:t>
            </a:r>
            <a:r>
              <a:rPr lang="en-US" sz="2000" dirty="0"/>
              <a:t>, Z., Hamzeh, S., </a:t>
            </a:r>
            <a:r>
              <a:rPr lang="en-US" sz="2000" dirty="0" err="1"/>
              <a:t>Memarian</a:t>
            </a:r>
            <a:r>
              <a:rPr lang="en-US" sz="2000" dirty="0"/>
              <a:t>, H., </a:t>
            </a:r>
            <a:r>
              <a:rPr lang="en-US" sz="2000" dirty="0" err="1"/>
              <a:t>Attarchi</a:t>
            </a:r>
            <a:r>
              <a:rPr lang="en-US" sz="2000" dirty="0"/>
              <a:t>, S., &amp; </a:t>
            </a:r>
            <a:r>
              <a:rPr lang="en-US" sz="2000" dirty="0" err="1"/>
              <a:t>Alavipanah</a:t>
            </a:r>
            <a:r>
              <a:rPr lang="en-US" sz="2000" dirty="0"/>
              <a:t>, S. K. (2025). A Remote Sensing Approach to Spatiotemporal Analysis of Land Surface Temperature in Response to Land Use/Land Cover Change via Cloud Base and Machine Learning Methods, Case Study: Sari Metropolis, Iran. </a:t>
            </a:r>
            <a:r>
              <a:rPr lang="en-US" sz="2000" i="1" dirty="0"/>
              <a:t>International Journal of Environmental Research</a:t>
            </a:r>
            <a:r>
              <a:rPr lang="en-US" sz="2000" dirty="0"/>
              <a:t>, </a:t>
            </a:r>
            <a:r>
              <a:rPr lang="en-US" sz="2000" i="1" dirty="0"/>
              <a:t>19</a:t>
            </a:r>
            <a:r>
              <a:rPr lang="en-US" sz="2000" dirty="0"/>
              <a:t>(3), 98.</a:t>
            </a:r>
            <a:endParaRPr lang="en-IN" sz="2000" dirty="0"/>
          </a:p>
          <a:p>
            <a:pPr marL="577850" indent="-577850" algn="just">
              <a:lnSpc>
                <a:spcPct val="90000"/>
              </a:lnSpc>
              <a:spcBef>
                <a:spcPts val="1000"/>
              </a:spcBef>
              <a:tabLst>
                <a:tab pos="0" algn="l"/>
              </a:tabLst>
            </a:pP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494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1FD5-4F04-1AF8-07D6-76240B96910D}"/>
            </a:ext>
          </a:extLst>
        </p:cNvPr>
        <p:cNvGrpSpPr/>
        <p:nvPr/>
      </p:nvGrpSpPr>
      <p:grpSpPr>
        <a:xfrm>
          <a:off x="0" y="0"/>
          <a:ext cx="0" cy="0"/>
          <a:chOff x="0" y="0"/>
          <a:chExt cx="0" cy="0"/>
        </a:xfrm>
      </p:grpSpPr>
      <p:sp>
        <p:nvSpPr>
          <p:cNvPr id="17410" name="object 2">
            <a:extLst>
              <a:ext uri="{FF2B5EF4-FFF2-40B4-BE49-F238E27FC236}">
                <a16:creationId xmlns:a16="http://schemas.microsoft.com/office/drawing/2014/main" id="{9890A24C-B772-86CF-922B-F1E0DEA7EF59}"/>
              </a:ext>
            </a:extLst>
          </p:cNvPr>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3" name="object 3">
            <a:extLst>
              <a:ext uri="{FF2B5EF4-FFF2-40B4-BE49-F238E27FC236}">
                <a16:creationId xmlns:a16="http://schemas.microsoft.com/office/drawing/2014/main" id="{89EBFCA4-9DB6-B223-4D14-29D45824A4F7}"/>
              </a:ext>
            </a:extLst>
          </p:cNvPr>
          <p:cNvSpPr txBox="1"/>
          <p:nvPr/>
        </p:nvSpPr>
        <p:spPr>
          <a:xfrm>
            <a:off x="1773238" y="-19050"/>
            <a:ext cx="8208963" cy="259045"/>
          </a:xfrm>
          <a:prstGeom prst="rect">
            <a:avLst/>
          </a:prstGeom>
        </p:spPr>
        <p:txBody>
          <a:bodyPr wrap="square" lIns="0" tIns="12700" rIns="0" bIns="0">
            <a:spAutoFit/>
          </a:bodyPr>
          <a:lstStyle/>
          <a:p>
            <a:r>
              <a:rPr lang="en-US" sz="1600" b="1" dirty="0">
                <a:solidFill>
                  <a:schemeClr val="bg1"/>
                </a:solidFill>
              </a:rPr>
              <a:t>                   </a:t>
            </a:r>
            <a:r>
              <a:rPr lang="en-US" sz="1600" dirty="0">
                <a:solidFill>
                  <a:schemeClr val="bg1"/>
                </a:solidFill>
              </a:rPr>
              <a:t>Remote Sensing Image Classification Of Land Use Land Cover Using DL</a:t>
            </a:r>
            <a:endParaRPr lang="en-IN" sz="1600" dirty="0">
              <a:solidFill>
                <a:schemeClr val="bg1"/>
              </a:solidFill>
            </a:endParaRPr>
          </a:p>
        </p:txBody>
      </p:sp>
      <p:sp>
        <p:nvSpPr>
          <p:cNvPr id="5" name="object 5">
            <a:extLst>
              <a:ext uri="{FF2B5EF4-FFF2-40B4-BE49-F238E27FC236}">
                <a16:creationId xmlns:a16="http://schemas.microsoft.com/office/drawing/2014/main" id="{C5AA9159-B631-E233-44C8-1B1542A9C6F5}"/>
              </a:ext>
            </a:extLst>
          </p:cNvPr>
          <p:cNvSpPr txBox="1">
            <a:spLocks noGrp="1"/>
          </p:cNvSpPr>
          <p:nvPr>
            <p:ph type="ftr" sz="quarter" idx="10"/>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6" name="object 6">
            <a:extLst>
              <a:ext uri="{FF2B5EF4-FFF2-40B4-BE49-F238E27FC236}">
                <a16:creationId xmlns:a16="http://schemas.microsoft.com/office/drawing/2014/main" id="{21CA9DAE-AB85-CB72-D2ED-3905ABB7FFD7}"/>
              </a:ext>
            </a:extLst>
          </p:cNvPr>
          <p:cNvSpPr txBox="1">
            <a:spLocks noGrp="1"/>
          </p:cNvSpPr>
          <p:nvPr>
            <p:ph type="dt" sz="half" idx="11"/>
          </p:nvPr>
        </p:nvSpPr>
        <p:spPr>
          <a:xfrm>
            <a:off x="1773238" y="6629400"/>
            <a:ext cx="4322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7" name="object 7">
            <a:extLst>
              <a:ext uri="{FF2B5EF4-FFF2-40B4-BE49-F238E27FC236}">
                <a16:creationId xmlns:a16="http://schemas.microsoft.com/office/drawing/2014/main" id="{B521F92C-A2D9-AC31-4C41-C159D68FD6CF}"/>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8" name="object 8">
            <a:extLst>
              <a:ext uri="{FF2B5EF4-FFF2-40B4-BE49-F238E27FC236}">
                <a16:creationId xmlns:a16="http://schemas.microsoft.com/office/drawing/2014/main" id="{137C5279-937A-AAEB-7181-36FA7B60D75C}"/>
              </a:ext>
            </a:extLst>
          </p:cNvPr>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39B4845-06F7-44E9-A15D-A364008AF767}"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19</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4" name="object 4">
            <a:extLst>
              <a:ext uri="{FF2B5EF4-FFF2-40B4-BE49-F238E27FC236}">
                <a16:creationId xmlns:a16="http://schemas.microsoft.com/office/drawing/2014/main" id="{EE9F59E2-F4E4-9232-FB2D-0EFE625B66FC}"/>
              </a:ext>
            </a:extLst>
          </p:cNvPr>
          <p:cNvSpPr txBox="1">
            <a:spLocks noGrp="1"/>
          </p:cNvSpPr>
          <p:nvPr>
            <p:ph type="title"/>
          </p:nvPr>
        </p:nvSpPr>
        <p:spPr>
          <a:xfrm>
            <a:off x="2705100" y="2352675"/>
            <a:ext cx="6692900" cy="1490152"/>
          </a:xfrm>
        </p:spPr>
        <p:txBody>
          <a:bodyPr vert="horz" wrap="square" lIns="0" tIns="12700" rIns="0" bIns="0" numCol="1" rtlCol="0" anchor="t" anchorCtr="0" compatLnSpc="1">
            <a:spAutoFit/>
          </a:bodyPr>
          <a:lstStyle/>
          <a:p>
            <a:pPr marL="50800"/>
            <a:r>
              <a:rPr lang="en-US" sz="9600" i="1" dirty="0">
                <a:ln w="15875"/>
                <a:solidFill>
                  <a:srgbClr val="F78F07"/>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80060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3" name="object 3"/>
          <p:cNvSpPr txBox="1"/>
          <p:nvPr/>
        </p:nvSpPr>
        <p:spPr>
          <a:xfrm>
            <a:off x="1773238" y="-19050"/>
            <a:ext cx="8208963" cy="259045"/>
          </a:xfrm>
          <a:prstGeom prst="rect">
            <a:avLst/>
          </a:prstGeom>
        </p:spPr>
        <p:txBody>
          <a:bodyPr wrap="square" lIns="0" tIns="12700" rIns="0" bIns="0">
            <a:spAutoFit/>
          </a:bodyPr>
          <a:lstStyle/>
          <a:p>
            <a:r>
              <a:rPr lang="en-US" sz="1600" b="1" dirty="0">
                <a:solidFill>
                  <a:schemeClr val="bg1"/>
                </a:solidFill>
              </a:rPr>
              <a:t>                    </a:t>
            </a:r>
            <a:r>
              <a:rPr lang="en-US" sz="1600" dirty="0">
                <a:solidFill>
                  <a:schemeClr val="bg1"/>
                </a:solidFill>
              </a:rPr>
              <a:t>Remote Sensing Image Classification Of Land Use Land Cover Using DL</a:t>
            </a:r>
            <a:endParaRPr lang="en-IN" sz="1600" dirty="0">
              <a:solidFill>
                <a:schemeClr val="bg1"/>
              </a:solidFill>
            </a:endParaRPr>
          </a:p>
        </p:txBody>
      </p:sp>
      <p:sp>
        <p:nvSpPr>
          <p:cNvPr id="5" name="object 5"/>
          <p:cNvSpPr txBox="1">
            <a:spLocks noGrp="1"/>
          </p:cNvSpPr>
          <p:nvPr>
            <p:ph type="ftr" sz="quarter" idx="10"/>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6" name="object 6"/>
          <p:cNvSpPr txBox="1">
            <a:spLocks noGrp="1"/>
          </p:cNvSpPr>
          <p:nvPr>
            <p:ph type="dt" sz="half" idx="11"/>
          </p:nvPr>
        </p:nvSpPr>
        <p:spPr>
          <a:xfrm>
            <a:off x="1773238" y="6629400"/>
            <a:ext cx="4322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7" name="object 7"/>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8" name="object 8"/>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39B4845-06F7-44E9-A15D-A364008AF767}"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20</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4" name="object 4"/>
          <p:cNvSpPr txBox="1">
            <a:spLocks noGrp="1"/>
          </p:cNvSpPr>
          <p:nvPr>
            <p:ph type="title"/>
          </p:nvPr>
        </p:nvSpPr>
        <p:spPr>
          <a:xfrm>
            <a:off x="2705100" y="2352675"/>
            <a:ext cx="6692900" cy="1487488"/>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9600" b="0" i="1" u="none" strike="noStrike" kern="0" cap="none" spc="0" normalizeH="0" baseline="0" noProof="0" dirty="0">
                <a:ln>
                  <a:noFill/>
                </a:ln>
                <a:solidFill>
                  <a:srgbClr val="FF6600"/>
                </a:solidFill>
                <a:effectLst/>
                <a:uLnTx/>
                <a:uFillTx/>
                <a:latin typeface="Times New Roman" panose="02020603050405020304"/>
                <a:ea typeface="+mj-ea"/>
                <a:cs typeface="Times New Roman" panose="02020603050405020304"/>
              </a:rPr>
              <a:t>Any</a:t>
            </a:r>
            <a:r>
              <a:rPr kumimoji="0" sz="9600" b="0" i="1" u="none" strike="noStrike" kern="0" cap="none" spc="-30" normalizeH="0" baseline="0" noProof="0" dirty="0">
                <a:ln>
                  <a:noFill/>
                </a:ln>
                <a:solidFill>
                  <a:srgbClr val="FF6600"/>
                </a:solidFill>
                <a:effectLst/>
                <a:uLnTx/>
                <a:uFillTx/>
                <a:latin typeface="Times New Roman" panose="02020603050405020304"/>
                <a:ea typeface="+mj-ea"/>
                <a:cs typeface="Times New Roman" panose="02020603050405020304"/>
              </a:rPr>
              <a:t> </a:t>
            </a:r>
            <a:r>
              <a:rPr kumimoji="0" sz="9600" b="0" i="1" u="none" strike="noStrike" kern="0" cap="none" spc="-10" normalizeH="0" baseline="0" noProof="0" dirty="0">
                <a:ln>
                  <a:noFill/>
                </a:ln>
                <a:solidFill>
                  <a:srgbClr val="FF6600"/>
                </a:solidFill>
                <a:effectLst/>
                <a:uLnTx/>
                <a:uFillTx/>
                <a:latin typeface="Times New Roman" panose="02020603050405020304"/>
                <a:ea typeface="+mj-ea"/>
                <a:cs typeface="Times New Roman" panose="02020603050405020304"/>
              </a:rPr>
              <a:t>Queries?</a:t>
            </a:r>
            <a:endParaRPr kumimoji="0" sz="9600" b="0" i="0" u="none" strike="noStrike" kern="0" cap="none" spc="0" normalizeH="0" baseline="0" noProof="0">
              <a:ln>
                <a:noFill/>
              </a:ln>
              <a:solidFill>
                <a:schemeClr val="bg1"/>
              </a:solidFill>
              <a:effectLst/>
              <a:uLnTx/>
              <a:uFillTx/>
              <a:latin typeface="Times New Roman" panose="02020603050405020304"/>
              <a:ea typeface="+mj-ea"/>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822</TotalTime>
  <Words>2922</Words>
  <Application>Microsoft Office PowerPoint</Application>
  <PresentationFormat>Widescreen</PresentationFormat>
  <Paragraphs>209</Paragraphs>
  <Slides>20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Lucida Sans Unicode</vt:lpstr>
      <vt:lpstr>Times New Roman</vt:lpstr>
      <vt:lpstr>Wingdings</vt:lpstr>
      <vt:lpstr>Office Theme</vt:lpstr>
      <vt:lpstr>              Remote Sensing Image Classification Of Land Use Land Cover Using Deep Learning</vt:lpstr>
      <vt:lpstr>Queries From Review-0 </vt:lpstr>
      <vt:lpstr>  Contents</vt:lpstr>
      <vt:lpstr>Title Justification</vt:lpstr>
      <vt:lpstr>Abstract</vt:lpstr>
      <vt:lpstr>Introduction</vt:lpstr>
      <vt:lpstr>Software Requirements</vt:lpstr>
      <vt:lpstr>Datasets/Modules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ECOVISION:Deep Learning Model foy Seasonal Detection</dc:title>
  <dc:creator>DELL E5490</dc:creator>
  <cp:lastModifiedBy>JINKA GOWRI</cp:lastModifiedBy>
  <cp:revision>15</cp:revision>
  <dcterms:created xsi:type="dcterms:W3CDTF">2025-12-02T14:37:55Z</dcterms:created>
  <dcterms:modified xsi:type="dcterms:W3CDTF">2026-01-21T05:07:17Z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2025-12-02T05:30:00Z</vt:filetime>
  </property>
  <property fmtid="{D5CDD505-2E9C-101B-9397-08002B2CF9AE}" pid="3" name="Creator">
    <vt:lpwstr>Google</vt:lpwstr>
  </property>
  <property fmtid="{D5CDD505-2E9C-101B-9397-08002B2CF9AE}" pid="4" name="LastSaved">
    <vt:filetime>2025-12-02T05:30:00Z</vt:filetime>
  </property>
  <property fmtid="{D5CDD505-2E9C-101B-9397-08002B2CF9AE}" pid="5" name="ICV">
    <vt:lpwstr>E8DA6CA97EDE4DC7B3CF7BF91B75CE3D_12</vt:lpwstr>
  </property>
  <property fmtid="{D5CDD505-2E9C-101B-9397-08002B2CF9AE}" pid="6" name="KSOProductBuildVer">
    <vt:lpwstr>1033-12.2.0.23155</vt:lpwstr>
  </property>
</Properties>
</file>